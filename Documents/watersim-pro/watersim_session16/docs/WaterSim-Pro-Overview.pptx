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line: "WaterSim Pro is a browser-based process simulator for water and wastewater treatment plants." Everything a process engineer would otherwise do across a desktop simulator, a costing spreadsheet and a permit PDF happens in one place. Runs on React, Node and PostgreSQL, with a WebSocket channel for live data and a Python layer for reporting.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Introduction is the product and its users. Architecture is how it is built. The Flows is the bulk of the deck — ten journeys through the system. Engineering is the non-functional work. If the audience is technical, spend the time in parts 2 and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pain before the product. Four real problems, and they compound: because the tools are separate, costing goes stale, compliance is manual, and the live plant is invisible to the model. The closing line is the whole pitch — one model, one number, one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capabilities. The key point is the last clause of the subtitle: all six hang off the same flowsheet. You do not re-enter the plant in a costing tool or a compliance tool.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Hierarchical roles — that matters because it means permissions are declared once and inherited, not copied. The isolation model below is the multi-tenancy story: the organisation id comes from the verified token, so cross-tenant reads are not expressible in the query layer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slide. "Now how it is actually built."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top to bottom. The browser talks to one versioned API. The API delegates anything heavy to the Engines layer — worker threads, Python child processes, the PLC poller — so the request path stays fast. Everything durable lands in PostgreSQL under versioned migrations.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exotic. Worth calling out: React Flow for the canvas, worker_threads for the solver, and Python for reporting because reportlab and openpyxl are simply better than the Node equivalents. One lockfile across both workspaces keeps the Docker builds honest.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Sixteen tables, five groups. If someone asks "where does X live", this is the slide. The bottom line is the operational discipline: migrations are numbered and applied by the pipeline, never by hand on a running database.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This is the longest part of the deck — say so, and offer to skip any flow the audience does not care about.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spine of the product. Walk the chevrons first, then the detail. If you only have five minutes for the whole deck, present this slide and slide 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tokens with different lifetimes is the design. Access token short and in memory; refresh token long, httpOnly, server-side and revocable. The table is the "why should I trust this"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canvas is what people remember from a demo. Emphasise the last point in the navy box: the animation is driven by computed values, so a still screenshot of the canvas is already a data visualisation.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Twenty-six palette blocks, fifteen models. Be honest about the mapping — several blocks share a model. The EBPR reactors differ in recycle wiring, not in the underlying biology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important architectural point is step 4: the solver never runs on the event loop. One worker per run, four at a time, hard 60-second limit. The reaper at the bottom is the answer to "what if the process dies mid-run".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heart. Kahn ordering for the DAG, structural cycle detection so only real recycles get torn, fixed-point iteration for those. The closing line is the design philosophy and worth landing slowly.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is derived, never typed in beside the model. The six-tenths rule is standard engineering practice — the point is that S comes from what the unit model actually computed, so a bigger basin really does cost more. Three levels of override for when the defaults are wrong for a region.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 claim is step 3: the permit is loaded server-side, so the engineer cannot forget it or quietly swap in friendlier limits. Step 5 is what makes an old report still defensible.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formats for four audiences. The plain-language layer is the one people react to — a readable verdict with everyday comparisons, for the people who sign off but do not read mass balances.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separates a design tool from an operations tool. Five protocols; two native in Node, three through a Python bridge because the mature clients live there. The quality flags on the right are the honesty story — a stale value is never presented as current.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ideas. First, a rule can only target something the flowsheet actually has, validated at creation. Second, events have a real lifecycle rather than being a log line — raised, refreshed, cleared, and a re-breach opens a new event so the history stays truthful.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Rooms keyed by flowsheet, authorised at the handshake. The asymmetry at the bottom is a deliberate security decision worth calling out: clients can send edits, but only the server can emit live plant values.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"The work that does not show up in a demo."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pressure points, three answers. The unifying rule is at the bottom — keep DOM nodes and wire rows proportional to what the user can see.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layers. If asked for the single most important one, it is org scoping on the data layer — that is what makes multi-tenancy safe rather than merely intended.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levels of test with floors enforced in CI, so coverage cannot quietly erode. The conservation suite is the one to mention to a process engineer: it asserts mass in equals mass out across the solved graph, recycles included.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targets, same images, same migration discipline. The split between /health and /health/live is the detail worth explaining: liveness must never touch the database, or a database outage restarts healthy pods and makes the outage worse.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slide — use it if someone asks "how big is this". The bottom table is the process story: foundations first, then features, with whole sessions spent on quality.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progress at the top, candidates below. Ask the room which of the candidates matters most to them — this is the natural place to take input.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one-sentence version: the flowsheet you draw is the model that gets solved, priced, checked and fed live data. Nothing is re-keyed between those steps. Then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2438"/>
        </a:solidFill>
        <a:effectLst/>
      </p:bgPr>
    </p:bg>
    <p:spTree>
      <p:nvGrpSpPr>
        <p:cNvPr id="1" name=""/>
        <p:cNvGrpSpPr/>
        <p:nvPr/>
      </p:nvGrpSpPr>
      <p:grpSpPr/>
      <p:sp>
        <p:nvSpPr>
          <p:cNvPr id="2" name="Rectangle 1"/>
          <p:cNvSpPr/>
          <p:nvPr/>
        </p:nvSpPr>
        <p:spPr>
          <a:xfrm>
            <a:off x="-457200" y="5532120"/>
            <a:ext cx="13106095" cy="502920"/>
          </a:xfrm>
          <a:prstGeom prst="rect">
            <a:avLst/>
          </a:prstGeom>
          <a:solidFill>
            <a:srgbClr val="0B3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457200" y="5989320"/>
            <a:ext cx="13106095" cy="457200"/>
          </a:xfrm>
          <a:prstGeom prst="rect">
            <a:avLst/>
          </a:prstGeom>
          <a:solidFill>
            <a:srgbClr val="0E50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457200" y="6382512"/>
            <a:ext cx="13106095" cy="502920"/>
          </a:xfrm>
          <a:prstGeom prst="rect">
            <a:avLst/>
          </a:prstGeom>
          <a:solidFill>
            <a:srgbClr val="12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34440"/>
            <a:ext cx="822960" cy="6858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572768"/>
            <a:ext cx="10874959" cy="457200"/>
          </a:xfrm>
          <a:prstGeom prst="rect">
            <a:avLst/>
          </a:prstGeom>
          <a:noFill/>
        </p:spPr>
        <p:txBody>
          <a:bodyPr wrap="square" lIns="0" rIns="0" tIns="0" bIns="0" anchor="t">
            <a:spAutoFit/>
          </a:bodyPr>
          <a:lstStyle/>
          <a:p>
            <a:pPr algn="l">
              <a:lnSpc>
                <a:spcPct val="115000"/>
              </a:lnSpc>
            </a:pPr>
            <a:r>
              <a:rPr sz="1200" b="1" i="0">
                <a:solidFill>
                  <a:srgbClr val="22B8D4"/>
                </a:solidFill>
                <a:latin typeface="Segoe UI"/>
              </a:rPr>
              <a:t>WATER &amp; WASTEWATER PROCESS ENGINEERING</a:t>
            </a:r>
          </a:p>
        </p:txBody>
      </p:sp>
      <p:sp>
        <p:nvSpPr>
          <p:cNvPr id="7" name="TextBox 6"/>
          <p:cNvSpPr txBox="1"/>
          <p:nvPr/>
        </p:nvSpPr>
        <p:spPr>
          <a:xfrm>
            <a:off x="658368" y="2011680"/>
            <a:ext cx="10004962" cy="1371600"/>
          </a:xfrm>
          <a:prstGeom prst="rect">
            <a:avLst/>
          </a:prstGeom>
          <a:noFill/>
        </p:spPr>
        <p:txBody>
          <a:bodyPr wrap="square" lIns="0" rIns="0" tIns="0" bIns="0" anchor="t">
            <a:spAutoFit/>
          </a:bodyPr>
          <a:lstStyle/>
          <a:p>
            <a:pPr algn="l">
              <a:lnSpc>
                <a:spcPct val="115000"/>
              </a:lnSpc>
            </a:pPr>
            <a:r>
              <a:rPr sz="6000" b="1" i="0">
                <a:solidFill>
                  <a:srgbClr val="FFFFFF"/>
                </a:solidFill>
                <a:latin typeface="Segoe UI Light"/>
              </a:rPr>
              <a:t>WaterSim Pro</a:t>
            </a:r>
          </a:p>
        </p:txBody>
      </p:sp>
      <p:sp>
        <p:nvSpPr>
          <p:cNvPr id="8" name="TextBox 7"/>
          <p:cNvSpPr txBox="1"/>
          <p:nvPr/>
        </p:nvSpPr>
        <p:spPr>
          <a:xfrm>
            <a:off x="658368" y="3017520"/>
            <a:ext cx="8482468" cy="914400"/>
          </a:xfrm>
          <a:prstGeom prst="rect">
            <a:avLst/>
          </a:prstGeom>
          <a:noFill/>
        </p:spPr>
        <p:txBody>
          <a:bodyPr wrap="square" lIns="0" rIns="0" tIns="0" bIns="0" anchor="t">
            <a:spAutoFit/>
          </a:bodyPr>
          <a:lstStyle/>
          <a:p>
            <a:pPr algn="l">
              <a:lnSpc>
                <a:spcPct val="135000"/>
              </a:lnSpc>
            </a:pPr>
            <a:r>
              <a:rPr sz="1750" b="0" i="0">
                <a:solidFill>
                  <a:srgbClr val="B8D4E2"/>
                </a:solidFill>
                <a:latin typeface="Segoe UI"/>
              </a:rPr>
              <a:t>A web-based simulation platform for designing, costing and operating water purification and wastewater treatment plants.</a:t>
            </a:r>
          </a:p>
        </p:txBody>
      </p:sp>
      <p:sp>
        <p:nvSpPr>
          <p:cNvPr id="9" name="Rectangle 8"/>
          <p:cNvSpPr/>
          <p:nvPr/>
        </p:nvSpPr>
        <p:spPr>
          <a:xfrm>
            <a:off x="658368" y="4160520"/>
            <a:ext cx="3840480" cy="18288"/>
          </a:xfrm>
          <a:prstGeom prst="rect">
            <a:avLst/>
          </a:prstGeom>
          <a:solidFill>
            <a:srgbClr val="1B4A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4370832"/>
            <a:ext cx="8699967" cy="822960"/>
          </a:xfrm>
          <a:prstGeom prst="rect">
            <a:avLst/>
          </a:prstGeom>
          <a:noFill/>
        </p:spPr>
        <p:txBody>
          <a:bodyPr wrap="square" lIns="0" rIns="0" tIns="0" bIns="0" anchor="t">
            <a:spAutoFit/>
          </a:bodyPr>
          <a:lstStyle/>
          <a:p>
            <a:pPr algn="l">
              <a:lnSpc>
                <a:spcPct val="115000"/>
              </a:lnSpc>
            </a:pPr>
            <a:r>
              <a:rPr sz="1300" b="0" i="0">
                <a:solidFill>
                  <a:srgbClr val="8FB6C8"/>
                </a:solidFill>
                <a:latin typeface="Segoe UI"/>
              </a:rPr>
              <a:t>Draw the plant  ·  Simulate the process  ·  See the cost  ·  Prove compliance</a:t>
            </a:r>
          </a:p>
        </p:txBody>
      </p:sp>
      <p:sp>
        <p:nvSpPr>
          <p:cNvPr id="11" name="Rounded Rectangle 10"/>
          <p:cNvSpPr/>
          <p:nvPr/>
        </p:nvSpPr>
        <p:spPr>
          <a:xfrm>
            <a:off x="658368" y="4828032"/>
            <a:ext cx="1773936" cy="329184"/>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9CD8E8"/>
                </a:solidFill>
                <a:latin typeface="Segoe UI"/>
              </a:rPr>
              <a:t>React 18 + Vite</a:t>
            </a:r>
          </a:p>
        </p:txBody>
      </p:sp>
      <p:sp>
        <p:nvSpPr>
          <p:cNvPr id="12" name="Rounded Rectangle 11"/>
          <p:cNvSpPr/>
          <p:nvPr/>
        </p:nvSpPr>
        <p:spPr>
          <a:xfrm>
            <a:off x="2542032" y="4828032"/>
            <a:ext cx="1773936" cy="329184"/>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9CD8E8"/>
                </a:solidFill>
                <a:latin typeface="Segoe UI"/>
              </a:rPr>
              <a:t>Node.js + Express</a:t>
            </a:r>
          </a:p>
        </p:txBody>
      </p:sp>
      <p:sp>
        <p:nvSpPr>
          <p:cNvPr id="13" name="Rounded Rectangle 12"/>
          <p:cNvSpPr/>
          <p:nvPr/>
        </p:nvSpPr>
        <p:spPr>
          <a:xfrm>
            <a:off x="4425696" y="4828032"/>
            <a:ext cx="1773936" cy="329184"/>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9CD8E8"/>
                </a:solidFill>
                <a:latin typeface="Segoe UI"/>
              </a:rPr>
              <a:t>PostgreSQL</a:t>
            </a:r>
          </a:p>
        </p:txBody>
      </p:sp>
      <p:sp>
        <p:nvSpPr>
          <p:cNvPr id="14" name="Rounded Rectangle 13"/>
          <p:cNvSpPr/>
          <p:nvPr/>
        </p:nvSpPr>
        <p:spPr>
          <a:xfrm>
            <a:off x="6309359" y="4828032"/>
            <a:ext cx="1773936" cy="329184"/>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9CD8E8"/>
                </a:solidFill>
                <a:latin typeface="Segoe UI"/>
              </a:rPr>
              <a:t>WebSocket live</a:t>
            </a:r>
          </a:p>
        </p:txBody>
      </p:sp>
      <p:sp>
        <p:nvSpPr>
          <p:cNvPr id="15" name="Rounded Rectangle 14"/>
          <p:cNvSpPr/>
          <p:nvPr/>
        </p:nvSpPr>
        <p:spPr>
          <a:xfrm>
            <a:off x="8193024" y="4828032"/>
            <a:ext cx="1773936" cy="329184"/>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9CD8E8"/>
                </a:solidFill>
                <a:latin typeface="Segoe UI"/>
              </a:rPr>
              <a:t>Python reporting</a:t>
            </a:r>
          </a:p>
        </p:txBody>
      </p:sp>
      <p:sp>
        <p:nvSpPr>
          <p:cNvPr id="16" name="TextBox 15"/>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17" name="TextBox 16"/>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
            </a:r>
          </a:p>
        </p:txBody>
      </p:sp>
      <p:sp>
        <p:nvSpPr>
          <p:cNvPr id="18" name="TextBox 17"/>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CONTENTS</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What this deck covers</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Three parts: what the product is, how it is built, and how work flows through it.</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185415"/>
            <a:ext cx="2526715" cy="2487168"/>
          </a:xfrm>
          <a:prstGeom prst="roundRect">
            <a:avLst>
              <a:gd name="adj" fmla="val 6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185415"/>
            <a:ext cx="2526715" cy="914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2487168"/>
            <a:ext cx="1978075" cy="640080"/>
          </a:xfrm>
          <a:prstGeom prst="rect">
            <a:avLst/>
          </a:prstGeom>
          <a:noFill/>
        </p:spPr>
        <p:txBody>
          <a:bodyPr wrap="square" lIns="0" rIns="0" tIns="0" bIns="0" anchor="t">
            <a:spAutoFit/>
          </a:bodyPr>
          <a:lstStyle/>
          <a:p>
            <a:pPr algn="l">
              <a:lnSpc>
                <a:spcPct val="115000"/>
              </a:lnSpc>
            </a:pPr>
            <a:r>
              <a:rPr sz="3400" b="1" i="0">
                <a:solidFill>
                  <a:srgbClr val="0E7490"/>
                </a:solidFill>
                <a:latin typeface="Segoe UI Light"/>
              </a:rPr>
              <a:t>01</a:t>
            </a:r>
          </a:p>
        </p:txBody>
      </p:sp>
      <p:sp>
        <p:nvSpPr>
          <p:cNvPr id="10" name="TextBox 9"/>
          <p:cNvSpPr txBox="1"/>
          <p:nvPr/>
        </p:nvSpPr>
        <p:spPr>
          <a:xfrm>
            <a:off x="932688" y="3182111"/>
            <a:ext cx="1978075" cy="365760"/>
          </a:xfrm>
          <a:prstGeom prst="rect">
            <a:avLst/>
          </a:prstGeom>
          <a:noFill/>
        </p:spPr>
        <p:txBody>
          <a:bodyPr wrap="square" lIns="0" rIns="0" tIns="0" bIns="0" anchor="t">
            <a:spAutoFit/>
          </a:bodyPr>
          <a:lstStyle/>
          <a:p>
            <a:pPr algn="l">
              <a:lnSpc>
                <a:spcPct val="115000"/>
              </a:lnSpc>
            </a:pPr>
            <a:r>
              <a:rPr sz="1500" b="1" i="0">
                <a:solidFill>
                  <a:srgbClr val="062438"/>
                </a:solidFill>
                <a:latin typeface="Segoe UI"/>
              </a:rPr>
              <a:t>Introduction</a:t>
            </a:r>
          </a:p>
        </p:txBody>
      </p:sp>
      <p:sp>
        <p:nvSpPr>
          <p:cNvPr id="11" name="TextBox 10"/>
          <p:cNvSpPr txBox="1"/>
          <p:nvPr/>
        </p:nvSpPr>
        <p:spPr>
          <a:xfrm>
            <a:off x="932688" y="3566159"/>
            <a:ext cx="1978075" cy="1005840"/>
          </a:xfrm>
          <a:prstGeom prst="rect">
            <a:avLst/>
          </a:prstGeom>
          <a:noFill/>
        </p:spPr>
        <p:txBody>
          <a:bodyPr wrap="square" lIns="0" rIns="0" tIns="0" bIns="0" anchor="t">
            <a:spAutoFit/>
          </a:bodyPr>
          <a:lstStyle/>
          <a:p>
            <a:pPr algn="l">
              <a:lnSpc>
                <a:spcPct val="135000"/>
              </a:lnSpc>
            </a:pPr>
            <a:r>
              <a:rPr sz="1100" b="0" i="0">
                <a:solidFill>
                  <a:srgbClr val="64748B"/>
                </a:solidFill>
                <a:latin typeface="Segoe UI"/>
              </a:rPr>
              <a:t>The problem, what WaterSim Pro does, and who uses it.</a:t>
            </a:r>
          </a:p>
        </p:txBody>
      </p:sp>
      <p:sp>
        <p:nvSpPr>
          <p:cNvPr id="12" name="Rounded Rectangle 11"/>
          <p:cNvSpPr/>
          <p:nvPr/>
        </p:nvSpPr>
        <p:spPr>
          <a:xfrm>
            <a:off x="3441115" y="2185415"/>
            <a:ext cx="2526715" cy="2487168"/>
          </a:xfrm>
          <a:prstGeom prst="roundRect">
            <a:avLst>
              <a:gd name="adj" fmla="val 6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41115" y="2185415"/>
            <a:ext cx="2526715" cy="91440"/>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715435" y="2487168"/>
            <a:ext cx="1978075" cy="640080"/>
          </a:xfrm>
          <a:prstGeom prst="rect">
            <a:avLst/>
          </a:prstGeom>
          <a:noFill/>
        </p:spPr>
        <p:txBody>
          <a:bodyPr wrap="square" lIns="0" rIns="0" tIns="0" bIns="0" anchor="t">
            <a:spAutoFit/>
          </a:bodyPr>
          <a:lstStyle/>
          <a:p>
            <a:pPr algn="l">
              <a:lnSpc>
                <a:spcPct val="115000"/>
              </a:lnSpc>
            </a:pPr>
            <a:r>
              <a:rPr sz="3400" b="1" i="0">
                <a:solidFill>
                  <a:srgbClr val="6D359E"/>
                </a:solidFill>
                <a:latin typeface="Segoe UI Light"/>
              </a:rPr>
              <a:t>02</a:t>
            </a:r>
          </a:p>
        </p:txBody>
      </p:sp>
      <p:sp>
        <p:nvSpPr>
          <p:cNvPr id="15" name="TextBox 14"/>
          <p:cNvSpPr txBox="1"/>
          <p:nvPr/>
        </p:nvSpPr>
        <p:spPr>
          <a:xfrm>
            <a:off x="3715435" y="3182111"/>
            <a:ext cx="1978075" cy="365760"/>
          </a:xfrm>
          <a:prstGeom prst="rect">
            <a:avLst/>
          </a:prstGeom>
          <a:noFill/>
        </p:spPr>
        <p:txBody>
          <a:bodyPr wrap="square" lIns="0" rIns="0" tIns="0" bIns="0" anchor="t">
            <a:spAutoFit/>
          </a:bodyPr>
          <a:lstStyle/>
          <a:p>
            <a:pPr algn="l">
              <a:lnSpc>
                <a:spcPct val="115000"/>
              </a:lnSpc>
            </a:pPr>
            <a:r>
              <a:rPr sz="1500" b="1" i="0">
                <a:solidFill>
                  <a:srgbClr val="062438"/>
                </a:solidFill>
                <a:latin typeface="Segoe UI"/>
              </a:rPr>
              <a:t>Architecture</a:t>
            </a:r>
          </a:p>
        </p:txBody>
      </p:sp>
      <p:sp>
        <p:nvSpPr>
          <p:cNvPr id="16" name="TextBox 15"/>
          <p:cNvSpPr txBox="1"/>
          <p:nvPr/>
        </p:nvSpPr>
        <p:spPr>
          <a:xfrm>
            <a:off x="3715435" y="3566159"/>
            <a:ext cx="1978075" cy="1005840"/>
          </a:xfrm>
          <a:prstGeom prst="rect">
            <a:avLst/>
          </a:prstGeom>
          <a:noFill/>
        </p:spPr>
        <p:txBody>
          <a:bodyPr wrap="square" lIns="0" rIns="0" tIns="0" bIns="0" anchor="t">
            <a:spAutoFit/>
          </a:bodyPr>
          <a:lstStyle/>
          <a:p>
            <a:pPr algn="l">
              <a:lnSpc>
                <a:spcPct val="135000"/>
              </a:lnSpc>
            </a:pPr>
            <a:r>
              <a:rPr sz="1100" b="0" i="0">
                <a:solidFill>
                  <a:srgbClr val="64748B"/>
                </a:solidFill>
                <a:latin typeface="Segoe UI"/>
              </a:rPr>
              <a:t>System layers, technology stack and the data model.</a:t>
            </a:r>
          </a:p>
        </p:txBody>
      </p:sp>
      <p:sp>
        <p:nvSpPr>
          <p:cNvPr id="17" name="Rounded Rectangle 16"/>
          <p:cNvSpPr/>
          <p:nvPr/>
        </p:nvSpPr>
        <p:spPr>
          <a:xfrm>
            <a:off x="6223863" y="2185415"/>
            <a:ext cx="2526715" cy="2487168"/>
          </a:xfrm>
          <a:prstGeom prst="roundRect">
            <a:avLst>
              <a:gd name="adj" fmla="val 6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2185415"/>
            <a:ext cx="2526715" cy="9144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98183" y="2487168"/>
            <a:ext cx="1978075" cy="640080"/>
          </a:xfrm>
          <a:prstGeom prst="rect">
            <a:avLst/>
          </a:prstGeom>
          <a:noFill/>
        </p:spPr>
        <p:txBody>
          <a:bodyPr wrap="square" lIns="0" rIns="0" tIns="0" bIns="0" anchor="t">
            <a:spAutoFit/>
          </a:bodyPr>
          <a:lstStyle/>
          <a:p>
            <a:pPr algn="l">
              <a:lnSpc>
                <a:spcPct val="115000"/>
              </a:lnSpc>
            </a:pPr>
            <a:r>
              <a:rPr sz="3400" b="1" i="0">
                <a:solidFill>
                  <a:srgbClr val="22B8D4"/>
                </a:solidFill>
                <a:latin typeface="Segoe UI Light"/>
              </a:rPr>
              <a:t>03</a:t>
            </a:r>
          </a:p>
        </p:txBody>
      </p:sp>
      <p:sp>
        <p:nvSpPr>
          <p:cNvPr id="20" name="TextBox 19"/>
          <p:cNvSpPr txBox="1"/>
          <p:nvPr/>
        </p:nvSpPr>
        <p:spPr>
          <a:xfrm>
            <a:off x="6498183" y="3182111"/>
            <a:ext cx="1978075" cy="365760"/>
          </a:xfrm>
          <a:prstGeom prst="rect">
            <a:avLst/>
          </a:prstGeom>
          <a:noFill/>
        </p:spPr>
        <p:txBody>
          <a:bodyPr wrap="square" lIns="0" rIns="0" tIns="0" bIns="0" anchor="t">
            <a:spAutoFit/>
          </a:bodyPr>
          <a:lstStyle/>
          <a:p>
            <a:pPr algn="l">
              <a:lnSpc>
                <a:spcPct val="115000"/>
              </a:lnSpc>
            </a:pPr>
            <a:r>
              <a:rPr sz="1500" b="1" i="0">
                <a:solidFill>
                  <a:srgbClr val="062438"/>
                </a:solidFill>
                <a:latin typeface="Segoe UI"/>
              </a:rPr>
              <a:t>The Flows</a:t>
            </a:r>
          </a:p>
        </p:txBody>
      </p:sp>
      <p:sp>
        <p:nvSpPr>
          <p:cNvPr id="21" name="TextBox 20"/>
          <p:cNvSpPr txBox="1"/>
          <p:nvPr/>
        </p:nvSpPr>
        <p:spPr>
          <a:xfrm>
            <a:off x="6498183" y="3566159"/>
            <a:ext cx="1978075" cy="1005840"/>
          </a:xfrm>
          <a:prstGeom prst="rect">
            <a:avLst/>
          </a:prstGeom>
          <a:noFill/>
        </p:spPr>
        <p:txBody>
          <a:bodyPr wrap="square" lIns="0" rIns="0" tIns="0" bIns="0" anchor="t">
            <a:spAutoFit/>
          </a:bodyPr>
          <a:lstStyle/>
          <a:p>
            <a:pPr algn="l">
              <a:lnSpc>
                <a:spcPct val="135000"/>
              </a:lnSpc>
            </a:pPr>
            <a:r>
              <a:rPr sz="1100" b="0" i="0">
                <a:solidFill>
                  <a:srgbClr val="64748B"/>
                </a:solidFill>
                <a:latin typeface="Segoe UI"/>
              </a:rPr>
              <a:t>Ten end-to-end journeys, from login to a signed-off report.</a:t>
            </a:r>
          </a:p>
        </p:txBody>
      </p:sp>
      <p:sp>
        <p:nvSpPr>
          <p:cNvPr id="22" name="Rounded Rectangle 21"/>
          <p:cNvSpPr/>
          <p:nvPr/>
        </p:nvSpPr>
        <p:spPr>
          <a:xfrm>
            <a:off x="9006611" y="2185415"/>
            <a:ext cx="2526715" cy="2487168"/>
          </a:xfrm>
          <a:prstGeom prst="roundRect">
            <a:avLst>
              <a:gd name="adj" fmla="val 6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9006611" y="2185415"/>
            <a:ext cx="2526715" cy="91440"/>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80931" y="2487168"/>
            <a:ext cx="1978075" cy="640080"/>
          </a:xfrm>
          <a:prstGeom prst="rect">
            <a:avLst/>
          </a:prstGeom>
          <a:noFill/>
        </p:spPr>
        <p:txBody>
          <a:bodyPr wrap="square" lIns="0" rIns="0" tIns="0" bIns="0" anchor="t">
            <a:spAutoFit/>
          </a:bodyPr>
          <a:lstStyle/>
          <a:p>
            <a:pPr algn="l">
              <a:lnSpc>
                <a:spcPct val="115000"/>
              </a:lnSpc>
            </a:pPr>
            <a:r>
              <a:rPr sz="3400" b="1" i="0">
                <a:solidFill>
                  <a:srgbClr val="0F765E"/>
                </a:solidFill>
                <a:latin typeface="Segoe UI Light"/>
              </a:rPr>
              <a:t>04</a:t>
            </a:r>
          </a:p>
        </p:txBody>
      </p:sp>
      <p:sp>
        <p:nvSpPr>
          <p:cNvPr id="25" name="TextBox 24"/>
          <p:cNvSpPr txBox="1"/>
          <p:nvPr/>
        </p:nvSpPr>
        <p:spPr>
          <a:xfrm>
            <a:off x="9280931" y="3182111"/>
            <a:ext cx="1978075" cy="365760"/>
          </a:xfrm>
          <a:prstGeom prst="rect">
            <a:avLst/>
          </a:prstGeom>
          <a:noFill/>
        </p:spPr>
        <p:txBody>
          <a:bodyPr wrap="square" lIns="0" rIns="0" tIns="0" bIns="0" anchor="t">
            <a:spAutoFit/>
          </a:bodyPr>
          <a:lstStyle/>
          <a:p>
            <a:pPr algn="l">
              <a:lnSpc>
                <a:spcPct val="115000"/>
              </a:lnSpc>
            </a:pPr>
            <a:r>
              <a:rPr sz="1500" b="1" i="0">
                <a:solidFill>
                  <a:srgbClr val="062438"/>
                </a:solidFill>
                <a:latin typeface="Segoe UI"/>
              </a:rPr>
              <a:t>Engineering</a:t>
            </a:r>
          </a:p>
        </p:txBody>
      </p:sp>
      <p:sp>
        <p:nvSpPr>
          <p:cNvPr id="26" name="TextBox 25"/>
          <p:cNvSpPr txBox="1"/>
          <p:nvPr/>
        </p:nvSpPr>
        <p:spPr>
          <a:xfrm>
            <a:off x="9280931" y="3566159"/>
            <a:ext cx="1978075" cy="1005840"/>
          </a:xfrm>
          <a:prstGeom prst="rect">
            <a:avLst/>
          </a:prstGeom>
          <a:noFill/>
        </p:spPr>
        <p:txBody>
          <a:bodyPr wrap="square" lIns="0" rIns="0" tIns="0" bIns="0" anchor="t">
            <a:spAutoFit/>
          </a:bodyPr>
          <a:lstStyle/>
          <a:p>
            <a:pPr algn="l">
              <a:lnSpc>
                <a:spcPct val="135000"/>
              </a:lnSpc>
            </a:pPr>
            <a:r>
              <a:rPr sz="1100" b="0" i="0">
                <a:solidFill>
                  <a:srgbClr val="64748B"/>
                </a:solidFill>
                <a:latin typeface="Segoe UI"/>
              </a:rPr>
              <a:t>Performance, security, testing and deployment.</a:t>
            </a:r>
          </a:p>
        </p:txBody>
      </p:sp>
      <p:sp>
        <p:nvSpPr>
          <p:cNvPr id="27" name="Rounded Rectangle 26"/>
          <p:cNvSpPr/>
          <p:nvPr/>
        </p:nvSpPr>
        <p:spPr>
          <a:xfrm>
            <a:off x="658368" y="4974336"/>
            <a:ext cx="10874959" cy="658368"/>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50976" y="4974336"/>
            <a:ext cx="10289743" cy="658368"/>
          </a:xfrm>
          <a:prstGeom prst="rect">
            <a:avLst/>
          </a:prstGeom>
          <a:noFill/>
        </p:spPr>
        <p:txBody>
          <a:bodyPr wrap="square" lIns="0" rIns="0" tIns="0" bIns="0" anchor="ctr">
            <a:spAutoFit/>
          </a:bodyPr>
          <a:lstStyle/>
          <a:p>
            <a:pPr algn="l">
              <a:lnSpc>
                <a:spcPct val="130000"/>
              </a:lnSpc>
            </a:pPr>
            <a:r>
              <a:rPr sz="1200" b="0" i="0">
                <a:solidFill>
                  <a:srgbClr val="0E7490"/>
                </a:solidFill>
                <a:latin typeface="Segoe UI"/>
              </a:rPr>
              <a:t>In one line:  an engineer draws a treatment train on a canvas, WaterSim Pro solves the mass balance, prices the plant, checks it against the discharge permit, and turns the result into a report anyone can read.</a:t>
            </a:r>
          </a:p>
        </p:txBody>
      </p:sp>
      <p:sp>
        <p:nvSpPr>
          <p:cNvPr id="29" name="TextBox 28"/>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30" name="TextBox 29"/>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Contents</a:t>
            </a:r>
          </a:p>
        </p:txBody>
      </p:sp>
      <p:sp>
        <p:nvSpPr>
          <p:cNvPr id="31" name="TextBox 30"/>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WHY IT EXISTS</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Designing a treatment plant is slow, siloed and hard to check</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Process design today is spread across desktop simulators, spreadsheets and PDFs — none of which talk to each other.</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5300319" cy="128016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45720" cy="128016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231136"/>
            <a:ext cx="4843119" cy="292608"/>
          </a:xfrm>
          <a:prstGeom prst="rect">
            <a:avLst/>
          </a:prstGeom>
          <a:noFill/>
        </p:spPr>
        <p:txBody>
          <a:bodyPr wrap="square" lIns="0" rIns="0" tIns="0" bIns="0" anchor="t">
            <a:spAutoFit/>
          </a:bodyPr>
          <a:lstStyle/>
          <a:p>
            <a:pPr algn="l">
              <a:lnSpc>
                <a:spcPct val="115000"/>
              </a:lnSpc>
            </a:pPr>
            <a:r>
              <a:rPr sz="1400" b="1" i="0">
                <a:solidFill>
                  <a:srgbClr val="062438"/>
                </a:solidFill>
                <a:latin typeface="Segoe UI"/>
              </a:rPr>
              <a:t>Desktop-only tools</a:t>
            </a:r>
          </a:p>
        </p:txBody>
      </p:sp>
      <p:sp>
        <p:nvSpPr>
          <p:cNvPr id="10" name="TextBox 9"/>
          <p:cNvSpPr txBox="1"/>
          <p:nvPr/>
        </p:nvSpPr>
        <p:spPr>
          <a:xfrm>
            <a:off x="914400" y="2560320"/>
            <a:ext cx="4843119" cy="640079"/>
          </a:xfrm>
          <a:prstGeom prst="rect">
            <a:avLst/>
          </a:prstGeom>
          <a:noFill/>
        </p:spPr>
        <p:txBody>
          <a:bodyPr wrap="square" lIns="0" rIns="0" tIns="0" bIns="0" anchor="t">
            <a:spAutoFit/>
          </a:bodyPr>
          <a:lstStyle/>
          <a:p>
            <a:pPr algn="l">
              <a:lnSpc>
                <a:spcPct val="130000"/>
              </a:lnSpc>
            </a:pPr>
            <a:r>
              <a:rPr sz="1100" b="0" i="0">
                <a:solidFill>
                  <a:srgbClr val="64748B"/>
                </a:solidFill>
                <a:latin typeface="Segoe UI"/>
              </a:rPr>
              <a:t>Licences are per seat and per machine. Nobody outside the process team can open the model, so review happens by emailing screenshots.</a:t>
            </a:r>
          </a:p>
        </p:txBody>
      </p:sp>
      <p:sp>
        <p:nvSpPr>
          <p:cNvPr id="11" name="Rounded Rectangle 10"/>
          <p:cNvSpPr/>
          <p:nvPr/>
        </p:nvSpPr>
        <p:spPr>
          <a:xfrm>
            <a:off x="6233007" y="2048255"/>
            <a:ext cx="5300319" cy="128016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33007" y="2048255"/>
            <a:ext cx="45720" cy="1280160"/>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89039" y="2231136"/>
            <a:ext cx="4843119" cy="292608"/>
          </a:xfrm>
          <a:prstGeom prst="rect">
            <a:avLst/>
          </a:prstGeom>
          <a:noFill/>
        </p:spPr>
        <p:txBody>
          <a:bodyPr wrap="square" lIns="0" rIns="0" tIns="0" bIns="0" anchor="t">
            <a:spAutoFit/>
          </a:bodyPr>
          <a:lstStyle/>
          <a:p>
            <a:pPr algn="l">
              <a:lnSpc>
                <a:spcPct val="115000"/>
              </a:lnSpc>
            </a:pPr>
            <a:r>
              <a:rPr sz="1400" b="1" i="0">
                <a:solidFill>
                  <a:srgbClr val="062438"/>
                </a:solidFill>
                <a:latin typeface="Segoe UI"/>
              </a:rPr>
              <a:t>Spreadsheet costing</a:t>
            </a:r>
          </a:p>
        </p:txBody>
      </p:sp>
      <p:sp>
        <p:nvSpPr>
          <p:cNvPr id="14" name="TextBox 13"/>
          <p:cNvSpPr txBox="1"/>
          <p:nvPr/>
        </p:nvSpPr>
        <p:spPr>
          <a:xfrm>
            <a:off x="6489039" y="2560320"/>
            <a:ext cx="4843119" cy="640079"/>
          </a:xfrm>
          <a:prstGeom prst="rect">
            <a:avLst/>
          </a:prstGeom>
          <a:noFill/>
        </p:spPr>
        <p:txBody>
          <a:bodyPr wrap="square" lIns="0" rIns="0" tIns="0" bIns="0" anchor="t">
            <a:spAutoFit/>
          </a:bodyPr>
          <a:lstStyle/>
          <a:p>
            <a:pPr algn="l">
              <a:lnSpc>
                <a:spcPct val="130000"/>
              </a:lnSpc>
            </a:pPr>
            <a:r>
              <a:rPr sz="1100" b="0" i="0">
                <a:solidFill>
                  <a:srgbClr val="64748B"/>
                </a:solidFill>
                <a:latin typeface="Segoe UI"/>
              </a:rPr>
              <a:t>CAPEX and OPEX live in a separate workbook from the mass balance. Change a basin volume and the cost silently goes stale.</a:t>
            </a:r>
          </a:p>
        </p:txBody>
      </p:sp>
      <p:sp>
        <p:nvSpPr>
          <p:cNvPr id="15" name="Rounded Rectangle 14"/>
          <p:cNvSpPr/>
          <p:nvPr/>
        </p:nvSpPr>
        <p:spPr>
          <a:xfrm>
            <a:off x="658368" y="3529584"/>
            <a:ext cx="5300319" cy="128016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3529584"/>
            <a:ext cx="45720" cy="1280160"/>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3712463"/>
            <a:ext cx="4843119" cy="292608"/>
          </a:xfrm>
          <a:prstGeom prst="rect">
            <a:avLst/>
          </a:prstGeom>
          <a:noFill/>
        </p:spPr>
        <p:txBody>
          <a:bodyPr wrap="square" lIns="0" rIns="0" tIns="0" bIns="0" anchor="t">
            <a:spAutoFit/>
          </a:bodyPr>
          <a:lstStyle/>
          <a:p>
            <a:pPr algn="l">
              <a:lnSpc>
                <a:spcPct val="115000"/>
              </a:lnSpc>
            </a:pPr>
            <a:r>
              <a:rPr sz="1400" b="1" i="0">
                <a:solidFill>
                  <a:srgbClr val="062438"/>
                </a:solidFill>
                <a:latin typeface="Segoe UI"/>
              </a:rPr>
              <a:t>Compliance checked by hand</a:t>
            </a:r>
          </a:p>
        </p:txBody>
      </p:sp>
      <p:sp>
        <p:nvSpPr>
          <p:cNvPr id="18" name="TextBox 17"/>
          <p:cNvSpPr txBox="1"/>
          <p:nvPr/>
        </p:nvSpPr>
        <p:spPr>
          <a:xfrm>
            <a:off x="914400" y="4041648"/>
            <a:ext cx="4843119" cy="640080"/>
          </a:xfrm>
          <a:prstGeom prst="rect">
            <a:avLst/>
          </a:prstGeom>
          <a:noFill/>
        </p:spPr>
        <p:txBody>
          <a:bodyPr wrap="square" lIns="0" rIns="0" tIns="0" bIns="0" anchor="t">
            <a:spAutoFit/>
          </a:bodyPr>
          <a:lstStyle/>
          <a:p>
            <a:pPr algn="l">
              <a:lnSpc>
                <a:spcPct val="130000"/>
              </a:lnSpc>
            </a:pPr>
            <a:r>
              <a:rPr sz="1100" b="0" i="0">
                <a:solidFill>
                  <a:srgbClr val="64748B"/>
                </a:solidFill>
                <a:latin typeface="Segoe UI"/>
              </a:rPr>
              <a:t>Effluent limits are re-typed from the permit into the model each time, so a missed limit is only found at the review meeting.</a:t>
            </a:r>
          </a:p>
        </p:txBody>
      </p:sp>
      <p:sp>
        <p:nvSpPr>
          <p:cNvPr id="19" name="Rounded Rectangle 18"/>
          <p:cNvSpPr/>
          <p:nvPr/>
        </p:nvSpPr>
        <p:spPr>
          <a:xfrm>
            <a:off x="6233007" y="3529584"/>
            <a:ext cx="5300319" cy="128016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33007" y="3529584"/>
            <a:ext cx="45720" cy="128016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89039" y="3712463"/>
            <a:ext cx="4843119" cy="292608"/>
          </a:xfrm>
          <a:prstGeom prst="rect">
            <a:avLst/>
          </a:prstGeom>
          <a:noFill/>
        </p:spPr>
        <p:txBody>
          <a:bodyPr wrap="square" lIns="0" rIns="0" tIns="0" bIns="0" anchor="t">
            <a:spAutoFit/>
          </a:bodyPr>
          <a:lstStyle/>
          <a:p>
            <a:pPr algn="l">
              <a:lnSpc>
                <a:spcPct val="115000"/>
              </a:lnSpc>
            </a:pPr>
            <a:r>
              <a:rPr sz="1400" b="1" i="0">
                <a:solidFill>
                  <a:srgbClr val="062438"/>
                </a:solidFill>
                <a:latin typeface="Segoe UI"/>
              </a:rPr>
              <a:t>No link to the real plant</a:t>
            </a:r>
          </a:p>
        </p:txBody>
      </p:sp>
      <p:sp>
        <p:nvSpPr>
          <p:cNvPr id="22" name="TextBox 21"/>
          <p:cNvSpPr txBox="1"/>
          <p:nvPr/>
        </p:nvSpPr>
        <p:spPr>
          <a:xfrm>
            <a:off x="6489039" y="4041648"/>
            <a:ext cx="4843119" cy="640080"/>
          </a:xfrm>
          <a:prstGeom prst="rect">
            <a:avLst/>
          </a:prstGeom>
          <a:noFill/>
        </p:spPr>
        <p:txBody>
          <a:bodyPr wrap="square" lIns="0" rIns="0" tIns="0" bIns="0" anchor="t">
            <a:spAutoFit/>
          </a:bodyPr>
          <a:lstStyle/>
          <a:p>
            <a:pPr algn="l">
              <a:lnSpc>
                <a:spcPct val="130000"/>
              </a:lnSpc>
            </a:pPr>
            <a:r>
              <a:rPr sz="1100" b="0" i="0">
                <a:solidFill>
                  <a:srgbClr val="64748B"/>
                </a:solidFill>
                <a:latin typeface="Segoe UI"/>
              </a:rPr>
              <a:t>The design model and the running plant are two different worlds — the simulation is never confronted with live SCADA data.</a:t>
            </a:r>
          </a:p>
        </p:txBody>
      </p:sp>
      <p:sp>
        <p:nvSpPr>
          <p:cNvPr id="23" name="Rounded Rectangle 22"/>
          <p:cNvSpPr/>
          <p:nvPr/>
        </p:nvSpPr>
        <p:spPr>
          <a:xfrm>
            <a:off x="658368" y="5175504"/>
            <a:ext cx="10874959" cy="603504"/>
          </a:xfrm>
          <a:prstGeom prst="roundRect">
            <a:avLst>
              <a:gd name="adj" fmla="val 14000"/>
            </a:avLst>
          </a:prstGeom>
          <a:solidFill>
            <a:srgbClr val="062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50976" y="5175504"/>
            <a:ext cx="10289743" cy="603504"/>
          </a:xfrm>
          <a:prstGeom prst="rect">
            <a:avLst/>
          </a:prstGeom>
          <a:noFill/>
        </p:spPr>
        <p:txBody>
          <a:bodyPr wrap="square" lIns="0" rIns="0" tIns="0" bIns="0" anchor="ctr">
            <a:spAutoFit/>
          </a:bodyPr>
          <a:lstStyle/>
          <a:p>
            <a:pPr algn="l">
              <a:lnSpc>
                <a:spcPct val="115000"/>
              </a:lnSpc>
            </a:pPr>
            <a:r>
              <a:rPr sz="1250" b="1" i="0">
                <a:solidFill>
                  <a:srgbClr val="FFFFFF"/>
                </a:solidFill>
                <a:latin typeface="Segoe UI"/>
              </a:rPr>
              <a:t>WaterSim Pro puts all four in one browser tab — one model, one number, one source of truth.</a:t>
            </a:r>
          </a:p>
        </p:txBody>
      </p:sp>
      <p:sp>
        <p:nvSpPr>
          <p:cNvPr id="25" name="TextBox 24"/>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26" name="TextBox 25"/>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Introduction</a:t>
            </a:r>
          </a:p>
        </p:txBody>
      </p:sp>
      <p:sp>
        <p:nvSpPr>
          <p:cNvPr id="27" name="TextBox 26"/>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THE PRODUCT</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What WaterSim Pro does</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Six capabilities, all reachable from the same flowsheet.</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139696"/>
            <a:ext cx="3454298" cy="170078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139696"/>
            <a:ext cx="45720" cy="17007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322576"/>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Visual flowsheet canvas</a:t>
            </a:r>
          </a:p>
        </p:txBody>
      </p:sp>
      <p:sp>
        <p:nvSpPr>
          <p:cNvPr id="10" name="TextBox 9"/>
          <p:cNvSpPr txBox="1"/>
          <p:nvPr/>
        </p:nvSpPr>
        <p:spPr>
          <a:xfrm>
            <a:off x="914400" y="2651760"/>
            <a:ext cx="2997098" cy="1060704"/>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Drag 26 unit operations onto a drawing sheet, wire them together, set parameters per node. Live values animate on the symbols.</a:t>
            </a:r>
          </a:p>
        </p:txBody>
      </p:sp>
      <p:sp>
        <p:nvSpPr>
          <p:cNvPr id="11" name="Rounded Rectangle 10"/>
          <p:cNvSpPr/>
          <p:nvPr/>
        </p:nvSpPr>
        <p:spPr>
          <a:xfrm>
            <a:off x="4368698" y="2139696"/>
            <a:ext cx="3454298" cy="170078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68698" y="2139696"/>
            <a:ext cx="45720" cy="1700784"/>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24730" y="2322576"/>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Process simulation</a:t>
            </a:r>
          </a:p>
        </p:txBody>
      </p:sp>
      <p:sp>
        <p:nvSpPr>
          <p:cNvPr id="14" name="TextBox 13"/>
          <p:cNvSpPr txBox="1"/>
          <p:nvPr/>
        </p:nvSpPr>
        <p:spPr>
          <a:xfrm>
            <a:off x="4624730" y="2651760"/>
            <a:ext cx="2997098" cy="1060704"/>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A steady-state solver plus a 24-hour dynamic solver, with true branching, mixing and RAS/WAS recycle loops.</a:t>
            </a:r>
          </a:p>
        </p:txBody>
      </p:sp>
      <p:sp>
        <p:nvSpPr>
          <p:cNvPr id="15" name="Rounded Rectangle 14"/>
          <p:cNvSpPr/>
          <p:nvPr/>
        </p:nvSpPr>
        <p:spPr>
          <a:xfrm>
            <a:off x="8079028" y="2139696"/>
            <a:ext cx="3454298" cy="170078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79028" y="2139696"/>
            <a:ext cx="45720" cy="1700784"/>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35060" y="2322576"/>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Cost estimation</a:t>
            </a:r>
          </a:p>
        </p:txBody>
      </p:sp>
      <p:sp>
        <p:nvSpPr>
          <p:cNvPr id="18" name="TextBox 17"/>
          <p:cNvSpPr txBox="1"/>
          <p:nvPr/>
        </p:nvSpPr>
        <p:spPr>
          <a:xfrm>
            <a:off x="8335060" y="2651760"/>
            <a:ext cx="2997098" cy="1060704"/>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Per-unit CAPEX from sizing correlations, five OPEX categories, annualised capital and a levelised cost of water.</a:t>
            </a:r>
          </a:p>
        </p:txBody>
      </p:sp>
      <p:sp>
        <p:nvSpPr>
          <p:cNvPr id="19" name="Rounded Rectangle 18"/>
          <p:cNvSpPr/>
          <p:nvPr/>
        </p:nvSpPr>
        <p:spPr>
          <a:xfrm>
            <a:off x="658368" y="4023360"/>
            <a:ext cx="3454298" cy="170078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4023360"/>
            <a:ext cx="45720" cy="1700784"/>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4400" y="4206240"/>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Permit compliance</a:t>
            </a:r>
          </a:p>
        </p:txBody>
      </p:sp>
      <p:sp>
        <p:nvSpPr>
          <p:cNvPr id="22" name="TextBox 21"/>
          <p:cNvSpPr txBox="1"/>
          <p:nvPr/>
        </p:nvSpPr>
        <p:spPr>
          <a:xfrm>
            <a:off x="914400" y="4535424"/>
            <a:ext cx="2997098" cy="1060704"/>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Organisation-level effluent permit templates; every run is scored pass or fail against the active limits.</a:t>
            </a:r>
          </a:p>
        </p:txBody>
      </p:sp>
      <p:sp>
        <p:nvSpPr>
          <p:cNvPr id="23" name="Rounded Rectangle 22"/>
          <p:cNvSpPr/>
          <p:nvPr/>
        </p:nvSpPr>
        <p:spPr>
          <a:xfrm>
            <a:off x="4368698" y="4023360"/>
            <a:ext cx="3454298" cy="170078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68698" y="4023360"/>
            <a:ext cx="45720" cy="1700784"/>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624730" y="4206240"/>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Live plant data &amp; alarms</a:t>
            </a:r>
          </a:p>
        </p:txBody>
      </p:sp>
      <p:sp>
        <p:nvSpPr>
          <p:cNvPr id="26" name="TextBox 25"/>
          <p:cNvSpPr txBox="1"/>
          <p:nvPr/>
        </p:nvSpPr>
        <p:spPr>
          <a:xfrm>
            <a:off x="4624730" y="4535424"/>
            <a:ext cx="2997098" cy="1060704"/>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Bind canvas parameters to PLC tags over Modbus, OPC UA, S7 or EtherNet/IP; raise alarms on limits and keep an event history.</a:t>
            </a:r>
          </a:p>
        </p:txBody>
      </p:sp>
      <p:sp>
        <p:nvSpPr>
          <p:cNvPr id="27" name="Rounded Rectangle 26"/>
          <p:cNvSpPr/>
          <p:nvPr/>
        </p:nvSpPr>
        <p:spPr>
          <a:xfrm>
            <a:off x="8079028" y="4023360"/>
            <a:ext cx="3454298" cy="170078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079028" y="4023360"/>
            <a:ext cx="45720" cy="1700784"/>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335060" y="4206240"/>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Reporting &amp; collaboration</a:t>
            </a:r>
          </a:p>
        </p:txBody>
      </p:sp>
      <p:sp>
        <p:nvSpPr>
          <p:cNvPr id="30" name="TextBox 29"/>
          <p:cNvSpPr txBox="1"/>
          <p:nvPr/>
        </p:nvSpPr>
        <p:spPr>
          <a:xfrm>
            <a:off x="8335060" y="4535424"/>
            <a:ext cx="2997098" cy="1060704"/>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PDF, Excel and CSV exports, plain-language summaries, scenario comparison, and multi-user editing with presence.</a:t>
            </a:r>
          </a:p>
        </p:txBody>
      </p:sp>
      <p:sp>
        <p:nvSpPr>
          <p:cNvPr id="31" name="TextBox 30"/>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32" name="TextBox 31"/>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Introduction</a:t>
            </a:r>
          </a:p>
        </p:txBody>
      </p:sp>
      <p:sp>
        <p:nvSpPr>
          <p:cNvPr id="33" name="TextBox 32"/>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USERS &amp; ACCESS</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Four roles, each one inheriting the one below</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Access control is hierarchical: a route guarded for engineers also admits admins.</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139696"/>
            <a:ext cx="2471851" cy="214884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658368" y="2139696"/>
            <a:ext cx="2471851" cy="384048"/>
          </a:xfrm>
          <a:prstGeom prst="roundRect">
            <a:avLst>
              <a:gd name="adj" fmla="val 30000"/>
            </a:avLst>
          </a:prstGeom>
          <a:solidFill>
            <a:srgbClr val="9AAB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359151"/>
            <a:ext cx="2471851" cy="164592"/>
          </a:xfrm>
          <a:prstGeom prst="rect">
            <a:avLst/>
          </a:prstGeom>
          <a:solidFill>
            <a:srgbClr val="9AAB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194560"/>
            <a:ext cx="2471851" cy="274320"/>
          </a:xfrm>
          <a:prstGeom prst="rect">
            <a:avLst/>
          </a:prstGeom>
          <a:noFill/>
        </p:spPr>
        <p:txBody>
          <a:bodyPr wrap="square" lIns="0" rIns="0" tIns="0" bIns="0" anchor="t">
            <a:spAutoFit/>
          </a:bodyPr>
          <a:lstStyle/>
          <a:p>
            <a:pPr algn="ctr">
              <a:lnSpc>
                <a:spcPct val="115000"/>
              </a:lnSpc>
            </a:pPr>
            <a:r>
              <a:rPr sz="1400" b="1" i="0">
                <a:solidFill>
                  <a:srgbClr val="FFFFFF"/>
                </a:solidFill>
                <a:latin typeface="Segoe UI"/>
              </a:rPr>
              <a:t>Viewer</a:t>
            </a:r>
          </a:p>
        </p:txBody>
      </p:sp>
      <p:sp>
        <p:nvSpPr>
          <p:cNvPr id="11" name="TextBox 10"/>
          <p:cNvSpPr txBox="1"/>
          <p:nvPr/>
        </p:nvSpPr>
        <p:spPr>
          <a:xfrm>
            <a:off x="896112" y="2734056"/>
            <a:ext cx="1996363" cy="1371600"/>
          </a:xfrm>
          <a:prstGeom prst="rect">
            <a:avLst/>
          </a:prstGeom>
          <a:noFill/>
        </p:spPr>
        <p:txBody>
          <a:bodyPr wrap="square" lIns="0" rIns="0" tIns="0" bIns="0" anchor="t">
            <a:spAutoFit/>
          </a:bodyPr>
          <a:lstStyle/>
          <a:p>
            <a:pPr algn="l">
              <a:lnSpc>
                <a:spcPct val="135000"/>
              </a:lnSpc>
            </a:pPr>
            <a:r>
              <a:rPr sz="1100" b="0" i="0">
                <a:solidFill>
                  <a:srgbClr val="64748B"/>
                </a:solidFill>
                <a:latin typeface="Segoe UI"/>
              </a:rPr>
              <a:t>Reads projects, flowsheets
and reports in their
organisation.</a:t>
            </a:r>
          </a:p>
        </p:txBody>
      </p:sp>
      <p:sp>
        <p:nvSpPr>
          <p:cNvPr id="12" name="Right Arrow 11"/>
          <p:cNvSpPr/>
          <p:nvPr/>
        </p:nvSpPr>
        <p:spPr>
          <a:xfrm>
            <a:off x="3157651" y="3054096"/>
            <a:ext cx="274320" cy="201168"/>
          </a:xfrm>
          <a:prstGeom prst="rightArrow">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3459403" y="2139696"/>
            <a:ext cx="2471851" cy="214884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3459403" y="2139696"/>
            <a:ext cx="2471851" cy="384048"/>
          </a:xfrm>
          <a:prstGeom prst="roundRect">
            <a:avLst>
              <a:gd name="adj" fmla="val 3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459403" y="2359151"/>
            <a:ext cx="2471851" cy="16459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59403" y="2194560"/>
            <a:ext cx="2471851" cy="274320"/>
          </a:xfrm>
          <a:prstGeom prst="rect">
            <a:avLst/>
          </a:prstGeom>
          <a:noFill/>
        </p:spPr>
        <p:txBody>
          <a:bodyPr wrap="square" lIns="0" rIns="0" tIns="0" bIns="0" anchor="t">
            <a:spAutoFit/>
          </a:bodyPr>
          <a:lstStyle/>
          <a:p>
            <a:pPr algn="ctr">
              <a:lnSpc>
                <a:spcPct val="115000"/>
              </a:lnSpc>
            </a:pPr>
            <a:r>
              <a:rPr sz="1400" b="1" i="0">
                <a:solidFill>
                  <a:srgbClr val="FFFFFF"/>
                </a:solidFill>
                <a:latin typeface="Segoe UI"/>
              </a:rPr>
              <a:t>Operator</a:t>
            </a:r>
          </a:p>
        </p:txBody>
      </p:sp>
      <p:sp>
        <p:nvSpPr>
          <p:cNvPr id="17" name="TextBox 16"/>
          <p:cNvSpPr txBox="1"/>
          <p:nvPr/>
        </p:nvSpPr>
        <p:spPr>
          <a:xfrm>
            <a:off x="3697147" y="2734056"/>
            <a:ext cx="1996363" cy="1371600"/>
          </a:xfrm>
          <a:prstGeom prst="rect">
            <a:avLst/>
          </a:prstGeom>
          <a:noFill/>
        </p:spPr>
        <p:txBody>
          <a:bodyPr wrap="square" lIns="0" rIns="0" tIns="0" bIns="0" anchor="t">
            <a:spAutoFit/>
          </a:bodyPr>
          <a:lstStyle/>
          <a:p>
            <a:pPr algn="l">
              <a:lnSpc>
                <a:spcPct val="135000"/>
              </a:lnSpc>
            </a:pPr>
            <a:r>
              <a:rPr sz="1100" b="0" i="0">
                <a:solidFill>
                  <a:srgbClr val="64748B"/>
                </a:solidFill>
                <a:latin typeface="Segoe UI"/>
              </a:rPr>
              <a:t>Everything a viewer can do,
plus running simulations on
existing flowsheets.</a:t>
            </a:r>
          </a:p>
        </p:txBody>
      </p:sp>
      <p:sp>
        <p:nvSpPr>
          <p:cNvPr id="18" name="Right Arrow 17"/>
          <p:cNvSpPr/>
          <p:nvPr/>
        </p:nvSpPr>
        <p:spPr>
          <a:xfrm>
            <a:off x="5958687" y="3054096"/>
            <a:ext cx="274320" cy="201168"/>
          </a:xfrm>
          <a:prstGeom prst="rightArrow">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260439" y="2139696"/>
            <a:ext cx="2471851" cy="214884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60439" y="2139696"/>
            <a:ext cx="2471851" cy="384048"/>
          </a:xfrm>
          <a:prstGeom prst="roundRect">
            <a:avLst>
              <a:gd name="adj" fmla="val 30000"/>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60439" y="2359151"/>
            <a:ext cx="2471851" cy="164592"/>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60439" y="2194560"/>
            <a:ext cx="2471851" cy="274320"/>
          </a:xfrm>
          <a:prstGeom prst="rect">
            <a:avLst/>
          </a:prstGeom>
          <a:noFill/>
        </p:spPr>
        <p:txBody>
          <a:bodyPr wrap="square" lIns="0" rIns="0" tIns="0" bIns="0" anchor="t">
            <a:spAutoFit/>
          </a:bodyPr>
          <a:lstStyle/>
          <a:p>
            <a:pPr algn="ctr">
              <a:lnSpc>
                <a:spcPct val="115000"/>
              </a:lnSpc>
            </a:pPr>
            <a:r>
              <a:rPr sz="1400" b="1" i="0">
                <a:solidFill>
                  <a:srgbClr val="FFFFFF"/>
                </a:solidFill>
                <a:latin typeface="Segoe UI"/>
              </a:rPr>
              <a:t>Engineer</a:t>
            </a:r>
          </a:p>
        </p:txBody>
      </p:sp>
      <p:sp>
        <p:nvSpPr>
          <p:cNvPr id="23" name="TextBox 22"/>
          <p:cNvSpPr txBox="1"/>
          <p:nvPr/>
        </p:nvSpPr>
        <p:spPr>
          <a:xfrm>
            <a:off x="6498183" y="2734056"/>
            <a:ext cx="1996363" cy="1371600"/>
          </a:xfrm>
          <a:prstGeom prst="rect">
            <a:avLst/>
          </a:prstGeom>
          <a:noFill/>
        </p:spPr>
        <p:txBody>
          <a:bodyPr wrap="square" lIns="0" rIns="0" tIns="0" bIns="0" anchor="t">
            <a:spAutoFit/>
          </a:bodyPr>
          <a:lstStyle/>
          <a:p>
            <a:pPr algn="l">
              <a:lnSpc>
                <a:spcPct val="135000"/>
              </a:lnSpc>
            </a:pPr>
            <a:r>
              <a:rPr sz="1100" b="0" i="0">
                <a:solidFill>
                  <a:srgbClr val="64748B"/>
                </a:solidFill>
                <a:latin typeface="Segoe UI"/>
              </a:rPr>
              <a:t>Creates and edits projects,
flowsheets, unit costs,
permits and alarm rules.</a:t>
            </a:r>
          </a:p>
        </p:txBody>
      </p:sp>
      <p:sp>
        <p:nvSpPr>
          <p:cNvPr id="24" name="Right Arrow 23"/>
          <p:cNvSpPr/>
          <p:nvPr/>
        </p:nvSpPr>
        <p:spPr>
          <a:xfrm>
            <a:off x="8759723" y="3054096"/>
            <a:ext cx="274320" cy="201168"/>
          </a:xfrm>
          <a:prstGeom prst="rightArrow">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9061475" y="2139696"/>
            <a:ext cx="2471851" cy="214884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9061475" y="2139696"/>
            <a:ext cx="2471851" cy="384048"/>
          </a:xfrm>
          <a:prstGeom prst="roundRect">
            <a:avLst>
              <a:gd name="adj" fmla="val 30000"/>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9061475" y="2359151"/>
            <a:ext cx="2471851" cy="164592"/>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061475" y="2194560"/>
            <a:ext cx="2471851" cy="274320"/>
          </a:xfrm>
          <a:prstGeom prst="rect">
            <a:avLst/>
          </a:prstGeom>
          <a:noFill/>
        </p:spPr>
        <p:txBody>
          <a:bodyPr wrap="square" lIns="0" rIns="0" tIns="0" bIns="0" anchor="t">
            <a:spAutoFit/>
          </a:bodyPr>
          <a:lstStyle/>
          <a:p>
            <a:pPr algn="ctr">
              <a:lnSpc>
                <a:spcPct val="115000"/>
              </a:lnSpc>
            </a:pPr>
            <a:r>
              <a:rPr sz="1400" b="1" i="0">
                <a:solidFill>
                  <a:srgbClr val="FFFFFF"/>
                </a:solidFill>
                <a:latin typeface="Segoe UI"/>
              </a:rPr>
              <a:t>Admin</a:t>
            </a:r>
          </a:p>
        </p:txBody>
      </p:sp>
      <p:sp>
        <p:nvSpPr>
          <p:cNvPr id="29" name="TextBox 28"/>
          <p:cNvSpPr txBox="1"/>
          <p:nvPr/>
        </p:nvSpPr>
        <p:spPr>
          <a:xfrm>
            <a:off x="9299219" y="2734056"/>
            <a:ext cx="1996363" cy="1371600"/>
          </a:xfrm>
          <a:prstGeom prst="rect">
            <a:avLst/>
          </a:prstGeom>
          <a:noFill/>
        </p:spPr>
        <p:txBody>
          <a:bodyPr wrap="square" lIns="0" rIns="0" tIns="0" bIns="0" anchor="t">
            <a:spAutoFit/>
          </a:bodyPr>
          <a:lstStyle/>
          <a:p>
            <a:pPr algn="l">
              <a:lnSpc>
                <a:spcPct val="135000"/>
              </a:lnSpc>
            </a:pPr>
            <a:r>
              <a:rPr sz="1100" b="0" i="0">
                <a:solidFill>
                  <a:srgbClr val="64748B"/>
                </a:solidFill>
                <a:latin typeface="Segoe UI"/>
              </a:rPr>
              <a:t>Full control: user management,
organisation settings and every
admin endpoint.</a:t>
            </a:r>
          </a:p>
        </p:txBody>
      </p:sp>
      <p:sp>
        <p:nvSpPr>
          <p:cNvPr id="30" name="TextBox 29"/>
          <p:cNvSpPr txBox="1"/>
          <p:nvPr/>
        </p:nvSpPr>
        <p:spPr>
          <a:xfrm>
            <a:off x="658368" y="4443983"/>
            <a:ext cx="10874959" cy="274320"/>
          </a:xfrm>
          <a:prstGeom prst="rect">
            <a:avLst/>
          </a:prstGeom>
          <a:noFill/>
        </p:spPr>
        <p:txBody>
          <a:bodyPr wrap="square" lIns="0" rIns="0" tIns="0" bIns="0" anchor="t">
            <a:spAutoFit/>
          </a:bodyPr>
          <a:lstStyle/>
          <a:p>
            <a:pPr algn="l">
              <a:lnSpc>
                <a:spcPct val="115000"/>
              </a:lnSpc>
            </a:pPr>
            <a:r>
              <a:rPr sz="1000" b="1" i="0">
                <a:solidFill>
                  <a:srgbClr val="0E7490"/>
                </a:solidFill>
                <a:latin typeface="Segoe UI"/>
              </a:rPr>
              <a:t>ISOLATION MODEL</a:t>
            </a:r>
          </a:p>
        </p:txBody>
      </p:sp>
      <p:sp>
        <p:nvSpPr>
          <p:cNvPr id="31" name="Rectangle 30"/>
          <p:cNvSpPr/>
          <p:nvPr/>
        </p:nvSpPr>
        <p:spPr>
          <a:xfrm>
            <a:off x="658368" y="4718304"/>
            <a:ext cx="10874959" cy="402336"/>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59536" y="4718304"/>
            <a:ext cx="1574423" cy="402336"/>
          </a:xfrm>
          <a:prstGeom prst="rect">
            <a:avLst/>
          </a:prstGeom>
          <a:noFill/>
        </p:spPr>
        <p:txBody>
          <a:bodyPr wrap="square" lIns="0" rIns="0" tIns="0" bIns="0" anchor="ctr">
            <a:spAutoFit/>
          </a:bodyPr>
          <a:lstStyle/>
          <a:p>
            <a:pPr algn="l">
              <a:lnSpc>
                <a:spcPct val="115000"/>
              </a:lnSpc>
            </a:pPr>
            <a:r>
              <a:rPr sz="1100" b="1" i="0">
                <a:solidFill>
                  <a:srgbClr val="062438"/>
                </a:solidFill>
                <a:latin typeface="Segoe UI"/>
              </a:rPr>
              <a:t>Organisation</a:t>
            </a:r>
          </a:p>
        </p:txBody>
      </p:sp>
      <p:sp>
        <p:nvSpPr>
          <p:cNvPr id="33" name="TextBox 32"/>
          <p:cNvSpPr txBox="1"/>
          <p:nvPr/>
        </p:nvSpPr>
        <p:spPr>
          <a:xfrm>
            <a:off x="2598551" y="4718304"/>
            <a:ext cx="8751896" cy="402336"/>
          </a:xfrm>
          <a:prstGeom prst="rect">
            <a:avLst/>
          </a:prstGeom>
          <a:noFill/>
        </p:spPr>
        <p:txBody>
          <a:bodyPr wrap="square" lIns="0" rIns="0" tIns="0" bIns="0" anchor="ctr">
            <a:spAutoFit/>
          </a:bodyPr>
          <a:lstStyle/>
          <a:p>
            <a:pPr algn="l">
              <a:lnSpc>
                <a:spcPct val="115000"/>
              </a:lnSpc>
            </a:pPr>
            <a:r>
              <a:rPr sz="1100" b="0" i="0">
                <a:solidFill>
                  <a:srgbClr val="334155"/>
                </a:solidFill>
                <a:latin typeface="Segoe UI"/>
              </a:rPr>
              <a:t>Every user, project, flowsheet, run, permit and alarm belongs to exactly one organisation.</a:t>
            </a:r>
          </a:p>
        </p:txBody>
      </p:sp>
      <p:sp>
        <p:nvSpPr>
          <p:cNvPr id="34" name="TextBox 33"/>
          <p:cNvSpPr txBox="1"/>
          <p:nvPr/>
        </p:nvSpPr>
        <p:spPr>
          <a:xfrm>
            <a:off x="859536" y="5120640"/>
            <a:ext cx="1574423" cy="402336"/>
          </a:xfrm>
          <a:prstGeom prst="rect">
            <a:avLst/>
          </a:prstGeom>
          <a:noFill/>
        </p:spPr>
        <p:txBody>
          <a:bodyPr wrap="square" lIns="0" rIns="0" tIns="0" bIns="0" anchor="ctr">
            <a:spAutoFit/>
          </a:bodyPr>
          <a:lstStyle/>
          <a:p>
            <a:pPr algn="l">
              <a:lnSpc>
                <a:spcPct val="115000"/>
              </a:lnSpc>
            </a:pPr>
            <a:r>
              <a:rPr sz="1100" b="1" i="0">
                <a:solidFill>
                  <a:srgbClr val="062438"/>
                </a:solidFill>
                <a:latin typeface="Segoe UI"/>
              </a:rPr>
              <a:t>Query scoping</a:t>
            </a:r>
          </a:p>
        </p:txBody>
      </p:sp>
      <p:sp>
        <p:nvSpPr>
          <p:cNvPr id="35" name="TextBox 34"/>
          <p:cNvSpPr txBox="1"/>
          <p:nvPr/>
        </p:nvSpPr>
        <p:spPr>
          <a:xfrm>
            <a:off x="2598551" y="5120640"/>
            <a:ext cx="8751896" cy="402336"/>
          </a:xfrm>
          <a:prstGeom prst="rect">
            <a:avLst/>
          </a:prstGeom>
          <a:noFill/>
        </p:spPr>
        <p:txBody>
          <a:bodyPr wrap="square" lIns="0" rIns="0" tIns="0" bIns="0" anchor="ctr">
            <a:spAutoFit/>
          </a:bodyPr>
          <a:lstStyle/>
          <a:p>
            <a:pPr algn="l">
              <a:lnSpc>
                <a:spcPct val="115000"/>
              </a:lnSpc>
            </a:pPr>
            <a:r>
              <a:rPr sz="1100" b="0" i="0">
                <a:solidFill>
                  <a:srgbClr val="334155"/>
                </a:solidFill>
                <a:latin typeface="Segoe UI"/>
              </a:rPr>
              <a:t>Every database read is filtered by the organisation id carried in the JWT — cross-tenant access is not expressible.</a:t>
            </a:r>
          </a:p>
        </p:txBody>
      </p:sp>
      <p:sp>
        <p:nvSpPr>
          <p:cNvPr id="36" name="Rectangle 35"/>
          <p:cNvSpPr/>
          <p:nvPr/>
        </p:nvSpPr>
        <p:spPr>
          <a:xfrm>
            <a:off x="658368" y="5522976"/>
            <a:ext cx="10874959" cy="402336"/>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59536" y="5522976"/>
            <a:ext cx="1574423" cy="402336"/>
          </a:xfrm>
          <a:prstGeom prst="rect">
            <a:avLst/>
          </a:prstGeom>
          <a:noFill/>
        </p:spPr>
        <p:txBody>
          <a:bodyPr wrap="square" lIns="0" rIns="0" tIns="0" bIns="0" anchor="ctr">
            <a:spAutoFit/>
          </a:bodyPr>
          <a:lstStyle/>
          <a:p>
            <a:pPr algn="l">
              <a:lnSpc>
                <a:spcPct val="115000"/>
              </a:lnSpc>
            </a:pPr>
            <a:r>
              <a:rPr sz="1100" b="1" i="0">
                <a:solidFill>
                  <a:srgbClr val="062438"/>
                </a:solidFill>
                <a:latin typeface="Segoe UI"/>
              </a:rPr>
              <a:t>Audit trail</a:t>
            </a:r>
          </a:p>
        </p:txBody>
      </p:sp>
      <p:sp>
        <p:nvSpPr>
          <p:cNvPr id="38" name="TextBox 37"/>
          <p:cNvSpPr txBox="1"/>
          <p:nvPr/>
        </p:nvSpPr>
        <p:spPr>
          <a:xfrm>
            <a:off x="2598551" y="5522976"/>
            <a:ext cx="8751896" cy="402336"/>
          </a:xfrm>
          <a:prstGeom prst="rect">
            <a:avLst/>
          </a:prstGeom>
          <a:noFill/>
        </p:spPr>
        <p:txBody>
          <a:bodyPr wrap="square" lIns="0" rIns="0" tIns="0" bIns="0" anchor="ctr">
            <a:spAutoFit/>
          </a:bodyPr>
          <a:lstStyle/>
          <a:p>
            <a:pPr algn="l">
              <a:lnSpc>
                <a:spcPct val="115000"/>
              </a:lnSpc>
            </a:pPr>
            <a:r>
              <a:rPr sz="1100" b="0" i="0">
                <a:solidFill>
                  <a:srgbClr val="334155"/>
                </a:solidFill>
                <a:latin typeface="Segoe UI"/>
              </a:rPr>
              <a:t>Privileged actions are written to an audit_logs table with actor, action and target.</a:t>
            </a:r>
          </a:p>
        </p:txBody>
      </p:sp>
      <p:sp>
        <p:nvSpPr>
          <p:cNvPr id="39" name="TextBox 38"/>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0" name="TextBox 39"/>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Introduction</a:t>
            </a:r>
          </a:p>
        </p:txBody>
      </p:sp>
      <p:sp>
        <p:nvSpPr>
          <p:cNvPr id="41" name="TextBox 40"/>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2438"/>
        </a:solidFill>
        <a:effectLst/>
      </p:bgPr>
    </p:bg>
    <p:spTree>
      <p:nvGrpSpPr>
        <p:cNvPr id="1" name=""/>
        <p:cNvGrpSpPr/>
        <p:nvPr/>
      </p:nvGrpSpPr>
      <p:grpSpPr/>
      <p:sp>
        <p:nvSpPr>
          <p:cNvPr id="2" name="Rectangle 1"/>
          <p:cNvSpPr/>
          <p:nvPr/>
        </p:nvSpPr>
        <p:spPr>
          <a:xfrm>
            <a:off x="-457200" y="5532120"/>
            <a:ext cx="13106095" cy="502920"/>
          </a:xfrm>
          <a:prstGeom prst="rect">
            <a:avLst/>
          </a:prstGeom>
          <a:solidFill>
            <a:srgbClr val="0B3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457200" y="5989320"/>
            <a:ext cx="13106095" cy="457200"/>
          </a:xfrm>
          <a:prstGeom prst="rect">
            <a:avLst/>
          </a:prstGeom>
          <a:solidFill>
            <a:srgbClr val="0E50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457200" y="6382512"/>
            <a:ext cx="13106095" cy="502920"/>
          </a:xfrm>
          <a:prstGeom prst="rect">
            <a:avLst/>
          </a:prstGeom>
          <a:solidFill>
            <a:srgbClr val="12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874519"/>
            <a:ext cx="822960" cy="6858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2176272"/>
            <a:ext cx="10874959" cy="457200"/>
          </a:xfrm>
          <a:prstGeom prst="rect">
            <a:avLst/>
          </a:prstGeom>
          <a:noFill/>
        </p:spPr>
        <p:txBody>
          <a:bodyPr wrap="square" lIns="0" rIns="0" tIns="0" bIns="0" anchor="t">
            <a:spAutoFit/>
          </a:bodyPr>
          <a:lstStyle/>
          <a:p>
            <a:pPr algn="l">
              <a:lnSpc>
                <a:spcPct val="115000"/>
              </a:lnSpc>
            </a:pPr>
            <a:r>
              <a:rPr sz="1200" b="1" i="0">
                <a:solidFill>
                  <a:srgbClr val="22B8D4"/>
                </a:solidFill>
                <a:latin typeface="Segoe UI"/>
              </a:rPr>
              <a:t>PART 02</a:t>
            </a:r>
          </a:p>
        </p:txBody>
      </p:sp>
      <p:sp>
        <p:nvSpPr>
          <p:cNvPr id="7" name="TextBox 6"/>
          <p:cNvSpPr txBox="1"/>
          <p:nvPr/>
        </p:nvSpPr>
        <p:spPr>
          <a:xfrm>
            <a:off x="658368" y="2560320"/>
            <a:ext cx="8156219" cy="914400"/>
          </a:xfrm>
          <a:prstGeom prst="rect">
            <a:avLst/>
          </a:prstGeom>
          <a:noFill/>
        </p:spPr>
        <p:txBody>
          <a:bodyPr wrap="square" lIns="0" rIns="0" tIns="0" bIns="0" anchor="t">
            <a:spAutoFit/>
          </a:bodyPr>
          <a:lstStyle/>
          <a:p>
            <a:pPr algn="l">
              <a:lnSpc>
                <a:spcPct val="115000"/>
              </a:lnSpc>
            </a:pPr>
            <a:r>
              <a:rPr sz="4200" b="1" i="0">
                <a:solidFill>
                  <a:srgbClr val="FFFFFF"/>
                </a:solidFill>
                <a:latin typeface="Segoe UI Light"/>
              </a:rPr>
              <a:t>Architecture</a:t>
            </a:r>
          </a:p>
        </p:txBody>
      </p:sp>
      <p:sp>
        <p:nvSpPr>
          <p:cNvPr id="8" name="TextBox 7"/>
          <p:cNvSpPr txBox="1"/>
          <p:nvPr/>
        </p:nvSpPr>
        <p:spPr>
          <a:xfrm>
            <a:off x="658368" y="3566160"/>
            <a:ext cx="6742474" cy="731520"/>
          </a:xfrm>
          <a:prstGeom prst="rect">
            <a:avLst/>
          </a:prstGeom>
          <a:noFill/>
        </p:spPr>
        <p:txBody>
          <a:bodyPr wrap="square" lIns="0" rIns="0" tIns="0" bIns="0" anchor="t">
            <a:spAutoFit/>
          </a:bodyPr>
          <a:lstStyle/>
          <a:p>
            <a:pPr algn="l">
              <a:lnSpc>
                <a:spcPct val="135000"/>
              </a:lnSpc>
            </a:pPr>
            <a:r>
              <a:rPr sz="1400" b="0" i="0">
                <a:solidFill>
                  <a:srgbClr val="A9C8D8"/>
                </a:solidFill>
                <a:latin typeface="Segoe UI"/>
              </a:rPr>
              <a:t>How the system is put together — the layers, the stack and the data it keeps.</a:t>
            </a:r>
          </a:p>
        </p:txBody>
      </p:sp>
      <p:sp>
        <p:nvSpPr>
          <p:cNvPr id="9" name="Rounded Rectangle 8"/>
          <p:cNvSpPr/>
          <p:nvPr/>
        </p:nvSpPr>
        <p:spPr>
          <a:xfrm>
            <a:off x="7692847" y="2304287"/>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System layers</a:t>
            </a:r>
          </a:p>
        </p:txBody>
      </p:sp>
      <p:sp>
        <p:nvSpPr>
          <p:cNvPr id="10" name="Rounded Rectangle 9"/>
          <p:cNvSpPr/>
          <p:nvPr/>
        </p:nvSpPr>
        <p:spPr>
          <a:xfrm>
            <a:off x="7692847" y="2779775"/>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Technology stack</a:t>
            </a:r>
          </a:p>
        </p:txBody>
      </p:sp>
      <p:sp>
        <p:nvSpPr>
          <p:cNvPr id="11" name="Rounded Rectangle 10"/>
          <p:cNvSpPr/>
          <p:nvPr/>
        </p:nvSpPr>
        <p:spPr>
          <a:xfrm>
            <a:off x="7692847" y="3255263"/>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Data model</a:t>
            </a:r>
          </a:p>
        </p:txBody>
      </p:sp>
      <p:sp>
        <p:nvSpPr>
          <p:cNvPr id="12" name="TextBox 11"/>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13" name="TextBox 12"/>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
            </a:r>
          </a:p>
        </p:txBody>
      </p:sp>
      <p:sp>
        <p:nvSpPr>
          <p:cNvPr id="14" name="TextBox 13"/>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ARCHITECTURE</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The system in four layers</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A React single-page app, an Express API, a PostgreSQL store, and two side channels for heavy work and live data.</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10874959" cy="86868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50292" cy="8686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7824" y="2167127"/>
            <a:ext cx="1920240" cy="274320"/>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Browser</a:t>
            </a:r>
          </a:p>
        </p:txBody>
      </p:sp>
      <p:sp>
        <p:nvSpPr>
          <p:cNvPr id="10" name="TextBox 9"/>
          <p:cNvSpPr txBox="1"/>
          <p:nvPr/>
        </p:nvSpPr>
        <p:spPr>
          <a:xfrm>
            <a:off x="877824" y="2423160"/>
            <a:ext cx="1920240" cy="457200"/>
          </a:xfrm>
          <a:prstGeom prst="rect">
            <a:avLst/>
          </a:prstGeom>
          <a:noFill/>
        </p:spPr>
        <p:txBody>
          <a:bodyPr wrap="square" lIns="0" rIns="0" tIns="0" bIns="0" anchor="t">
            <a:spAutoFit/>
          </a:bodyPr>
          <a:lstStyle/>
          <a:p>
            <a:pPr algn="l">
              <a:lnSpc>
                <a:spcPct val="118000"/>
              </a:lnSpc>
            </a:pPr>
            <a:r>
              <a:rPr sz="900" b="0" i="0">
                <a:solidFill>
                  <a:srgbClr val="64748B"/>
                </a:solidFill>
                <a:latin typeface="Segoe UI"/>
              </a:rPr>
              <a:t>React 18 SPA,
code-split per route</a:t>
            </a:r>
          </a:p>
        </p:txBody>
      </p:sp>
      <p:sp>
        <p:nvSpPr>
          <p:cNvPr id="11" name="Rounded Rectangle 10"/>
          <p:cNvSpPr/>
          <p:nvPr/>
        </p:nvSpPr>
        <p:spPr>
          <a:xfrm>
            <a:off x="2871215" y="2176272"/>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Canvas
(React Flow)</a:t>
            </a:r>
          </a:p>
        </p:txBody>
      </p:sp>
      <p:sp>
        <p:nvSpPr>
          <p:cNvPr id="12" name="Rounded Rectangle 11"/>
          <p:cNvSpPr/>
          <p:nvPr/>
        </p:nvSpPr>
        <p:spPr>
          <a:xfrm>
            <a:off x="4592665" y="2176272"/>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Dashboard &amp;
Projects</a:t>
            </a:r>
          </a:p>
        </p:txBody>
      </p:sp>
      <p:sp>
        <p:nvSpPr>
          <p:cNvPr id="13" name="Rounded Rectangle 12"/>
          <p:cNvSpPr/>
          <p:nvPr/>
        </p:nvSpPr>
        <p:spPr>
          <a:xfrm>
            <a:off x="6314114" y="2176272"/>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Reports &amp;
Comparison</a:t>
            </a:r>
          </a:p>
        </p:txBody>
      </p:sp>
      <p:sp>
        <p:nvSpPr>
          <p:cNvPr id="14" name="Rounded Rectangle 13"/>
          <p:cNvSpPr/>
          <p:nvPr/>
        </p:nvSpPr>
        <p:spPr>
          <a:xfrm>
            <a:off x="8035564" y="2176272"/>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Alarms &amp;
Admin</a:t>
            </a:r>
          </a:p>
        </p:txBody>
      </p:sp>
      <p:sp>
        <p:nvSpPr>
          <p:cNvPr id="15" name="Rounded Rectangle 14"/>
          <p:cNvSpPr/>
          <p:nvPr/>
        </p:nvSpPr>
        <p:spPr>
          <a:xfrm>
            <a:off x="9757013" y="2176272"/>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Live charts
(Recharts)</a:t>
            </a:r>
          </a:p>
        </p:txBody>
      </p:sp>
      <p:sp>
        <p:nvSpPr>
          <p:cNvPr id="16" name="Down Arrow 15"/>
          <p:cNvSpPr/>
          <p:nvPr/>
        </p:nvSpPr>
        <p:spPr>
          <a:xfrm>
            <a:off x="5949543" y="2944367"/>
            <a:ext cx="292608" cy="182880"/>
          </a:xfrm>
          <a:prstGeom prst="down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351879" y="2926079"/>
            <a:ext cx="4023360" cy="274320"/>
          </a:xfrm>
          <a:prstGeom prst="rect">
            <a:avLst/>
          </a:prstGeom>
          <a:noFill/>
        </p:spPr>
        <p:txBody>
          <a:bodyPr wrap="square" lIns="0" rIns="0" tIns="0" bIns="0" anchor="t">
            <a:spAutoFit/>
          </a:bodyPr>
          <a:lstStyle/>
          <a:p>
            <a:pPr algn="l">
              <a:lnSpc>
                <a:spcPct val="115000"/>
              </a:lnSpc>
            </a:pPr>
            <a:r>
              <a:rPr sz="950" b="0" i="0">
                <a:solidFill>
                  <a:srgbClr val="64748B"/>
                </a:solidFill>
                <a:latin typeface="Segoe UI"/>
              </a:rPr>
              <a:t>HTTPS  /api/v1  ·  JWT bearer  ·  WebSocket</a:t>
            </a:r>
          </a:p>
        </p:txBody>
      </p:sp>
      <p:sp>
        <p:nvSpPr>
          <p:cNvPr id="18" name="Rounded Rectangle 17"/>
          <p:cNvSpPr/>
          <p:nvPr/>
        </p:nvSpPr>
        <p:spPr>
          <a:xfrm>
            <a:off x="658368" y="3154679"/>
            <a:ext cx="10874959" cy="86868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3154679"/>
            <a:ext cx="50292" cy="868680"/>
          </a:xfrm>
          <a:prstGeom prst="rect">
            <a:avLst/>
          </a:prstGeom>
          <a:solidFill>
            <a:srgbClr val="0B3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77824" y="3273551"/>
            <a:ext cx="1920240" cy="274320"/>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API</a:t>
            </a:r>
          </a:p>
        </p:txBody>
      </p:sp>
      <p:sp>
        <p:nvSpPr>
          <p:cNvPr id="21" name="TextBox 20"/>
          <p:cNvSpPr txBox="1"/>
          <p:nvPr/>
        </p:nvSpPr>
        <p:spPr>
          <a:xfrm>
            <a:off x="877824" y="3529584"/>
            <a:ext cx="1920240" cy="457200"/>
          </a:xfrm>
          <a:prstGeom prst="rect">
            <a:avLst/>
          </a:prstGeom>
          <a:noFill/>
        </p:spPr>
        <p:txBody>
          <a:bodyPr wrap="square" lIns="0" rIns="0" tIns="0" bIns="0" anchor="t">
            <a:spAutoFit/>
          </a:bodyPr>
          <a:lstStyle/>
          <a:p>
            <a:pPr algn="l">
              <a:lnSpc>
                <a:spcPct val="118000"/>
              </a:lnSpc>
            </a:pPr>
            <a:r>
              <a:rPr sz="900" b="0" i="0">
                <a:solidFill>
                  <a:srgbClr val="64748B"/>
                </a:solidFill>
                <a:latin typeface="Segoe UI"/>
              </a:rPr>
              <a:t>Express, 12 routers,
73 endpoints</a:t>
            </a:r>
          </a:p>
        </p:txBody>
      </p:sp>
      <p:sp>
        <p:nvSpPr>
          <p:cNvPr id="22" name="Rounded Rectangle 21"/>
          <p:cNvSpPr/>
          <p:nvPr/>
        </p:nvSpPr>
        <p:spPr>
          <a:xfrm>
            <a:off x="2871215" y="3282696"/>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Auth &amp;
RBAC</a:t>
            </a:r>
          </a:p>
        </p:txBody>
      </p:sp>
      <p:sp>
        <p:nvSpPr>
          <p:cNvPr id="23" name="Rounded Rectangle 22"/>
          <p:cNvSpPr/>
          <p:nvPr/>
        </p:nvSpPr>
        <p:spPr>
          <a:xfrm>
            <a:off x="4592665" y="3282696"/>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Projects &amp;
Flowsheets</a:t>
            </a:r>
          </a:p>
        </p:txBody>
      </p:sp>
      <p:sp>
        <p:nvSpPr>
          <p:cNvPr id="24" name="Rounded Rectangle 23"/>
          <p:cNvSpPr/>
          <p:nvPr/>
        </p:nvSpPr>
        <p:spPr>
          <a:xfrm>
            <a:off x="6314114" y="3282696"/>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Simulate &amp;
Reports</a:t>
            </a:r>
          </a:p>
        </p:txBody>
      </p:sp>
      <p:sp>
        <p:nvSpPr>
          <p:cNvPr id="25" name="Rounded Rectangle 24"/>
          <p:cNvSpPr/>
          <p:nvPr/>
        </p:nvSpPr>
        <p:spPr>
          <a:xfrm>
            <a:off x="8035564" y="3282696"/>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PLC &amp;
Alarms</a:t>
            </a:r>
          </a:p>
        </p:txBody>
      </p:sp>
      <p:sp>
        <p:nvSpPr>
          <p:cNvPr id="26" name="Rounded Rectangle 25"/>
          <p:cNvSpPr/>
          <p:nvPr/>
        </p:nvSpPr>
        <p:spPr>
          <a:xfrm>
            <a:off x="9757013" y="3282696"/>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Admin &amp;
Permits</a:t>
            </a:r>
          </a:p>
        </p:txBody>
      </p:sp>
      <p:sp>
        <p:nvSpPr>
          <p:cNvPr id="27" name="Down Arrow 26"/>
          <p:cNvSpPr/>
          <p:nvPr/>
        </p:nvSpPr>
        <p:spPr>
          <a:xfrm>
            <a:off x="5949543" y="4050791"/>
            <a:ext cx="292608" cy="182880"/>
          </a:xfrm>
          <a:prstGeom prst="down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58368" y="4261104"/>
            <a:ext cx="10874959" cy="86868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4261104"/>
            <a:ext cx="50292" cy="868680"/>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77824" y="4379976"/>
            <a:ext cx="1920240" cy="274320"/>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Engines</a:t>
            </a:r>
          </a:p>
        </p:txBody>
      </p:sp>
      <p:sp>
        <p:nvSpPr>
          <p:cNvPr id="31" name="TextBox 30"/>
          <p:cNvSpPr txBox="1"/>
          <p:nvPr/>
        </p:nvSpPr>
        <p:spPr>
          <a:xfrm>
            <a:off x="877824" y="4636008"/>
            <a:ext cx="1920240" cy="457200"/>
          </a:xfrm>
          <a:prstGeom prst="rect">
            <a:avLst/>
          </a:prstGeom>
          <a:noFill/>
        </p:spPr>
        <p:txBody>
          <a:bodyPr wrap="square" lIns="0" rIns="0" tIns="0" bIns="0" anchor="t">
            <a:spAutoFit/>
          </a:bodyPr>
          <a:lstStyle/>
          <a:p>
            <a:pPr algn="l">
              <a:lnSpc>
                <a:spcPct val="118000"/>
              </a:lnSpc>
            </a:pPr>
            <a:r>
              <a:rPr sz="900" b="0" i="0">
                <a:solidFill>
                  <a:srgbClr val="64748B"/>
                </a:solidFill>
                <a:latin typeface="Segoe UI"/>
              </a:rPr>
              <a:t>Off the request path
for heavy work</a:t>
            </a:r>
          </a:p>
        </p:txBody>
      </p:sp>
      <p:sp>
        <p:nvSpPr>
          <p:cNvPr id="32" name="Rounded Rectangle 31"/>
          <p:cNvSpPr/>
          <p:nvPr/>
        </p:nvSpPr>
        <p:spPr>
          <a:xfrm>
            <a:off x="2871215" y="4389120"/>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Worker threads
(solver)</a:t>
            </a:r>
          </a:p>
        </p:txBody>
      </p:sp>
      <p:sp>
        <p:nvSpPr>
          <p:cNvPr id="33" name="Rounded Rectangle 32"/>
          <p:cNvSpPr/>
          <p:nvPr/>
        </p:nvSpPr>
        <p:spPr>
          <a:xfrm>
            <a:off x="4592665" y="4389120"/>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Cost estimator
(CAPEX/OPEX)</a:t>
            </a:r>
          </a:p>
        </p:txBody>
      </p:sp>
      <p:sp>
        <p:nvSpPr>
          <p:cNvPr id="34" name="Rounded Rectangle 33"/>
          <p:cNvSpPr/>
          <p:nvPr/>
        </p:nvSpPr>
        <p:spPr>
          <a:xfrm>
            <a:off x="6314114" y="4389120"/>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Python reports
(PDF/Excel)</a:t>
            </a:r>
          </a:p>
        </p:txBody>
      </p:sp>
      <p:sp>
        <p:nvSpPr>
          <p:cNvPr id="35" name="Rounded Rectangle 34"/>
          <p:cNvSpPr/>
          <p:nvPr/>
        </p:nvSpPr>
        <p:spPr>
          <a:xfrm>
            <a:off x="8035564" y="4389120"/>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PLC poller
(500 ms tick)</a:t>
            </a:r>
          </a:p>
        </p:txBody>
      </p:sp>
      <p:sp>
        <p:nvSpPr>
          <p:cNvPr id="36" name="Rounded Rectangle 35"/>
          <p:cNvSpPr/>
          <p:nvPr/>
        </p:nvSpPr>
        <p:spPr>
          <a:xfrm>
            <a:off x="9757013" y="4389120"/>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Alarm evaluator
(state machine)</a:t>
            </a:r>
          </a:p>
        </p:txBody>
      </p:sp>
      <p:sp>
        <p:nvSpPr>
          <p:cNvPr id="37" name="Down Arrow 36"/>
          <p:cNvSpPr/>
          <p:nvPr/>
        </p:nvSpPr>
        <p:spPr>
          <a:xfrm>
            <a:off x="5949543" y="5157216"/>
            <a:ext cx="292608" cy="182880"/>
          </a:xfrm>
          <a:prstGeom prst="down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658368" y="5367527"/>
            <a:ext cx="10874959" cy="86868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58368" y="5367527"/>
            <a:ext cx="50292" cy="868680"/>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77824" y="5486399"/>
            <a:ext cx="1920240" cy="274320"/>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Data</a:t>
            </a:r>
          </a:p>
        </p:txBody>
      </p:sp>
      <p:sp>
        <p:nvSpPr>
          <p:cNvPr id="41" name="TextBox 40"/>
          <p:cNvSpPr txBox="1"/>
          <p:nvPr/>
        </p:nvSpPr>
        <p:spPr>
          <a:xfrm>
            <a:off x="877824" y="5742431"/>
            <a:ext cx="1920240" cy="457200"/>
          </a:xfrm>
          <a:prstGeom prst="rect">
            <a:avLst/>
          </a:prstGeom>
          <a:noFill/>
        </p:spPr>
        <p:txBody>
          <a:bodyPr wrap="square" lIns="0" rIns="0" tIns="0" bIns="0" anchor="t">
            <a:spAutoFit/>
          </a:bodyPr>
          <a:lstStyle/>
          <a:p>
            <a:pPr algn="l">
              <a:lnSpc>
                <a:spcPct val="118000"/>
              </a:lnSpc>
            </a:pPr>
            <a:r>
              <a:rPr sz="900" b="0" i="0">
                <a:solidFill>
                  <a:srgbClr val="64748B"/>
                </a:solidFill>
                <a:latin typeface="Segoe UI"/>
              </a:rPr>
              <a:t>PostgreSQL 14+,
8 versioned migrations</a:t>
            </a:r>
          </a:p>
        </p:txBody>
      </p:sp>
      <p:sp>
        <p:nvSpPr>
          <p:cNvPr id="42" name="Rounded Rectangle 41"/>
          <p:cNvSpPr/>
          <p:nvPr/>
        </p:nvSpPr>
        <p:spPr>
          <a:xfrm>
            <a:off x="2871215" y="5495543"/>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Organisations
&amp; users</a:t>
            </a:r>
          </a:p>
        </p:txBody>
      </p:sp>
      <p:sp>
        <p:nvSpPr>
          <p:cNvPr id="43" name="Rounded Rectangle 42"/>
          <p:cNvSpPr/>
          <p:nvPr/>
        </p:nvSpPr>
        <p:spPr>
          <a:xfrm>
            <a:off x="4592665" y="5495543"/>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Projects &amp;
flowsheets</a:t>
            </a:r>
          </a:p>
        </p:txBody>
      </p:sp>
      <p:sp>
        <p:nvSpPr>
          <p:cNvPr id="44" name="Rounded Rectangle 43"/>
          <p:cNvSpPr/>
          <p:nvPr/>
        </p:nvSpPr>
        <p:spPr>
          <a:xfrm>
            <a:off x="6314114" y="5495543"/>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Simulation runs
&amp; saved reports</a:t>
            </a:r>
          </a:p>
        </p:txBody>
      </p:sp>
      <p:sp>
        <p:nvSpPr>
          <p:cNvPr id="45" name="Rounded Rectangle 44"/>
          <p:cNvSpPr/>
          <p:nvPr/>
        </p:nvSpPr>
        <p:spPr>
          <a:xfrm>
            <a:off x="8035564" y="5495543"/>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PLC connections
&amp; bindings</a:t>
            </a:r>
          </a:p>
        </p:txBody>
      </p:sp>
      <p:sp>
        <p:nvSpPr>
          <p:cNvPr id="46" name="Rounded Rectangle 45"/>
          <p:cNvSpPr/>
          <p:nvPr/>
        </p:nvSpPr>
        <p:spPr>
          <a:xfrm>
            <a:off x="9757013" y="5495543"/>
            <a:ext cx="1593433" cy="612647"/>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00" b="1">
                <a:solidFill>
                  <a:srgbClr val="0E7490"/>
                </a:solidFill>
                <a:latin typeface="Segoe UI"/>
              </a:rPr>
              <a:t>Alarm rules,
events, audit</a:t>
            </a:r>
          </a:p>
        </p:txBody>
      </p:sp>
      <p:sp>
        <p:nvSpPr>
          <p:cNvPr id="47" name="TextBox 46"/>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8" name="TextBox 47"/>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Architecture</a:t>
            </a:r>
          </a:p>
        </p:txBody>
      </p:sp>
      <p:sp>
        <p:nvSpPr>
          <p:cNvPr id="49" name="TextBox 48"/>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ARCHITECTURE</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Technology stack</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A single npm-workspaces monorepo: one lockfile, two workspaces, one deployment pipeline.</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048255"/>
            <a:ext cx="5272887"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CLIENT</a:t>
            </a:r>
          </a:p>
        </p:txBody>
      </p:sp>
      <p:sp>
        <p:nvSpPr>
          <p:cNvPr id="8" name="Rectangle 7"/>
          <p:cNvSpPr/>
          <p:nvPr/>
        </p:nvSpPr>
        <p:spPr>
          <a:xfrm>
            <a:off x="658368" y="2359151"/>
            <a:ext cx="5272887" cy="56692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59536" y="2359151"/>
            <a:ext cx="1307546" cy="56692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Frontend</a:t>
            </a:r>
          </a:p>
        </p:txBody>
      </p:sp>
      <p:sp>
        <p:nvSpPr>
          <p:cNvPr id="10" name="TextBox 9"/>
          <p:cNvSpPr txBox="1"/>
          <p:nvPr/>
        </p:nvSpPr>
        <p:spPr>
          <a:xfrm>
            <a:off x="2331674" y="2359151"/>
            <a:ext cx="3416701" cy="56692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React 18, Vite 5, Tailwind CSS, React Router 6</a:t>
            </a:r>
          </a:p>
        </p:txBody>
      </p:sp>
      <p:sp>
        <p:nvSpPr>
          <p:cNvPr id="11" name="TextBox 10"/>
          <p:cNvSpPr txBox="1"/>
          <p:nvPr/>
        </p:nvSpPr>
        <p:spPr>
          <a:xfrm>
            <a:off x="859536" y="2926079"/>
            <a:ext cx="1307546" cy="56692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State &amp; data</a:t>
            </a:r>
          </a:p>
        </p:txBody>
      </p:sp>
      <p:sp>
        <p:nvSpPr>
          <p:cNvPr id="12" name="TextBox 11"/>
          <p:cNvSpPr txBox="1"/>
          <p:nvPr/>
        </p:nvSpPr>
        <p:spPr>
          <a:xfrm>
            <a:off x="2331674" y="2926079"/>
            <a:ext cx="3416701" cy="56692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TanStack Query (server state), Zustand (live canvas store)</a:t>
            </a:r>
          </a:p>
        </p:txBody>
      </p:sp>
      <p:sp>
        <p:nvSpPr>
          <p:cNvPr id="13" name="Rectangle 12"/>
          <p:cNvSpPr/>
          <p:nvPr/>
        </p:nvSpPr>
        <p:spPr>
          <a:xfrm>
            <a:off x="658368" y="3493008"/>
            <a:ext cx="5272887" cy="56692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59536" y="3493008"/>
            <a:ext cx="1307546" cy="56692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Canvas</a:t>
            </a:r>
          </a:p>
        </p:txBody>
      </p:sp>
      <p:sp>
        <p:nvSpPr>
          <p:cNvPr id="15" name="TextBox 14"/>
          <p:cNvSpPr txBox="1"/>
          <p:nvPr/>
        </p:nvSpPr>
        <p:spPr>
          <a:xfrm>
            <a:off x="2331674" y="3493008"/>
            <a:ext cx="3416701" cy="56692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React Flow 11 — nodes, edges, custom symbols and stream edges</a:t>
            </a:r>
          </a:p>
        </p:txBody>
      </p:sp>
      <p:sp>
        <p:nvSpPr>
          <p:cNvPr id="16" name="TextBox 15"/>
          <p:cNvSpPr txBox="1"/>
          <p:nvPr/>
        </p:nvSpPr>
        <p:spPr>
          <a:xfrm>
            <a:off x="859536" y="4059935"/>
            <a:ext cx="1307546" cy="56692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Charts</a:t>
            </a:r>
          </a:p>
        </p:txBody>
      </p:sp>
      <p:sp>
        <p:nvSpPr>
          <p:cNvPr id="17" name="TextBox 16"/>
          <p:cNvSpPr txBox="1"/>
          <p:nvPr/>
        </p:nvSpPr>
        <p:spPr>
          <a:xfrm>
            <a:off x="2331674" y="4059935"/>
            <a:ext cx="3416701" cy="56692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Recharts — live dock, dynamic-run time series, comparisons</a:t>
            </a:r>
          </a:p>
        </p:txBody>
      </p:sp>
      <p:sp>
        <p:nvSpPr>
          <p:cNvPr id="18" name="Rectangle 17"/>
          <p:cNvSpPr/>
          <p:nvPr/>
        </p:nvSpPr>
        <p:spPr>
          <a:xfrm>
            <a:off x="658368" y="4626864"/>
            <a:ext cx="5272887" cy="56692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59536" y="4626864"/>
            <a:ext cx="1307546" cy="56692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Icons &amp; a11y</a:t>
            </a:r>
          </a:p>
        </p:txBody>
      </p:sp>
      <p:sp>
        <p:nvSpPr>
          <p:cNvPr id="20" name="TextBox 19"/>
          <p:cNvSpPr txBox="1"/>
          <p:nvPr/>
        </p:nvSpPr>
        <p:spPr>
          <a:xfrm>
            <a:off x="2331674" y="4626864"/>
            <a:ext cx="3416701" cy="56692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lucide-react, ARIA live regions, skip links, focus traps</a:t>
            </a:r>
          </a:p>
        </p:txBody>
      </p:sp>
      <p:sp>
        <p:nvSpPr>
          <p:cNvPr id="21" name="TextBox 20"/>
          <p:cNvSpPr txBox="1"/>
          <p:nvPr/>
        </p:nvSpPr>
        <p:spPr>
          <a:xfrm>
            <a:off x="6260439" y="2048255"/>
            <a:ext cx="5272887"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SERVER</a:t>
            </a:r>
          </a:p>
        </p:txBody>
      </p:sp>
      <p:sp>
        <p:nvSpPr>
          <p:cNvPr id="22" name="Rectangle 21"/>
          <p:cNvSpPr/>
          <p:nvPr/>
        </p:nvSpPr>
        <p:spPr>
          <a:xfrm>
            <a:off x="6260439" y="2359151"/>
            <a:ext cx="5272887" cy="56692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61607" y="2359151"/>
            <a:ext cx="1307546" cy="56692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Backend</a:t>
            </a:r>
          </a:p>
        </p:txBody>
      </p:sp>
      <p:sp>
        <p:nvSpPr>
          <p:cNvPr id="24" name="TextBox 23"/>
          <p:cNvSpPr txBox="1"/>
          <p:nvPr/>
        </p:nvSpPr>
        <p:spPr>
          <a:xfrm>
            <a:off x="7933745" y="2359151"/>
            <a:ext cx="3416701" cy="56692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Node.js 18+, Express 4, worker_threads for the solver</a:t>
            </a:r>
          </a:p>
        </p:txBody>
      </p:sp>
      <p:sp>
        <p:nvSpPr>
          <p:cNvPr id="25" name="TextBox 24"/>
          <p:cNvSpPr txBox="1"/>
          <p:nvPr/>
        </p:nvSpPr>
        <p:spPr>
          <a:xfrm>
            <a:off x="6461607" y="2926079"/>
            <a:ext cx="1307546" cy="56692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Database</a:t>
            </a:r>
          </a:p>
        </p:txBody>
      </p:sp>
      <p:sp>
        <p:nvSpPr>
          <p:cNvPr id="26" name="TextBox 25"/>
          <p:cNvSpPr txBox="1"/>
          <p:nvPr/>
        </p:nvSpPr>
        <p:spPr>
          <a:xfrm>
            <a:off x="7933745" y="2926079"/>
            <a:ext cx="3416701" cy="56692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PostgreSQL 14+ via pg, versioned JS migrations</a:t>
            </a:r>
          </a:p>
        </p:txBody>
      </p:sp>
      <p:sp>
        <p:nvSpPr>
          <p:cNvPr id="27" name="Rectangle 26"/>
          <p:cNvSpPr/>
          <p:nvPr/>
        </p:nvSpPr>
        <p:spPr>
          <a:xfrm>
            <a:off x="6260439" y="3493008"/>
            <a:ext cx="5272887" cy="56692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61607" y="3493008"/>
            <a:ext cx="1307546" cy="56692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Realtime</a:t>
            </a:r>
          </a:p>
        </p:txBody>
      </p:sp>
      <p:sp>
        <p:nvSpPr>
          <p:cNvPr id="29" name="TextBox 28"/>
          <p:cNvSpPr txBox="1"/>
          <p:nvPr/>
        </p:nvSpPr>
        <p:spPr>
          <a:xfrm>
            <a:off x="7933745" y="3493008"/>
            <a:ext cx="3416701" cy="56692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ws — WebSocket rooms keyed by flowsheet</a:t>
            </a:r>
          </a:p>
        </p:txBody>
      </p:sp>
      <p:sp>
        <p:nvSpPr>
          <p:cNvPr id="30" name="TextBox 29"/>
          <p:cNvSpPr txBox="1"/>
          <p:nvPr/>
        </p:nvSpPr>
        <p:spPr>
          <a:xfrm>
            <a:off x="6461607" y="4059935"/>
            <a:ext cx="1307546" cy="56692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Security</a:t>
            </a:r>
          </a:p>
        </p:txBody>
      </p:sp>
      <p:sp>
        <p:nvSpPr>
          <p:cNvPr id="31" name="TextBox 30"/>
          <p:cNvSpPr txBox="1"/>
          <p:nvPr/>
        </p:nvSpPr>
        <p:spPr>
          <a:xfrm>
            <a:off x="7933745" y="4059935"/>
            <a:ext cx="3416701" cy="56692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jsonwebtoken, bcryptjs, helmet, express-rate-limit, express-validator</a:t>
            </a:r>
          </a:p>
        </p:txBody>
      </p:sp>
      <p:sp>
        <p:nvSpPr>
          <p:cNvPr id="32" name="Rectangle 31"/>
          <p:cNvSpPr/>
          <p:nvPr/>
        </p:nvSpPr>
        <p:spPr>
          <a:xfrm>
            <a:off x="6260439" y="4626864"/>
            <a:ext cx="5272887" cy="56692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61607" y="4626864"/>
            <a:ext cx="1307546" cy="56692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Reporting</a:t>
            </a:r>
          </a:p>
        </p:txBody>
      </p:sp>
      <p:sp>
        <p:nvSpPr>
          <p:cNvPr id="34" name="TextBox 33"/>
          <p:cNvSpPr txBox="1"/>
          <p:nvPr/>
        </p:nvSpPr>
        <p:spPr>
          <a:xfrm>
            <a:off x="7933745" y="4626864"/>
            <a:ext cx="3416701" cy="56692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Python — reportlab (PDF), matplotlib (charts), openpyxl (Excel)</a:t>
            </a:r>
          </a:p>
        </p:txBody>
      </p:sp>
      <p:sp>
        <p:nvSpPr>
          <p:cNvPr id="35" name="Rounded Rectangle 34"/>
          <p:cNvSpPr/>
          <p:nvPr/>
        </p:nvSpPr>
        <p:spPr>
          <a:xfrm>
            <a:off x="658368" y="5449824"/>
            <a:ext cx="10874959" cy="658368"/>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32688" y="5449824"/>
            <a:ext cx="10326319" cy="658368"/>
          </a:xfrm>
          <a:prstGeom prst="rect">
            <a:avLst/>
          </a:prstGeom>
          <a:noFill/>
        </p:spPr>
        <p:txBody>
          <a:bodyPr wrap="square" lIns="0" rIns="0" tIns="0" bIns="0" anchor="ctr">
            <a:spAutoFit/>
          </a:bodyPr>
          <a:lstStyle/>
          <a:p>
            <a:pPr algn="l">
              <a:lnSpc>
                <a:spcPct val="130000"/>
              </a:lnSpc>
            </a:pPr>
            <a:r>
              <a:rPr sz="1100" b="0" i="0">
                <a:solidFill>
                  <a:srgbClr val="0E7490"/>
                </a:solidFill>
                <a:latin typeface="Segoe UI"/>
              </a:rPr>
              <a:t>Tooling &amp; operations:  ESLint + Prettier  ·  Jest (API) + Vitest (UI) + Playwright (E2E)  ·  GitHub Actions CI/CD  ·  Docker Compose and Kubernetes  ·  Prometheus metrics + Winston logs</a:t>
            </a:r>
          </a:p>
        </p:txBody>
      </p:sp>
      <p:sp>
        <p:nvSpPr>
          <p:cNvPr id="37" name="TextBox 36"/>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38" name="TextBox 37"/>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Architecture</a:t>
            </a:r>
          </a:p>
        </p:txBody>
      </p:sp>
      <p:sp>
        <p:nvSpPr>
          <p:cNvPr id="39" name="TextBox 38"/>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ARCHITECTURE</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The data model</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Sixteen tables in five groups. Everything hangs off the organisation.</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2028687" cy="3063240"/>
          </a:xfrm>
          <a:prstGeom prst="roundRect">
            <a:avLst>
              <a:gd name="adj" fmla="val 6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658368" y="2048255"/>
            <a:ext cx="2028687" cy="402336"/>
          </a:xfrm>
          <a:prstGeom prst="roundRect">
            <a:avLst>
              <a:gd name="adj" fmla="val 28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286000"/>
            <a:ext cx="2028687" cy="16459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2130551"/>
            <a:ext cx="1772655" cy="274320"/>
          </a:xfrm>
          <a:prstGeom prst="rect">
            <a:avLst/>
          </a:prstGeom>
          <a:noFill/>
        </p:spPr>
        <p:txBody>
          <a:bodyPr wrap="square" lIns="0" rIns="0" tIns="0" bIns="0" anchor="t">
            <a:spAutoFit/>
          </a:bodyPr>
          <a:lstStyle/>
          <a:p>
            <a:pPr algn="ctr">
              <a:lnSpc>
                <a:spcPct val="115000"/>
              </a:lnSpc>
            </a:pPr>
            <a:r>
              <a:rPr sz="1100" b="1" i="0">
                <a:solidFill>
                  <a:srgbClr val="FFFFFF"/>
                </a:solidFill>
                <a:latin typeface="Segoe UI"/>
              </a:rPr>
              <a:t>Tenancy &amp; identity</a:t>
            </a:r>
          </a:p>
        </p:txBody>
      </p:sp>
      <p:sp>
        <p:nvSpPr>
          <p:cNvPr id="11" name="Rounded Rectangle 10"/>
          <p:cNvSpPr/>
          <p:nvPr/>
        </p:nvSpPr>
        <p:spPr>
          <a:xfrm>
            <a:off x="804672" y="2615184"/>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organisations</a:t>
            </a:r>
          </a:p>
        </p:txBody>
      </p:sp>
      <p:sp>
        <p:nvSpPr>
          <p:cNvPr id="12" name="Rounded Rectangle 11"/>
          <p:cNvSpPr/>
          <p:nvPr/>
        </p:nvSpPr>
        <p:spPr>
          <a:xfrm>
            <a:off x="804672" y="2999232"/>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users</a:t>
            </a:r>
          </a:p>
        </p:txBody>
      </p:sp>
      <p:sp>
        <p:nvSpPr>
          <p:cNvPr id="13" name="Rounded Rectangle 12"/>
          <p:cNvSpPr/>
          <p:nvPr/>
        </p:nvSpPr>
        <p:spPr>
          <a:xfrm>
            <a:off x="804672" y="3383279"/>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refresh_tokens</a:t>
            </a:r>
          </a:p>
        </p:txBody>
      </p:sp>
      <p:sp>
        <p:nvSpPr>
          <p:cNvPr id="14" name="Rounded Rectangle 13"/>
          <p:cNvSpPr/>
          <p:nvPr/>
        </p:nvSpPr>
        <p:spPr>
          <a:xfrm>
            <a:off x="804672" y="3767328"/>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audit_logs</a:t>
            </a:r>
          </a:p>
        </p:txBody>
      </p:sp>
      <p:sp>
        <p:nvSpPr>
          <p:cNvPr id="15" name="TextBox 14"/>
          <p:cNvSpPr txBox="1"/>
          <p:nvPr/>
        </p:nvSpPr>
        <p:spPr>
          <a:xfrm>
            <a:off x="822959" y="4261104"/>
            <a:ext cx="1699503" cy="777240"/>
          </a:xfrm>
          <a:prstGeom prst="rect">
            <a:avLst/>
          </a:prstGeom>
          <a:noFill/>
        </p:spPr>
        <p:txBody>
          <a:bodyPr wrap="square" lIns="0" rIns="0" tIns="0" bIns="0" anchor="t">
            <a:spAutoFit/>
          </a:bodyPr>
          <a:lstStyle/>
          <a:p>
            <a:pPr algn="l">
              <a:lnSpc>
                <a:spcPct val="128000"/>
              </a:lnSpc>
            </a:pPr>
            <a:r>
              <a:rPr sz="950" b="0" i="0">
                <a:solidFill>
                  <a:srgbClr val="64748B"/>
                </a:solidFill>
                <a:latin typeface="Segoe UI"/>
              </a:rPr>
              <a:t>Who you are, which organisation you belong to, and what you did.</a:t>
            </a:r>
          </a:p>
        </p:txBody>
      </p:sp>
      <p:sp>
        <p:nvSpPr>
          <p:cNvPr id="16" name="Rounded Rectangle 15"/>
          <p:cNvSpPr/>
          <p:nvPr/>
        </p:nvSpPr>
        <p:spPr>
          <a:xfrm>
            <a:off x="2869935" y="2048255"/>
            <a:ext cx="2028687" cy="3063240"/>
          </a:xfrm>
          <a:prstGeom prst="roundRect">
            <a:avLst>
              <a:gd name="adj" fmla="val 6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869935" y="2048255"/>
            <a:ext cx="2028687" cy="402336"/>
          </a:xfrm>
          <a:prstGeom prst="roundRect">
            <a:avLst>
              <a:gd name="adj" fmla="val 28000"/>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869935" y="2286000"/>
            <a:ext cx="2028687" cy="164592"/>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997951" y="2130551"/>
            <a:ext cx="1772655" cy="274320"/>
          </a:xfrm>
          <a:prstGeom prst="rect">
            <a:avLst/>
          </a:prstGeom>
          <a:noFill/>
        </p:spPr>
        <p:txBody>
          <a:bodyPr wrap="square" lIns="0" rIns="0" tIns="0" bIns="0" anchor="t">
            <a:spAutoFit/>
          </a:bodyPr>
          <a:lstStyle/>
          <a:p>
            <a:pPr algn="ctr">
              <a:lnSpc>
                <a:spcPct val="115000"/>
              </a:lnSpc>
            </a:pPr>
            <a:r>
              <a:rPr sz="1100" b="1" i="0">
                <a:solidFill>
                  <a:srgbClr val="FFFFFF"/>
                </a:solidFill>
                <a:latin typeface="Segoe UI"/>
              </a:rPr>
              <a:t>Design</a:t>
            </a:r>
          </a:p>
        </p:txBody>
      </p:sp>
      <p:sp>
        <p:nvSpPr>
          <p:cNvPr id="20" name="Rounded Rectangle 19"/>
          <p:cNvSpPr/>
          <p:nvPr/>
        </p:nvSpPr>
        <p:spPr>
          <a:xfrm>
            <a:off x="3016239" y="2615184"/>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projects</a:t>
            </a:r>
          </a:p>
        </p:txBody>
      </p:sp>
      <p:sp>
        <p:nvSpPr>
          <p:cNvPr id="21" name="Rounded Rectangle 20"/>
          <p:cNvSpPr/>
          <p:nvPr/>
        </p:nvSpPr>
        <p:spPr>
          <a:xfrm>
            <a:off x="3016239" y="2999232"/>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project_members</a:t>
            </a:r>
          </a:p>
        </p:txBody>
      </p:sp>
      <p:sp>
        <p:nvSpPr>
          <p:cNvPr id="22" name="Rounded Rectangle 21"/>
          <p:cNvSpPr/>
          <p:nvPr/>
        </p:nvSpPr>
        <p:spPr>
          <a:xfrm>
            <a:off x="3016239" y="3383279"/>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flowsheets</a:t>
            </a:r>
          </a:p>
        </p:txBody>
      </p:sp>
      <p:sp>
        <p:nvSpPr>
          <p:cNvPr id="23" name="Rounded Rectangle 22"/>
          <p:cNvSpPr/>
          <p:nvPr/>
        </p:nvSpPr>
        <p:spPr>
          <a:xfrm>
            <a:off x="3016239" y="3767328"/>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flowsheet_snapshots</a:t>
            </a:r>
          </a:p>
        </p:txBody>
      </p:sp>
      <p:sp>
        <p:nvSpPr>
          <p:cNvPr id="24" name="TextBox 23"/>
          <p:cNvSpPr txBox="1"/>
          <p:nvPr/>
        </p:nvSpPr>
        <p:spPr>
          <a:xfrm>
            <a:off x="3034527" y="4261104"/>
            <a:ext cx="1699503" cy="777240"/>
          </a:xfrm>
          <a:prstGeom prst="rect">
            <a:avLst/>
          </a:prstGeom>
          <a:noFill/>
        </p:spPr>
        <p:txBody>
          <a:bodyPr wrap="square" lIns="0" rIns="0" tIns="0" bIns="0" anchor="t">
            <a:spAutoFit/>
          </a:bodyPr>
          <a:lstStyle/>
          <a:p>
            <a:pPr algn="l">
              <a:lnSpc>
                <a:spcPct val="128000"/>
              </a:lnSpc>
            </a:pPr>
            <a:r>
              <a:rPr sz="950" b="0" i="0">
                <a:solidFill>
                  <a:srgbClr val="64748B"/>
                </a:solidFill>
                <a:latin typeface="Segoe UI"/>
              </a:rPr>
              <a:t>A project holds flowsheets; a snapshot is a read-only frozen version.</a:t>
            </a:r>
          </a:p>
        </p:txBody>
      </p:sp>
      <p:sp>
        <p:nvSpPr>
          <p:cNvPr id="25" name="Rounded Rectangle 24"/>
          <p:cNvSpPr/>
          <p:nvPr/>
        </p:nvSpPr>
        <p:spPr>
          <a:xfrm>
            <a:off x="5081503" y="2048255"/>
            <a:ext cx="2028687" cy="3063240"/>
          </a:xfrm>
          <a:prstGeom prst="roundRect">
            <a:avLst>
              <a:gd name="adj" fmla="val 6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081503" y="2048255"/>
            <a:ext cx="2028687" cy="402336"/>
          </a:xfrm>
          <a:prstGeom prst="roundRect">
            <a:avLst>
              <a:gd name="adj" fmla="val 28000"/>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081503" y="2286000"/>
            <a:ext cx="2028687" cy="164592"/>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209519" y="2130551"/>
            <a:ext cx="1772655" cy="274320"/>
          </a:xfrm>
          <a:prstGeom prst="rect">
            <a:avLst/>
          </a:prstGeom>
          <a:noFill/>
        </p:spPr>
        <p:txBody>
          <a:bodyPr wrap="square" lIns="0" rIns="0" tIns="0" bIns="0" anchor="t">
            <a:spAutoFit/>
          </a:bodyPr>
          <a:lstStyle/>
          <a:p>
            <a:pPr algn="ctr">
              <a:lnSpc>
                <a:spcPct val="115000"/>
              </a:lnSpc>
            </a:pPr>
            <a:r>
              <a:rPr sz="1100" b="1" i="0">
                <a:solidFill>
                  <a:srgbClr val="FFFFFF"/>
                </a:solidFill>
                <a:latin typeface="Segoe UI"/>
              </a:rPr>
              <a:t>Results</a:t>
            </a:r>
          </a:p>
        </p:txBody>
      </p:sp>
      <p:sp>
        <p:nvSpPr>
          <p:cNvPr id="29" name="Rounded Rectangle 28"/>
          <p:cNvSpPr/>
          <p:nvPr/>
        </p:nvSpPr>
        <p:spPr>
          <a:xfrm>
            <a:off x="5227807" y="2615184"/>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simulation_runs</a:t>
            </a:r>
          </a:p>
        </p:txBody>
      </p:sp>
      <p:sp>
        <p:nvSpPr>
          <p:cNvPr id="30" name="Rounded Rectangle 29"/>
          <p:cNvSpPr/>
          <p:nvPr/>
        </p:nvSpPr>
        <p:spPr>
          <a:xfrm>
            <a:off x="5227807" y="2999232"/>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saved_reports</a:t>
            </a:r>
          </a:p>
        </p:txBody>
      </p:sp>
      <p:sp>
        <p:nvSpPr>
          <p:cNvPr id="31" name="Rounded Rectangle 30"/>
          <p:cNvSpPr/>
          <p:nvPr/>
        </p:nvSpPr>
        <p:spPr>
          <a:xfrm>
            <a:off x="5227807" y="3383279"/>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permit_templates</a:t>
            </a:r>
          </a:p>
        </p:txBody>
      </p:sp>
      <p:sp>
        <p:nvSpPr>
          <p:cNvPr id="32" name="TextBox 31"/>
          <p:cNvSpPr txBox="1"/>
          <p:nvPr/>
        </p:nvSpPr>
        <p:spPr>
          <a:xfrm>
            <a:off x="5246095" y="4261104"/>
            <a:ext cx="1699503" cy="777240"/>
          </a:xfrm>
          <a:prstGeom prst="rect">
            <a:avLst/>
          </a:prstGeom>
          <a:noFill/>
        </p:spPr>
        <p:txBody>
          <a:bodyPr wrap="square" lIns="0" rIns="0" tIns="0" bIns="0" anchor="t">
            <a:spAutoFit/>
          </a:bodyPr>
          <a:lstStyle/>
          <a:p>
            <a:pPr algn="l">
              <a:lnSpc>
                <a:spcPct val="128000"/>
              </a:lnSpc>
            </a:pPr>
            <a:r>
              <a:rPr sz="950" b="0" i="0">
                <a:solidFill>
                  <a:srgbClr val="64748B"/>
                </a:solidFill>
                <a:latin typeface="Segoe UI"/>
              </a:rPr>
              <a:t>Every run keeps its config, results, cost breakdown and compliance verdict.</a:t>
            </a:r>
          </a:p>
        </p:txBody>
      </p:sp>
      <p:sp>
        <p:nvSpPr>
          <p:cNvPr id="33" name="Rounded Rectangle 32"/>
          <p:cNvSpPr/>
          <p:nvPr/>
        </p:nvSpPr>
        <p:spPr>
          <a:xfrm>
            <a:off x="7293071" y="2048255"/>
            <a:ext cx="2028687" cy="3063240"/>
          </a:xfrm>
          <a:prstGeom prst="roundRect">
            <a:avLst>
              <a:gd name="adj" fmla="val 6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7293071" y="2048255"/>
            <a:ext cx="2028687" cy="402336"/>
          </a:xfrm>
          <a:prstGeom prst="roundRect">
            <a:avLst>
              <a:gd name="adj" fmla="val 28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293071" y="2286000"/>
            <a:ext cx="2028687" cy="164592"/>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421087" y="2130551"/>
            <a:ext cx="1772655" cy="274320"/>
          </a:xfrm>
          <a:prstGeom prst="rect">
            <a:avLst/>
          </a:prstGeom>
          <a:noFill/>
        </p:spPr>
        <p:txBody>
          <a:bodyPr wrap="square" lIns="0" rIns="0" tIns="0" bIns="0" anchor="t">
            <a:spAutoFit/>
          </a:bodyPr>
          <a:lstStyle/>
          <a:p>
            <a:pPr algn="ctr">
              <a:lnSpc>
                <a:spcPct val="115000"/>
              </a:lnSpc>
            </a:pPr>
            <a:r>
              <a:rPr sz="1100" b="1" i="0">
                <a:solidFill>
                  <a:srgbClr val="FFFFFF"/>
                </a:solidFill>
                <a:latin typeface="Segoe UI"/>
              </a:rPr>
              <a:t>Live data</a:t>
            </a:r>
          </a:p>
        </p:txBody>
      </p:sp>
      <p:sp>
        <p:nvSpPr>
          <p:cNvPr id="37" name="Rounded Rectangle 36"/>
          <p:cNvSpPr/>
          <p:nvPr/>
        </p:nvSpPr>
        <p:spPr>
          <a:xfrm>
            <a:off x="7439375" y="2615184"/>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plc_connections</a:t>
            </a:r>
          </a:p>
        </p:txBody>
      </p:sp>
      <p:sp>
        <p:nvSpPr>
          <p:cNvPr id="38" name="Rounded Rectangle 37"/>
          <p:cNvSpPr/>
          <p:nvPr/>
        </p:nvSpPr>
        <p:spPr>
          <a:xfrm>
            <a:off x="7439375" y="2999232"/>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plc_bindings</a:t>
            </a:r>
          </a:p>
        </p:txBody>
      </p:sp>
      <p:sp>
        <p:nvSpPr>
          <p:cNvPr id="39" name="TextBox 38"/>
          <p:cNvSpPr txBox="1"/>
          <p:nvPr/>
        </p:nvSpPr>
        <p:spPr>
          <a:xfrm>
            <a:off x="7457663" y="4261104"/>
            <a:ext cx="1699503" cy="777240"/>
          </a:xfrm>
          <a:prstGeom prst="rect">
            <a:avLst/>
          </a:prstGeom>
          <a:noFill/>
        </p:spPr>
        <p:txBody>
          <a:bodyPr wrap="square" lIns="0" rIns="0" tIns="0" bIns="0" anchor="t">
            <a:spAutoFit/>
          </a:bodyPr>
          <a:lstStyle/>
          <a:p>
            <a:pPr algn="l">
              <a:lnSpc>
                <a:spcPct val="128000"/>
              </a:lnSpc>
            </a:pPr>
            <a:r>
              <a:rPr sz="950" b="0" i="0">
                <a:solidFill>
                  <a:srgbClr val="64748B"/>
                </a:solidFill>
                <a:latin typeface="Segoe UI"/>
              </a:rPr>
              <a:t>A connection is a device; a binding maps one tag to one canvas parameter.</a:t>
            </a:r>
          </a:p>
        </p:txBody>
      </p:sp>
      <p:sp>
        <p:nvSpPr>
          <p:cNvPr id="40" name="Rounded Rectangle 39"/>
          <p:cNvSpPr/>
          <p:nvPr/>
        </p:nvSpPr>
        <p:spPr>
          <a:xfrm>
            <a:off x="9504639" y="2048255"/>
            <a:ext cx="2028687" cy="3063240"/>
          </a:xfrm>
          <a:prstGeom prst="roundRect">
            <a:avLst>
              <a:gd name="adj" fmla="val 6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9504639" y="2048255"/>
            <a:ext cx="2028687" cy="402336"/>
          </a:xfrm>
          <a:prstGeom prst="roundRect">
            <a:avLst>
              <a:gd name="adj" fmla="val 28000"/>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9504639" y="2286000"/>
            <a:ext cx="2028687" cy="164592"/>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632655" y="2130551"/>
            <a:ext cx="1772655" cy="274320"/>
          </a:xfrm>
          <a:prstGeom prst="rect">
            <a:avLst/>
          </a:prstGeom>
          <a:noFill/>
        </p:spPr>
        <p:txBody>
          <a:bodyPr wrap="square" lIns="0" rIns="0" tIns="0" bIns="0" anchor="t">
            <a:spAutoFit/>
          </a:bodyPr>
          <a:lstStyle/>
          <a:p>
            <a:pPr algn="ctr">
              <a:lnSpc>
                <a:spcPct val="115000"/>
              </a:lnSpc>
            </a:pPr>
            <a:r>
              <a:rPr sz="1100" b="1" i="0">
                <a:solidFill>
                  <a:srgbClr val="FFFFFF"/>
                </a:solidFill>
                <a:latin typeface="Segoe UI"/>
              </a:rPr>
              <a:t>Alarms</a:t>
            </a:r>
          </a:p>
        </p:txBody>
      </p:sp>
      <p:sp>
        <p:nvSpPr>
          <p:cNvPr id="44" name="Rounded Rectangle 43"/>
          <p:cNvSpPr/>
          <p:nvPr/>
        </p:nvSpPr>
        <p:spPr>
          <a:xfrm>
            <a:off x="9650943" y="2615184"/>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alarm_rules</a:t>
            </a:r>
          </a:p>
        </p:txBody>
      </p:sp>
      <p:sp>
        <p:nvSpPr>
          <p:cNvPr id="45" name="Rounded Rectangle 44"/>
          <p:cNvSpPr/>
          <p:nvPr/>
        </p:nvSpPr>
        <p:spPr>
          <a:xfrm>
            <a:off x="9650943" y="2999232"/>
            <a:ext cx="1736079" cy="310896"/>
          </a:xfrm>
          <a:prstGeom prst="roundRect">
            <a:avLst>
              <a:gd name="adj" fmla="val 14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62438"/>
                </a:solidFill>
                <a:latin typeface="Segoe UI"/>
              </a:rPr>
              <a:t>alarm_events</a:t>
            </a:r>
          </a:p>
        </p:txBody>
      </p:sp>
      <p:sp>
        <p:nvSpPr>
          <p:cNvPr id="46" name="TextBox 45"/>
          <p:cNvSpPr txBox="1"/>
          <p:nvPr/>
        </p:nvSpPr>
        <p:spPr>
          <a:xfrm>
            <a:off x="9669231" y="4261104"/>
            <a:ext cx="1699503" cy="777240"/>
          </a:xfrm>
          <a:prstGeom prst="rect">
            <a:avLst/>
          </a:prstGeom>
          <a:noFill/>
        </p:spPr>
        <p:txBody>
          <a:bodyPr wrap="square" lIns="0" rIns="0" tIns="0" bIns="0" anchor="t">
            <a:spAutoFit/>
          </a:bodyPr>
          <a:lstStyle/>
          <a:p>
            <a:pPr algn="l">
              <a:lnSpc>
                <a:spcPct val="128000"/>
              </a:lnSpc>
            </a:pPr>
            <a:r>
              <a:rPr sz="950" b="0" i="0">
                <a:solidFill>
                  <a:srgbClr val="64748B"/>
                </a:solidFill>
                <a:latin typeface="Segoe UI"/>
              </a:rPr>
              <a:t>A rule is a limit on a validated target; an event is a breach with a lifecycle.</a:t>
            </a:r>
          </a:p>
        </p:txBody>
      </p:sp>
      <p:sp>
        <p:nvSpPr>
          <p:cNvPr id="47" name="Rounded Rectangle 46"/>
          <p:cNvSpPr/>
          <p:nvPr/>
        </p:nvSpPr>
        <p:spPr>
          <a:xfrm>
            <a:off x="658368" y="5294375"/>
            <a:ext cx="10874959" cy="566928"/>
          </a:xfrm>
          <a:prstGeom prst="roundRect">
            <a:avLst>
              <a:gd name="adj" fmla="val 15000"/>
            </a:avLst>
          </a:prstGeom>
          <a:solidFill>
            <a:srgbClr val="062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32688" y="5294375"/>
            <a:ext cx="10326319" cy="566928"/>
          </a:xfrm>
          <a:prstGeom prst="rect">
            <a:avLst/>
          </a:prstGeom>
          <a:noFill/>
        </p:spPr>
        <p:txBody>
          <a:bodyPr wrap="square" lIns="0" rIns="0" tIns="0" bIns="0" anchor="ctr">
            <a:spAutoFit/>
          </a:bodyPr>
          <a:lstStyle/>
          <a:p>
            <a:pPr algn="l">
              <a:lnSpc>
                <a:spcPct val="115000"/>
              </a:lnSpc>
            </a:pPr>
            <a:r>
              <a:rPr sz="1150" b="0" i="0">
                <a:solidFill>
                  <a:srgbClr val="FFFFFF"/>
                </a:solidFill>
                <a:latin typeface="Segoe UI"/>
              </a:rPr>
              <a:t>Schema changes ship as numbered, idempotent migrations (001 … 008) applied by "npm run db:migrate" before every rollout — never by hand.</a:t>
            </a:r>
          </a:p>
        </p:txBody>
      </p:sp>
      <p:sp>
        <p:nvSpPr>
          <p:cNvPr id="49" name="TextBox 48"/>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50" name="TextBox 49"/>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Architecture</a:t>
            </a:r>
          </a:p>
        </p:txBody>
      </p:sp>
      <p:sp>
        <p:nvSpPr>
          <p:cNvPr id="51" name="TextBox 50"/>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2438"/>
        </a:solidFill>
        <a:effectLst/>
      </p:bgPr>
    </p:bg>
    <p:spTree>
      <p:nvGrpSpPr>
        <p:cNvPr id="1" name=""/>
        <p:cNvGrpSpPr/>
        <p:nvPr/>
      </p:nvGrpSpPr>
      <p:grpSpPr/>
      <p:sp>
        <p:nvSpPr>
          <p:cNvPr id="2" name="Rectangle 1"/>
          <p:cNvSpPr/>
          <p:nvPr/>
        </p:nvSpPr>
        <p:spPr>
          <a:xfrm>
            <a:off x="-457200" y="5532120"/>
            <a:ext cx="13106095" cy="502920"/>
          </a:xfrm>
          <a:prstGeom prst="rect">
            <a:avLst/>
          </a:prstGeom>
          <a:solidFill>
            <a:srgbClr val="0B3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457200" y="5989320"/>
            <a:ext cx="13106095" cy="457200"/>
          </a:xfrm>
          <a:prstGeom prst="rect">
            <a:avLst/>
          </a:prstGeom>
          <a:solidFill>
            <a:srgbClr val="0E50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457200" y="6382512"/>
            <a:ext cx="13106095" cy="502920"/>
          </a:xfrm>
          <a:prstGeom prst="rect">
            <a:avLst/>
          </a:prstGeom>
          <a:solidFill>
            <a:srgbClr val="12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874519"/>
            <a:ext cx="822960" cy="6858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2176272"/>
            <a:ext cx="10874959" cy="457200"/>
          </a:xfrm>
          <a:prstGeom prst="rect">
            <a:avLst/>
          </a:prstGeom>
          <a:noFill/>
        </p:spPr>
        <p:txBody>
          <a:bodyPr wrap="square" lIns="0" rIns="0" tIns="0" bIns="0" anchor="t">
            <a:spAutoFit/>
          </a:bodyPr>
          <a:lstStyle/>
          <a:p>
            <a:pPr algn="l">
              <a:lnSpc>
                <a:spcPct val="115000"/>
              </a:lnSpc>
            </a:pPr>
            <a:r>
              <a:rPr sz="1200" b="1" i="0">
                <a:solidFill>
                  <a:srgbClr val="22B8D4"/>
                </a:solidFill>
                <a:latin typeface="Segoe UI"/>
              </a:rPr>
              <a:t>PART 03</a:t>
            </a:r>
          </a:p>
        </p:txBody>
      </p:sp>
      <p:sp>
        <p:nvSpPr>
          <p:cNvPr id="7" name="TextBox 6"/>
          <p:cNvSpPr txBox="1"/>
          <p:nvPr/>
        </p:nvSpPr>
        <p:spPr>
          <a:xfrm>
            <a:off x="658368" y="2560320"/>
            <a:ext cx="8156219" cy="914400"/>
          </a:xfrm>
          <a:prstGeom prst="rect">
            <a:avLst/>
          </a:prstGeom>
          <a:noFill/>
        </p:spPr>
        <p:txBody>
          <a:bodyPr wrap="square" lIns="0" rIns="0" tIns="0" bIns="0" anchor="t">
            <a:spAutoFit/>
          </a:bodyPr>
          <a:lstStyle/>
          <a:p>
            <a:pPr algn="l">
              <a:lnSpc>
                <a:spcPct val="115000"/>
              </a:lnSpc>
            </a:pPr>
            <a:r>
              <a:rPr sz="4200" b="1" i="0">
                <a:solidFill>
                  <a:srgbClr val="FFFFFF"/>
                </a:solidFill>
                <a:latin typeface="Segoe UI Light"/>
              </a:rPr>
              <a:t>The Flows</a:t>
            </a:r>
          </a:p>
        </p:txBody>
      </p:sp>
      <p:sp>
        <p:nvSpPr>
          <p:cNvPr id="8" name="TextBox 7"/>
          <p:cNvSpPr txBox="1"/>
          <p:nvPr/>
        </p:nvSpPr>
        <p:spPr>
          <a:xfrm>
            <a:off x="658368" y="3566160"/>
            <a:ext cx="6742474" cy="731520"/>
          </a:xfrm>
          <a:prstGeom prst="rect">
            <a:avLst/>
          </a:prstGeom>
          <a:noFill/>
        </p:spPr>
        <p:txBody>
          <a:bodyPr wrap="square" lIns="0" rIns="0" tIns="0" bIns="0" anchor="t">
            <a:spAutoFit/>
          </a:bodyPr>
          <a:lstStyle/>
          <a:p>
            <a:pPr algn="l">
              <a:lnSpc>
                <a:spcPct val="135000"/>
              </a:lnSpc>
            </a:pPr>
            <a:r>
              <a:rPr sz="1400" b="0" i="0">
                <a:solidFill>
                  <a:srgbClr val="A9C8D8"/>
                </a:solidFill>
                <a:latin typeface="Segoe UI"/>
              </a:rPr>
              <a:t>How work actually moves through the platform — ten journeys, from the login screen to a signed-off report.</a:t>
            </a:r>
          </a:p>
        </p:txBody>
      </p:sp>
      <p:sp>
        <p:nvSpPr>
          <p:cNvPr id="9" name="Rounded Rectangle 8"/>
          <p:cNvSpPr/>
          <p:nvPr/>
        </p:nvSpPr>
        <p:spPr>
          <a:xfrm>
            <a:off x="7692847" y="2066543"/>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The end-to-end journey</a:t>
            </a:r>
          </a:p>
        </p:txBody>
      </p:sp>
      <p:sp>
        <p:nvSpPr>
          <p:cNvPr id="10" name="Rounded Rectangle 9"/>
          <p:cNvSpPr/>
          <p:nvPr/>
        </p:nvSpPr>
        <p:spPr>
          <a:xfrm>
            <a:off x="7692847" y="2542032"/>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Auth · Canvas · Simulation</a:t>
            </a:r>
          </a:p>
        </p:txBody>
      </p:sp>
      <p:sp>
        <p:nvSpPr>
          <p:cNvPr id="11" name="Rounded Rectangle 10"/>
          <p:cNvSpPr/>
          <p:nvPr/>
        </p:nvSpPr>
        <p:spPr>
          <a:xfrm>
            <a:off x="7692847" y="3017520"/>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Cost · Compliance · Reports</a:t>
            </a:r>
          </a:p>
        </p:txBody>
      </p:sp>
      <p:sp>
        <p:nvSpPr>
          <p:cNvPr id="12" name="Rounded Rectangle 11"/>
          <p:cNvSpPr/>
          <p:nvPr/>
        </p:nvSpPr>
        <p:spPr>
          <a:xfrm>
            <a:off x="7692847" y="3493008"/>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PLC · Alarms · Collaboration</a:t>
            </a:r>
          </a:p>
        </p:txBody>
      </p:sp>
      <p:sp>
        <p:nvSpPr>
          <p:cNvPr id="13" name="TextBox 12"/>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14" name="TextBox 13"/>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
            </a:r>
          </a:p>
        </p:txBody>
      </p:sp>
      <p:sp>
        <p:nvSpPr>
          <p:cNvPr id="15" name="TextBox 14"/>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THE CORE FLOW</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The end-to-end journey</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Seven steps take an engineer from a blank screen to a report a regulator can read.</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Pentagon 6"/>
          <p:cNvSpPr/>
          <p:nvPr/>
        </p:nvSpPr>
        <p:spPr>
          <a:xfrm>
            <a:off x="658368" y="2048255"/>
            <a:ext cx="1510458" cy="566928"/>
          </a:xfrm>
          <a:prstGeom prst="homePlate">
            <a:avLst>
              <a:gd name="adj" fmla="val 2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FFFFFF"/>
                </a:solidFill>
                <a:latin typeface="Segoe UI"/>
              </a:rPr>
              <a:t>Sign in</a:t>
            </a:r>
          </a:p>
        </p:txBody>
      </p:sp>
      <p:sp>
        <p:nvSpPr>
          <p:cNvPr id="8" name="Pentagon 7"/>
          <p:cNvSpPr/>
          <p:nvPr/>
        </p:nvSpPr>
        <p:spPr>
          <a:xfrm>
            <a:off x="2219118" y="2048255"/>
            <a:ext cx="1510458" cy="566928"/>
          </a:xfrm>
          <a:prstGeom prst="homePlate">
            <a:avLst>
              <a:gd name="adj" fmla="val 20000"/>
            </a:avLst>
          </a:prstGeom>
          <a:solidFill>
            <a:srgbClr val="0B3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FFFFFF"/>
                </a:solidFill>
                <a:latin typeface="Segoe UI"/>
              </a:rPr>
              <a:t>Create
project</a:t>
            </a:r>
          </a:p>
        </p:txBody>
      </p:sp>
      <p:sp>
        <p:nvSpPr>
          <p:cNvPr id="9" name="Pentagon 8"/>
          <p:cNvSpPr/>
          <p:nvPr/>
        </p:nvSpPr>
        <p:spPr>
          <a:xfrm>
            <a:off x="3779868" y="2048255"/>
            <a:ext cx="1510458" cy="566928"/>
          </a:xfrm>
          <a:prstGeom prst="homePlate">
            <a:avLst>
              <a:gd name="adj" fmla="val 2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FFFFFF"/>
                </a:solidFill>
                <a:latin typeface="Segoe UI"/>
              </a:rPr>
              <a:t>Draw
flowsheet</a:t>
            </a:r>
          </a:p>
        </p:txBody>
      </p:sp>
      <p:sp>
        <p:nvSpPr>
          <p:cNvPr id="10" name="Pentagon 9"/>
          <p:cNvSpPr/>
          <p:nvPr/>
        </p:nvSpPr>
        <p:spPr>
          <a:xfrm>
            <a:off x="5340618" y="2048255"/>
            <a:ext cx="1510458" cy="566928"/>
          </a:xfrm>
          <a:prstGeom prst="homePlate">
            <a:avLst>
              <a:gd name="adj" fmla="val 20000"/>
            </a:avLst>
          </a:prstGeom>
          <a:solidFill>
            <a:srgbClr val="0B3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FFFFFF"/>
                </a:solidFill>
                <a:latin typeface="Segoe UI"/>
              </a:rPr>
              <a:t>Set
parameters</a:t>
            </a:r>
          </a:p>
        </p:txBody>
      </p:sp>
      <p:sp>
        <p:nvSpPr>
          <p:cNvPr id="11" name="Pentagon 10"/>
          <p:cNvSpPr/>
          <p:nvPr/>
        </p:nvSpPr>
        <p:spPr>
          <a:xfrm>
            <a:off x="6901368" y="2048255"/>
            <a:ext cx="1510458" cy="566928"/>
          </a:xfrm>
          <a:prstGeom prst="homePlate">
            <a:avLst>
              <a:gd name="adj" fmla="val 2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FFFFFF"/>
                </a:solidFill>
                <a:latin typeface="Segoe UI"/>
              </a:rPr>
              <a:t>Run
simulation</a:t>
            </a:r>
          </a:p>
        </p:txBody>
      </p:sp>
      <p:sp>
        <p:nvSpPr>
          <p:cNvPr id="12" name="Pentagon 11"/>
          <p:cNvSpPr/>
          <p:nvPr/>
        </p:nvSpPr>
        <p:spPr>
          <a:xfrm>
            <a:off x="8462118" y="2048255"/>
            <a:ext cx="1510458" cy="566928"/>
          </a:xfrm>
          <a:prstGeom prst="homePlate">
            <a:avLst>
              <a:gd name="adj" fmla="val 20000"/>
            </a:avLst>
          </a:prstGeom>
          <a:solidFill>
            <a:srgbClr val="0B3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FFFFFF"/>
                </a:solidFill>
                <a:latin typeface="Segoe UI"/>
              </a:rPr>
              <a:t>Read
results</a:t>
            </a:r>
          </a:p>
        </p:txBody>
      </p:sp>
      <p:sp>
        <p:nvSpPr>
          <p:cNvPr id="13" name="Pentagon 12"/>
          <p:cNvSpPr/>
          <p:nvPr/>
        </p:nvSpPr>
        <p:spPr>
          <a:xfrm>
            <a:off x="10022869" y="2048255"/>
            <a:ext cx="1510458" cy="566928"/>
          </a:xfrm>
          <a:prstGeom prst="homePlate">
            <a:avLst>
              <a:gd name="adj" fmla="val 2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FFFFFF"/>
                </a:solidFill>
                <a:latin typeface="Segoe UI"/>
              </a:rPr>
              <a:t>Export
report</a:t>
            </a:r>
          </a:p>
        </p:txBody>
      </p:sp>
      <p:sp>
        <p:nvSpPr>
          <p:cNvPr id="14" name="Rounded Rectangle 13"/>
          <p:cNvSpPr/>
          <p:nvPr/>
        </p:nvSpPr>
        <p:spPr>
          <a:xfrm>
            <a:off x="658368" y="2779776"/>
            <a:ext cx="5282031" cy="822960"/>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841247" y="2926080"/>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1</a:t>
            </a:r>
          </a:p>
        </p:txBody>
      </p:sp>
      <p:sp>
        <p:nvSpPr>
          <p:cNvPr id="16" name="TextBox 15"/>
          <p:cNvSpPr txBox="1"/>
          <p:nvPr/>
        </p:nvSpPr>
        <p:spPr>
          <a:xfrm>
            <a:off x="1353312" y="2916936"/>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Sign in</a:t>
            </a:r>
          </a:p>
        </p:txBody>
      </p:sp>
      <p:sp>
        <p:nvSpPr>
          <p:cNvPr id="17" name="TextBox 16"/>
          <p:cNvSpPr txBox="1"/>
          <p:nvPr/>
        </p:nvSpPr>
        <p:spPr>
          <a:xfrm>
            <a:off x="1353312" y="3191256"/>
            <a:ext cx="4385919" cy="347472"/>
          </a:xfrm>
          <a:prstGeom prst="rect">
            <a:avLst/>
          </a:prstGeom>
          <a:noFill/>
        </p:spPr>
        <p:txBody>
          <a:bodyPr wrap="square" lIns="0" rIns="0" tIns="0" bIns="0" anchor="t">
            <a:spAutoFit/>
          </a:bodyPr>
          <a:lstStyle/>
          <a:p>
            <a:pPr algn="l">
              <a:lnSpc>
                <a:spcPct val="122000"/>
              </a:lnSpc>
            </a:pPr>
            <a:r>
              <a:rPr sz="950" b="0" i="0">
                <a:solidFill>
                  <a:srgbClr val="64748B"/>
                </a:solidFill>
                <a:latin typeface="Segoe UI"/>
              </a:rPr>
              <a:t>Email and password are exchanged for an access token plus a refresh cookie. Its organisation scopes everything that follows.</a:t>
            </a:r>
          </a:p>
        </p:txBody>
      </p:sp>
      <p:sp>
        <p:nvSpPr>
          <p:cNvPr id="18" name="Rounded Rectangle 17"/>
          <p:cNvSpPr/>
          <p:nvPr/>
        </p:nvSpPr>
        <p:spPr>
          <a:xfrm>
            <a:off x="658368" y="3648456"/>
            <a:ext cx="5282031" cy="822960"/>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41247" y="3794760"/>
            <a:ext cx="365760" cy="365760"/>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2</a:t>
            </a:r>
          </a:p>
        </p:txBody>
      </p:sp>
      <p:sp>
        <p:nvSpPr>
          <p:cNvPr id="20" name="TextBox 19"/>
          <p:cNvSpPr txBox="1"/>
          <p:nvPr/>
        </p:nvSpPr>
        <p:spPr>
          <a:xfrm>
            <a:off x="1353312" y="3785616"/>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Create a project</a:t>
            </a:r>
          </a:p>
        </p:txBody>
      </p:sp>
      <p:sp>
        <p:nvSpPr>
          <p:cNvPr id="21" name="TextBox 20"/>
          <p:cNvSpPr txBox="1"/>
          <p:nvPr/>
        </p:nvSpPr>
        <p:spPr>
          <a:xfrm>
            <a:off x="1353312" y="4059936"/>
            <a:ext cx="4385919" cy="347472"/>
          </a:xfrm>
          <a:prstGeom prst="rect">
            <a:avLst/>
          </a:prstGeom>
          <a:noFill/>
        </p:spPr>
        <p:txBody>
          <a:bodyPr wrap="square" lIns="0" rIns="0" tIns="0" bIns="0" anchor="t">
            <a:spAutoFit/>
          </a:bodyPr>
          <a:lstStyle/>
          <a:p>
            <a:pPr algn="l">
              <a:lnSpc>
                <a:spcPct val="122000"/>
              </a:lnSpc>
            </a:pPr>
            <a:r>
              <a:rPr sz="950" b="0" i="0">
                <a:solidFill>
                  <a:srgbClr val="64748B"/>
                </a:solidFill>
                <a:latin typeface="Segoe UI"/>
              </a:rPr>
              <a:t>A project is the container: a plant, a study or a tender. It carries its own unit-cost overrides and its own members.</a:t>
            </a:r>
          </a:p>
        </p:txBody>
      </p:sp>
      <p:sp>
        <p:nvSpPr>
          <p:cNvPr id="22" name="Rounded Rectangle 21"/>
          <p:cNvSpPr/>
          <p:nvPr/>
        </p:nvSpPr>
        <p:spPr>
          <a:xfrm>
            <a:off x="658368" y="4517136"/>
            <a:ext cx="5282031" cy="822960"/>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841247" y="4663440"/>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3</a:t>
            </a:r>
          </a:p>
        </p:txBody>
      </p:sp>
      <p:sp>
        <p:nvSpPr>
          <p:cNvPr id="24" name="TextBox 23"/>
          <p:cNvSpPr txBox="1"/>
          <p:nvPr/>
        </p:nvSpPr>
        <p:spPr>
          <a:xfrm>
            <a:off x="1353312" y="4654296"/>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Draw the flowsheet</a:t>
            </a:r>
          </a:p>
        </p:txBody>
      </p:sp>
      <p:sp>
        <p:nvSpPr>
          <p:cNvPr id="25" name="TextBox 24"/>
          <p:cNvSpPr txBox="1"/>
          <p:nvPr/>
        </p:nvSpPr>
        <p:spPr>
          <a:xfrm>
            <a:off x="1353312" y="4928616"/>
            <a:ext cx="4385919" cy="347472"/>
          </a:xfrm>
          <a:prstGeom prst="rect">
            <a:avLst/>
          </a:prstGeom>
          <a:noFill/>
        </p:spPr>
        <p:txBody>
          <a:bodyPr wrap="square" lIns="0" rIns="0" tIns="0" bIns="0" anchor="t">
            <a:spAutoFit/>
          </a:bodyPr>
          <a:lstStyle/>
          <a:p>
            <a:pPr algn="l">
              <a:lnSpc>
                <a:spcPct val="122000"/>
              </a:lnSpc>
            </a:pPr>
            <a:r>
              <a:rPr sz="950" b="0" i="0">
                <a:solidFill>
                  <a:srgbClr val="64748B"/>
                </a:solidFill>
                <a:latin typeface="Segoe UI"/>
              </a:rPr>
              <a:t>Drag unit operations onto the canvas and wire them. Edges carry a stream role — effluent, RAS, WAS, sludge, permeate.</a:t>
            </a:r>
          </a:p>
        </p:txBody>
      </p:sp>
      <p:sp>
        <p:nvSpPr>
          <p:cNvPr id="26" name="Rounded Rectangle 25"/>
          <p:cNvSpPr/>
          <p:nvPr/>
        </p:nvSpPr>
        <p:spPr>
          <a:xfrm>
            <a:off x="658368" y="5385816"/>
            <a:ext cx="5282031" cy="822960"/>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41247" y="5532120"/>
            <a:ext cx="365760" cy="365760"/>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4</a:t>
            </a:r>
          </a:p>
        </p:txBody>
      </p:sp>
      <p:sp>
        <p:nvSpPr>
          <p:cNvPr id="28" name="TextBox 27"/>
          <p:cNvSpPr txBox="1"/>
          <p:nvPr/>
        </p:nvSpPr>
        <p:spPr>
          <a:xfrm>
            <a:off x="1353312" y="5522976"/>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Set parameters</a:t>
            </a:r>
          </a:p>
        </p:txBody>
      </p:sp>
      <p:sp>
        <p:nvSpPr>
          <p:cNvPr id="29" name="TextBox 28"/>
          <p:cNvSpPr txBox="1"/>
          <p:nvPr/>
        </p:nvSpPr>
        <p:spPr>
          <a:xfrm>
            <a:off x="1353312" y="5797296"/>
            <a:ext cx="4385919" cy="347472"/>
          </a:xfrm>
          <a:prstGeom prst="rect">
            <a:avLst/>
          </a:prstGeom>
          <a:noFill/>
        </p:spPr>
        <p:txBody>
          <a:bodyPr wrap="square" lIns="0" rIns="0" tIns="0" bIns="0" anchor="t">
            <a:spAutoFit/>
          </a:bodyPr>
          <a:lstStyle/>
          <a:p>
            <a:pPr algn="l">
              <a:lnSpc>
                <a:spcPct val="122000"/>
              </a:lnSpc>
            </a:pPr>
            <a:r>
              <a:rPr sz="950" b="0" i="0">
                <a:solidFill>
                  <a:srgbClr val="64748B"/>
                </a:solidFill>
                <a:latin typeface="Segoe UI"/>
              </a:rPr>
              <a:t>Select a node and edit its parameters in the side panel. Edits auto-save and broadcast to co-editors live.</a:t>
            </a:r>
          </a:p>
        </p:txBody>
      </p:sp>
      <p:sp>
        <p:nvSpPr>
          <p:cNvPr id="30" name="Rounded Rectangle 29"/>
          <p:cNvSpPr/>
          <p:nvPr/>
        </p:nvSpPr>
        <p:spPr>
          <a:xfrm>
            <a:off x="6251295" y="2779776"/>
            <a:ext cx="5282031" cy="822960"/>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6434175" y="2926080"/>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5</a:t>
            </a:r>
          </a:p>
        </p:txBody>
      </p:sp>
      <p:sp>
        <p:nvSpPr>
          <p:cNvPr id="32" name="TextBox 31"/>
          <p:cNvSpPr txBox="1"/>
          <p:nvPr/>
        </p:nvSpPr>
        <p:spPr>
          <a:xfrm>
            <a:off x="6946239" y="2916936"/>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Run the simulation</a:t>
            </a:r>
          </a:p>
        </p:txBody>
      </p:sp>
      <p:sp>
        <p:nvSpPr>
          <p:cNvPr id="33" name="TextBox 32"/>
          <p:cNvSpPr txBox="1"/>
          <p:nvPr/>
        </p:nvSpPr>
        <p:spPr>
          <a:xfrm>
            <a:off x="6946239" y="3191256"/>
            <a:ext cx="4385919" cy="347472"/>
          </a:xfrm>
          <a:prstGeom prst="rect">
            <a:avLst/>
          </a:prstGeom>
          <a:noFill/>
        </p:spPr>
        <p:txBody>
          <a:bodyPr wrap="square" lIns="0" rIns="0" tIns="0" bIns="0" anchor="t">
            <a:spAutoFit/>
          </a:bodyPr>
          <a:lstStyle/>
          <a:p>
            <a:pPr algn="l">
              <a:lnSpc>
                <a:spcPct val="122000"/>
              </a:lnSpc>
            </a:pPr>
            <a:r>
              <a:rPr sz="950" b="0" i="0">
                <a:solidFill>
                  <a:srgbClr val="64748B"/>
                </a:solidFill>
                <a:latin typeface="Segoe UI"/>
              </a:rPr>
              <a:t>Choose steady-state, dynamic or batch. The solver runs in a worker thread, so a heavy flowsheet never blocks the API.</a:t>
            </a:r>
          </a:p>
        </p:txBody>
      </p:sp>
      <p:sp>
        <p:nvSpPr>
          <p:cNvPr id="34" name="Rounded Rectangle 33"/>
          <p:cNvSpPr/>
          <p:nvPr/>
        </p:nvSpPr>
        <p:spPr>
          <a:xfrm>
            <a:off x="6251295" y="3648456"/>
            <a:ext cx="5282031" cy="822960"/>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6434175" y="3794760"/>
            <a:ext cx="365760" cy="365760"/>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6</a:t>
            </a:r>
          </a:p>
        </p:txBody>
      </p:sp>
      <p:sp>
        <p:nvSpPr>
          <p:cNvPr id="36" name="TextBox 35"/>
          <p:cNvSpPr txBox="1"/>
          <p:nvPr/>
        </p:nvSpPr>
        <p:spPr>
          <a:xfrm>
            <a:off x="6946239" y="3785616"/>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Read the results</a:t>
            </a:r>
          </a:p>
        </p:txBody>
      </p:sp>
      <p:sp>
        <p:nvSpPr>
          <p:cNvPr id="37" name="TextBox 36"/>
          <p:cNvSpPr txBox="1"/>
          <p:nvPr/>
        </p:nvSpPr>
        <p:spPr>
          <a:xfrm>
            <a:off x="6946239" y="4059936"/>
            <a:ext cx="4385919" cy="347472"/>
          </a:xfrm>
          <a:prstGeom prst="rect">
            <a:avLst/>
          </a:prstGeom>
          <a:noFill/>
        </p:spPr>
        <p:txBody>
          <a:bodyPr wrap="square" lIns="0" rIns="0" tIns="0" bIns="0" anchor="t">
            <a:spAutoFit/>
          </a:bodyPr>
          <a:lstStyle/>
          <a:p>
            <a:pPr algn="l">
              <a:lnSpc>
                <a:spcPct val="122000"/>
              </a:lnSpc>
            </a:pPr>
            <a:r>
              <a:rPr sz="950" b="0" i="0">
                <a:solidFill>
                  <a:srgbClr val="64748B"/>
                </a:solidFill>
                <a:latin typeface="Segoe UI"/>
              </a:rPr>
              <a:t>Stream values land on the canvas, cost and permit verdict fill the summary panel, and a breached limit raises an alarm.</a:t>
            </a:r>
          </a:p>
        </p:txBody>
      </p:sp>
      <p:sp>
        <p:nvSpPr>
          <p:cNvPr id="38" name="Rounded Rectangle 37"/>
          <p:cNvSpPr/>
          <p:nvPr/>
        </p:nvSpPr>
        <p:spPr>
          <a:xfrm>
            <a:off x="6251295" y="5385816"/>
            <a:ext cx="5282031" cy="822960"/>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6434175" y="5532120"/>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7</a:t>
            </a:r>
          </a:p>
        </p:txBody>
      </p:sp>
      <p:sp>
        <p:nvSpPr>
          <p:cNvPr id="40" name="TextBox 39"/>
          <p:cNvSpPr txBox="1"/>
          <p:nvPr/>
        </p:nvSpPr>
        <p:spPr>
          <a:xfrm>
            <a:off x="6946239" y="5522976"/>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Export the report</a:t>
            </a:r>
          </a:p>
        </p:txBody>
      </p:sp>
      <p:sp>
        <p:nvSpPr>
          <p:cNvPr id="41" name="TextBox 40"/>
          <p:cNvSpPr txBox="1"/>
          <p:nvPr/>
        </p:nvSpPr>
        <p:spPr>
          <a:xfrm>
            <a:off x="6946239" y="5797296"/>
            <a:ext cx="4385919" cy="347472"/>
          </a:xfrm>
          <a:prstGeom prst="rect">
            <a:avLst/>
          </a:prstGeom>
          <a:noFill/>
        </p:spPr>
        <p:txBody>
          <a:bodyPr wrap="square" lIns="0" rIns="0" tIns="0" bIns="0" anchor="t">
            <a:spAutoFit/>
          </a:bodyPr>
          <a:lstStyle/>
          <a:p>
            <a:pPr algn="l">
              <a:lnSpc>
                <a:spcPct val="122000"/>
              </a:lnSpc>
            </a:pPr>
            <a:r>
              <a:rPr sz="950" b="0" i="0">
                <a:solidFill>
                  <a:srgbClr val="64748B"/>
                </a:solidFill>
                <a:latin typeface="Segoe UI"/>
              </a:rPr>
              <a:t>A PDF engineering report, a multi-sheet Excel workbook or CSV — plus a plain-language summary for non-engineers.</a:t>
            </a:r>
          </a:p>
        </p:txBody>
      </p:sp>
      <p:sp>
        <p:nvSpPr>
          <p:cNvPr id="42" name="TextBox 41"/>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3" name="TextBox 42"/>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44" name="TextBox 43"/>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FLOW 01</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Authentication and multi-tenancy</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Two tokens with different lifetimes: a short access token in memory, a long refresh token in an httpOnly cookie.</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1955535" cy="178308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1955535"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2267711"/>
            <a:ext cx="1589775" cy="274320"/>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Register</a:t>
            </a:r>
          </a:p>
        </p:txBody>
      </p:sp>
      <p:sp>
        <p:nvSpPr>
          <p:cNvPr id="10" name="TextBox 9"/>
          <p:cNvSpPr txBox="1"/>
          <p:nvPr/>
        </p:nvSpPr>
        <p:spPr>
          <a:xfrm>
            <a:off x="841247" y="2578608"/>
            <a:ext cx="1589775" cy="1188720"/>
          </a:xfrm>
          <a:prstGeom prst="rect">
            <a:avLst/>
          </a:prstGeom>
          <a:noFill/>
        </p:spPr>
        <p:txBody>
          <a:bodyPr wrap="square" lIns="0" rIns="0" tIns="0" bIns="0" anchor="t">
            <a:spAutoFit/>
          </a:bodyPr>
          <a:lstStyle/>
          <a:p>
            <a:pPr algn="l">
              <a:lnSpc>
                <a:spcPct val="128000"/>
              </a:lnSpc>
            </a:pPr>
            <a:r>
              <a:rPr sz="1000" b="0" i="0">
                <a:solidFill>
                  <a:srgbClr val="64748B"/>
                </a:solidFill>
                <a:latin typeface="Segoe UI"/>
              </a:rPr>
              <a:t>POST /auth/register creates the organisation and its first admin user.</a:t>
            </a:r>
          </a:p>
        </p:txBody>
      </p:sp>
      <p:sp>
        <p:nvSpPr>
          <p:cNvPr id="11" name="Right Arrow 10"/>
          <p:cNvSpPr/>
          <p:nvPr/>
        </p:nvSpPr>
        <p:spPr>
          <a:xfrm>
            <a:off x="2632191" y="2871215"/>
            <a:ext cx="237744" cy="182880"/>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888223" y="2048255"/>
            <a:ext cx="1955535" cy="178308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888223" y="2048255"/>
            <a:ext cx="1955535" cy="54864"/>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071103" y="2267711"/>
            <a:ext cx="1589775" cy="274320"/>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Login</a:t>
            </a:r>
          </a:p>
        </p:txBody>
      </p:sp>
      <p:sp>
        <p:nvSpPr>
          <p:cNvPr id="15" name="TextBox 14"/>
          <p:cNvSpPr txBox="1"/>
          <p:nvPr/>
        </p:nvSpPr>
        <p:spPr>
          <a:xfrm>
            <a:off x="3071103" y="2578608"/>
            <a:ext cx="1589775" cy="1188720"/>
          </a:xfrm>
          <a:prstGeom prst="rect">
            <a:avLst/>
          </a:prstGeom>
          <a:noFill/>
        </p:spPr>
        <p:txBody>
          <a:bodyPr wrap="square" lIns="0" rIns="0" tIns="0" bIns="0" anchor="t">
            <a:spAutoFit/>
          </a:bodyPr>
          <a:lstStyle/>
          <a:p>
            <a:pPr algn="l">
              <a:lnSpc>
                <a:spcPct val="128000"/>
              </a:lnSpc>
            </a:pPr>
            <a:r>
              <a:rPr sz="1000" b="0" i="0">
                <a:solidFill>
                  <a:srgbClr val="64748B"/>
                </a:solidFill>
                <a:latin typeface="Segoe UI"/>
              </a:rPr>
              <a:t>POST /auth/login returns an access token in JSON and sets the refresh token as an httpOnly cookie.</a:t>
            </a:r>
          </a:p>
        </p:txBody>
      </p:sp>
      <p:sp>
        <p:nvSpPr>
          <p:cNvPr id="16" name="Right Arrow 15"/>
          <p:cNvSpPr/>
          <p:nvPr/>
        </p:nvSpPr>
        <p:spPr>
          <a:xfrm>
            <a:off x="4862047" y="2871215"/>
            <a:ext cx="237744" cy="182880"/>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118079" y="2048255"/>
            <a:ext cx="1955535" cy="178308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118079" y="2048255"/>
            <a:ext cx="1955535" cy="54864"/>
          </a:xfrm>
          <a:prstGeom prst="rect">
            <a:avLst/>
          </a:prstGeom>
          <a:solidFill>
            <a:srgbClr val="0B3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00959" y="2267711"/>
            <a:ext cx="1589775" cy="274320"/>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Call the API</a:t>
            </a:r>
          </a:p>
        </p:txBody>
      </p:sp>
      <p:sp>
        <p:nvSpPr>
          <p:cNvPr id="20" name="TextBox 19"/>
          <p:cNvSpPr txBox="1"/>
          <p:nvPr/>
        </p:nvSpPr>
        <p:spPr>
          <a:xfrm>
            <a:off x="5300959" y="2578608"/>
            <a:ext cx="1589775" cy="1188720"/>
          </a:xfrm>
          <a:prstGeom prst="rect">
            <a:avLst/>
          </a:prstGeom>
          <a:noFill/>
        </p:spPr>
        <p:txBody>
          <a:bodyPr wrap="square" lIns="0" rIns="0" tIns="0" bIns="0" anchor="t">
            <a:spAutoFit/>
          </a:bodyPr>
          <a:lstStyle/>
          <a:p>
            <a:pPr algn="l">
              <a:lnSpc>
                <a:spcPct val="128000"/>
              </a:lnSpc>
            </a:pPr>
            <a:r>
              <a:rPr sz="1000" b="0" i="0">
                <a:solidFill>
                  <a:srgbClr val="64748B"/>
                </a:solidFill>
                <a:latin typeface="Segoe UI"/>
              </a:rPr>
              <a:t>Every protected request carries an Authorization: Bearer header. RBAC runs after that.</a:t>
            </a:r>
          </a:p>
        </p:txBody>
      </p:sp>
      <p:sp>
        <p:nvSpPr>
          <p:cNvPr id="21" name="Right Arrow 20"/>
          <p:cNvSpPr/>
          <p:nvPr/>
        </p:nvSpPr>
        <p:spPr>
          <a:xfrm>
            <a:off x="7091903" y="2871215"/>
            <a:ext cx="237744" cy="182880"/>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7347935" y="2048255"/>
            <a:ext cx="1955535" cy="178308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347935" y="2048255"/>
            <a:ext cx="1955535" cy="54864"/>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530815" y="2267711"/>
            <a:ext cx="1589775" cy="274320"/>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Refresh</a:t>
            </a:r>
          </a:p>
        </p:txBody>
      </p:sp>
      <p:sp>
        <p:nvSpPr>
          <p:cNvPr id="25" name="TextBox 24"/>
          <p:cNvSpPr txBox="1"/>
          <p:nvPr/>
        </p:nvSpPr>
        <p:spPr>
          <a:xfrm>
            <a:off x="7530815" y="2578608"/>
            <a:ext cx="1589775" cy="1188720"/>
          </a:xfrm>
          <a:prstGeom prst="rect">
            <a:avLst/>
          </a:prstGeom>
          <a:noFill/>
        </p:spPr>
        <p:txBody>
          <a:bodyPr wrap="square" lIns="0" rIns="0" tIns="0" bIns="0" anchor="t">
            <a:spAutoFit/>
          </a:bodyPr>
          <a:lstStyle/>
          <a:p>
            <a:pPr algn="l">
              <a:lnSpc>
                <a:spcPct val="128000"/>
              </a:lnSpc>
            </a:pPr>
            <a:r>
              <a:rPr sz="1000" b="0" i="0">
                <a:solidFill>
                  <a:srgbClr val="64748B"/>
                </a:solidFill>
                <a:latin typeface="Segoe UI"/>
              </a:rPr>
              <a:t>On 401 the client calls POST /auth/refresh — a new access token, a rotated cookie.</a:t>
            </a:r>
          </a:p>
        </p:txBody>
      </p:sp>
      <p:sp>
        <p:nvSpPr>
          <p:cNvPr id="26" name="Right Arrow 25"/>
          <p:cNvSpPr/>
          <p:nvPr/>
        </p:nvSpPr>
        <p:spPr>
          <a:xfrm>
            <a:off x="9321759" y="2871215"/>
            <a:ext cx="237744" cy="182880"/>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577791" y="2048255"/>
            <a:ext cx="1955535" cy="178308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577791" y="2048255"/>
            <a:ext cx="1955535" cy="54864"/>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760671" y="2267711"/>
            <a:ext cx="1589775" cy="274320"/>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Logout</a:t>
            </a:r>
          </a:p>
        </p:txBody>
      </p:sp>
      <p:sp>
        <p:nvSpPr>
          <p:cNvPr id="30" name="TextBox 29"/>
          <p:cNvSpPr txBox="1"/>
          <p:nvPr/>
        </p:nvSpPr>
        <p:spPr>
          <a:xfrm>
            <a:off x="9760671" y="2578608"/>
            <a:ext cx="1589775" cy="1188720"/>
          </a:xfrm>
          <a:prstGeom prst="rect">
            <a:avLst/>
          </a:prstGeom>
          <a:noFill/>
        </p:spPr>
        <p:txBody>
          <a:bodyPr wrap="square" lIns="0" rIns="0" tIns="0" bIns="0" anchor="t">
            <a:spAutoFit/>
          </a:bodyPr>
          <a:lstStyle/>
          <a:p>
            <a:pPr algn="l">
              <a:lnSpc>
                <a:spcPct val="128000"/>
              </a:lnSpc>
            </a:pPr>
            <a:r>
              <a:rPr sz="1000" b="0" i="0">
                <a:solidFill>
                  <a:srgbClr val="64748B"/>
                </a:solidFill>
                <a:latin typeface="Segoe UI"/>
              </a:rPr>
              <a:t>POST /auth/logout revokes the refresh token server-side and clears the cookie.</a:t>
            </a:r>
          </a:p>
        </p:txBody>
      </p:sp>
      <p:sp>
        <p:nvSpPr>
          <p:cNvPr id="31" name="TextBox 30"/>
          <p:cNvSpPr txBox="1"/>
          <p:nvPr/>
        </p:nvSpPr>
        <p:spPr>
          <a:xfrm>
            <a:off x="658368" y="3968496"/>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WHAT PROTECTS IT</a:t>
            </a:r>
          </a:p>
        </p:txBody>
      </p:sp>
      <p:sp>
        <p:nvSpPr>
          <p:cNvPr id="32" name="Rectangle 31"/>
          <p:cNvSpPr/>
          <p:nvPr/>
        </p:nvSpPr>
        <p:spPr>
          <a:xfrm>
            <a:off x="658368" y="4261104"/>
            <a:ext cx="10874959" cy="38404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59536" y="4261104"/>
            <a:ext cx="1900671" cy="38404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Password storage</a:t>
            </a:r>
          </a:p>
        </p:txBody>
      </p:sp>
      <p:sp>
        <p:nvSpPr>
          <p:cNvPr id="34" name="TextBox 33"/>
          <p:cNvSpPr txBox="1"/>
          <p:nvPr/>
        </p:nvSpPr>
        <p:spPr>
          <a:xfrm>
            <a:off x="2924799" y="4261104"/>
            <a:ext cx="8425647" cy="38404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bcrypt hashes only — the hash never leaves the model layer and is stripped from every response.</a:t>
            </a:r>
          </a:p>
        </p:txBody>
      </p:sp>
      <p:sp>
        <p:nvSpPr>
          <p:cNvPr id="35" name="TextBox 34"/>
          <p:cNvSpPr txBox="1"/>
          <p:nvPr/>
        </p:nvSpPr>
        <p:spPr>
          <a:xfrm>
            <a:off x="859536" y="4645152"/>
            <a:ext cx="1900671" cy="38404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Token rotation</a:t>
            </a:r>
          </a:p>
        </p:txBody>
      </p:sp>
      <p:sp>
        <p:nvSpPr>
          <p:cNvPr id="36" name="TextBox 35"/>
          <p:cNvSpPr txBox="1"/>
          <p:nvPr/>
        </p:nvSpPr>
        <p:spPr>
          <a:xfrm>
            <a:off x="2924799" y="4645152"/>
            <a:ext cx="8425647" cy="38404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Refresh tokens are single-use and stored server-side, so a stolen cookie can be revoked.</a:t>
            </a:r>
          </a:p>
        </p:txBody>
      </p:sp>
      <p:sp>
        <p:nvSpPr>
          <p:cNvPr id="37" name="Rectangle 36"/>
          <p:cNvSpPr/>
          <p:nvPr/>
        </p:nvSpPr>
        <p:spPr>
          <a:xfrm>
            <a:off x="658368" y="5029200"/>
            <a:ext cx="10874959" cy="38404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59536" y="5029200"/>
            <a:ext cx="1900671" cy="38404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Rate limiting</a:t>
            </a:r>
          </a:p>
        </p:txBody>
      </p:sp>
      <p:sp>
        <p:nvSpPr>
          <p:cNvPr id="39" name="TextBox 38"/>
          <p:cNvSpPr txBox="1"/>
          <p:nvPr/>
        </p:nvSpPr>
        <p:spPr>
          <a:xfrm>
            <a:off x="2924799" y="5029200"/>
            <a:ext cx="8425647" cy="38404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Auth endpoints allow 20 attempts per IP per 15 minutes; the rest of the API allows 500.</a:t>
            </a:r>
          </a:p>
        </p:txBody>
      </p:sp>
      <p:sp>
        <p:nvSpPr>
          <p:cNvPr id="40" name="TextBox 39"/>
          <p:cNvSpPr txBox="1"/>
          <p:nvPr/>
        </p:nvSpPr>
        <p:spPr>
          <a:xfrm>
            <a:off x="859536" y="5413248"/>
            <a:ext cx="1900671" cy="38404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Role hierarchy</a:t>
            </a:r>
          </a:p>
        </p:txBody>
      </p:sp>
      <p:sp>
        <p:nvSpPr>
          <p:cNvPr id="41" name="TextBox 40"/>
          <p:cNvSpPr txBox="1"/>
          <p:nvPr/>
        </p:nvSpPr>
        <p:spPr>
          <a:xfrm>
            <a:off x="2924799" y="5413248"/>
            <a:ext cx="8425647" cy="38404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requireRole("engineer") admits engineers and admins — permissions are inherited, never duplicated.</a:t>
            </a:r>
          </a:p>
        </p:txBody>
      </p:sp>
      <p:sp>
        <p:nvSpPr>
          <p:cNvPr id="42" name="Rectangle 41"/>
          <p:cNvSpPr/>
          <p:nvPr/>
        </p:nvSpPr>
        <p:spPr>
          <a:xfrm>
            <a:off x="658368" y="5797296"/>
            <a:ext cx="10874959" cy="38404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59536" y="5797296"/>
            <a:ext cx="1900671" cy="38404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Org scoping</a:t>
            </a:r>
          </a:p>
        </p:txBody>
      </p:sp>
      <p:sp>
        <p:nvSpPr>
          <p:cNvPr id="44" name="TextBox 43"/>
          <p:cNvSpPr txBox="1"/>
          <p:nvPr/>
        </p:nvSpPr>
        <p:spPr>
          <a:xfrm>
            <a:off x="2924799" y="5797296"/>
            <a:ext cx="8425647" cy="38404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The organisation id comes from the verified token, never from the request body or query string.</a:t>
            </a:r>
          </a:p>
        </p:txBody>
      </p:sp>
      <p:sp>
        <p:nvSpPr>
          <p:cNvPr id="45" name="TextBox 44"/>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6" name="TextBox 45"/>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47" name="TextBox 46"/>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FLOW 02</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Building a flowsheet on the canvas</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The canvas is the heart of the product — a live drawing sheet, not a static diagram.</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841247" y="2194560"/>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1</a:t>
            </a:r>
          </a:p>
        </p:txBody>
      </p:sp>
      <p:sp>
        <p:nvSpPr>
          <p:cNvPr id="9" name="TextBox 8"/>
          <p:cNvSpPr txBox="1"/>
          <p:nvPr/>
        </p:nvSpPr>
        <p:spPr>
          <a:xfrm>
            <a:off x="1353312" y="2185415"/>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Drop a unit</a:t>
            </a:r>
          </a:p>
        </p:txBody>
      </p:sp>
      <p:sp>
        <p:nvSpPr>
          <p:cNvPr id="10" name="TextBox 9"/>
          <p:cNvSpPr txBox="1"/>
          <p:nvPr/>
        </p:nvSpPr>
        <p:spPr>
          <a:xfrm>
            <a:off x="1353312" y="24597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Pick from a palette of 26 unit operations grouped in nine categories. Each one arrives with sensible default parameters.</a:t>
            </a:r>
          </a:p>
        </p:txBody>
      </p:sp>
      <p:sp>
        <p:nvSpPr>
          <p:cNvPr id="11" name="Rounded Rectangle 10"/>
          <p:cNvSpPr/>
          <p:nvPr/>
        </p:nvSpPr>
        <p:spPr>
          <a:xfrm>
            <a:off x="6251295" y="2048255"/>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434175" y="2194560"/>
            <a:ext cx="365760" cy="365760"/>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2</a:t>
            </a:r>
          </a:p>
        </p:txBody>
      </p:sp>
      <p:sp>
        <p:nvSpPr>
          <p:cNvPr id="13" name="TextBox 12"/>
          <p:cNvSpPr txBox="1"/>
          <p:nvPr/>
        </p:nvSpPr>
        <p:spPr>
          <a:xfrm>
            <a:off x="6946239" y="2185415"/>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Wire the streams</a:t>
            </a:r>
          </a:p>
        </p:txBody>
      </p:sp>
      <p:sp>
        <p:nvSpPr>
          <p:cNvPr id="14" name="TextBox 13"/>
          <p:cNvSpPr txBox="1"/>
          <p:nvPr/>
        </p:nvSpPr>
        <p:spPr>
          <a:xfrm>
            <a:off x="6946239" y="24597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Connect outlet to inlet. An edge carries a stream role, so the solver knows a RAS line from a WAS line from a permeate line.</a:t>
            </a:r>
          </a:p>
        </p:txBody>
      </p:sp>
      <p:sp>
        <p:nvSpPr>
          <p:cNvPr id="15" name="Rounded Rectangle 14"/>
          <p:cNvSpPr/>
          <p:nvPr/>
        </p:nvSpPr>
        <p:spPr>
          <a:xfrm>
            <a:off x="658368" y="2953511"/>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841247" y="3099815"/>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3</a:t>
            </a:r>
          </a:p>
        </p:txBody>
      </p:sp>
      <p:sp>
        <p:nvSpPr>
          <p:cNvPr id="17" name="TextBox 16"/>
          <p:cNvSpPr txBox="1"/>
          <p:nvPr/>
        </p:nvSpPr>
        <p:spPr>
          <a:xfrm>
            <a:off x="1353312" y="3090671"/>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Tune parameters</a:t>
            </a:r>
          </a:p>
        </p:txBody>
      </p:sp>
      <p:sp>
        <p:nvSpPr>
          <p:cNvPr id="18" name="TextBox 17"/>
          <p:cNvSpPr txBox="1"/>
          <p:nvPr/>
        </p:nvSpPr>
        <p:spPr>
          <a:xfrm>
            <a:off x="1353312" y="3364991"/>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The parameter panel is generated from the unit model, so it only ever offers parameters the maths actually uses.</a:t>
            </a:r>
          </a:p>
        </p:txBody>
      </p:sp>
      <p:sp>
        <p:nvSpPr>
          <p:cNvPr id="19" name="Rounded Rectangle 18"/>
          <p:cNvSpPr/>
          <p:nvPr/>
        </p:nvSpPr>
        <p:spPr>
          <a:xfrm>
            <a:off x="6251295" y="2953511"/>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6434175" y="3099815"/>
            <a:ext cx="365760" cy="365760"/>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4</a:t>
            </a:r>
          </a:p>
        </p:txBody>
      </p:sp>
      <p:sp>
        <p:nvSpPr>
          <p:cNvPr id="21" name="TextBox 20"/>
          <p:cNvSpPr txBox="1"/>
          <p:nvPr/>
        </p:nvSpPr>
        <p:spPr>
          <a:xfrm>
            <a:off x="6946239" y="3090671"/>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Save automatically</a:t>
            </a:r>
          </a:p>
        </p:txBody>
      </p:sp>
      <p:sp>
        <p:nvSpPr>
          <p:cNvPr id="22" name="TextBox 21"/>
          <p:cNvSpPr txBox="1"/>
          <p:nvPr/>
        </p:nvSpPr>
        <p:spPr>
          <a:xfrm>
            <a:off x="6946239" y="3364991"/>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Three seconds after the last edit the canvas persists itself. Undo and redo are local and unlimited within a session.</a:t>
            </a:r>
          </a:p>
        </p:txBody>
      </p:sp>
      <p:sp>
        <p:nvSpPr>
          <p:cNvPr id="23" name="Rounded Rectangle 22"/>
          <p:cNvSpPr/>
          <p:nvPr/>
        </p:nvSpPr>
        <p:spPr>
          <a:xfrm>
            <a:off x="658368" y="3858768"/>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41247" y="4005072"/>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5</a:t>
            </a:r>
          </a:p>
        </p:txBody>
      </p:sp>
      <p:sp>
        <p:nvSpPr>
          <p:cNvPr id="25" name="TextBox 24"/>
          <p:cNvSpPr txBox="1"/>
          <p:nvPr/>
        </p:nvSpPr>
        <p:spPr>
          <a:xfrm>
            <a:off x="1353312" y="3995928"/>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Snapshot a version</a:t>
            </a:r>
          </a:p>
        </p:txBody>
      </p:sp>
      <p:sp>
        <p:nvSpPr>
          <p:cNvPr id="26" name="TextBox 25"/>
          <p:cNvSpPr txBox="1"/>
          <p:nvPr/>
        </p:nvSpPr>
        <p:spPr>
          <a:xfrm>
            <a:off x="1353312" y="4270248"/>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Freeze the current canvas as a read-only snapshot — the "as tendered" or "as built" copy that later edits can never disturb.</a:t>
            </a:r>
          </a:p>
        </p:txBody>
      </p:sp>
      <p:sp>
        <p:nvSpPr>
          <p:cNvPr id="27" name="Rounded Rectangle 26"/>
          <p:cNvSpPr/>
          <p:nvPr/>
        </p:nvSpPr>
        <p:spPr>
          <a:xfrm>
            <a:off x="6251295" y="3858768"/>
            <a:ext cx="5282031" cy="841248"/>
          </a:xfrm>
          <a:prstGeom prst="roundRect">
            <a:avLst>
              <a:gd name="adj" fmla="val 8000"/>
            </a:avLst>
          </a:prstGeom>
          <a:solidFill>
            <a:srgbClr val="062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89039" y="4005072"/>
            <a:ext cx="4824831" cy="274320"/>
          </a:xfrm>
          <a:prstGeom prst="rect">
            <a:avLst/>
          </a:prstGeom>
          <a:noFill/>
        </p:spPr>
        <p:txBody>
          <a:bodyPr wrap="square" lIns="0" rIns="0" tIns="0" bIns="0" anchor="t">
            <a:spAutoFit/>
          </a:bodyPr>
          <a:lstStyle/>
          <a:p>
            <a:pPr algn="l">
              <a:lnSpc>
                <a:spcPct val="115000"/>
              </a:lnSpc>
            </a:pPr>
            <a:r>
              <a:rPr sz="1000" b="1" i="0">
                <a:solidFill>
                  <a:srgbClr val="22B8D4"/>
                </a:solidFill>
                <a:latin typeface="Segoe UI"/>
              </a:rPr>
              <a:t>ALWAYS LIVE</a:t>
            </a:r>
          </a:p>
        </p:txBody>
      </p:sp>
      <p:sp>
        <p:nvSpPr>
          <p:cNvPr id="29" name="TextBox 28"/>
          <p:cNvSpPr txBox="1"/>
          <p:nvPr/>
        </p:nvSpPr>
        <p:spPr>
          <a:xfrm>
            <a:off x="6489039" y="4261104"/>
            <a:ext cx="4824831" cy="365760"/>
          </a:xfrm>
          <a:prstGeom prst="rect">
            <a:avLst/>
          </a:prstGeom>
          <a:noFill/>
        </p:spPr>
        <p:txBody>
          <a:bodyPr wrap="square" lIns="0" rIns="0" tIns="0" bIns="0" anchor="t">
            <a:spAutoFit/>
          </a:bodyPr>
          <a:lstStyle/>
          <a:p>
            <a:pPr algn="l">
              <a:lnSpc>
                <a:spcPct val="128000"/>
              </a:lnSpc>
            </a:pPr>
            <a:r>
              <a:rPr sz="1000" b="0" i="0">
                <a:solidFill>
                  <a:srgbClr val="B8D4E2"/>
                </a:solidFill>
                <a:latin typeface="Segoe UI"/>
              </a:rPr>
              <a:t>Symbols animate from real values, not decoration — flow, level and load drive the motion.</a:t>
            </a:r>
          </a:p>
        </p:txBody>
      </p:sp>
      <p:sp>
        <p:nvSpPr>
          <p:cNvPr id="30" name="TextBox 29"/>
          <p:cNvSpPr txBox="1"/>
          <p:nvPr/>
        </p:nvSpPr>
        <p:spPr>
          <a:xfrm>
            <a:off x="658368" y="4864608"/>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WHAT THE CANVAS GIVES YOU</a:t>
            </a:r>
          </a:p>
        </p:txBody>
      </p:sp>
      <p:sp>
        <p:nvSpPr>
          <p:cNvPr id="31" name="Rounded Rectangle 30"/>
          <p:cNvSpPr/>
          <p:nvPr/>
        </p:nvSpPr>
        <p:spPr>
          <a:xfrm>
            <a:off x="658368" y="5175504"/>
            <a:ext cx="2581579" cy="402336"/>
          </a:xfrm>
          <a:prstGeom prst="roundRect">
            <a:avLst>
              <a:gd name="adj" fmla="val 16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10000"/>
              </a:lnSpc>
            </a:pPr>
            <a:r>
              <a:rPr sz="1000" b="1">
                <a:solidFill>
                  <a:srgbClr val="0E7490"/>
                </a:solidFill>
                <a:latin typeface="Segoe UI"/>
              </a:rPr>
              <a:t>Live readouts on every node</a:t>
            </a:r>
          </a:p>
        </p:txBody>
      </p:sp>
      <p:sp>
        <p:nvSpPr>
          <p:cNvPr id="32" name="Rounded Rectangle 31"/>
          <p:cNvSpPr/>
          <p:nvPr/>
        </p:nvSpPr>
        <p:spPr>
          <a:xfrm>
            <a:off x="3422827" y="5175504"/>
            <a:ext cx="2581579" cy="402336"/>
          </a:xfrm>
          <a:prstGeom prst="roundRect">
            <a:avLst>
              <a:gd name="adj" fmla="val 16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10000"/>
              </a:lnSpc>
            </a:pPr>
            <a:r>
              <a:rPr sz="1000" b="1">
                <a:solidFill>
                  <a:srgbClr val="0E7490"/>
                </a:solidFill>
                <a:latin typeface="Segoe UI"/>
              </a:rPr>
              <a:t>Info tips on every parameter</a:t>
            </a:r>
          </a:p>
        </p:txBody>
      </p:sp>
      <p:sp>
        <p:nvSpPr>
          <p:cNvPr id="33" name="Rounded Rectangle 32"/>
          <p:cNvSpPr/>
          <p:nvPr/>
        </p:nvSpPr>
        <p:spPr>
          <a:xfrm>
            <a:off x="6187287" y="5175504"/>
            <a:ext cx="2581579" cy="402336"/>
          </a:xfrm>
          <a:prstGeom prst="roundRect">
            <a:avLst>
              <a:gd name="adj" fmla="val 16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10000"/>
              </a:lnSpc>
            </a:pPr>
            <a:r>
              <a:rPr sz="1000" b="1">
                <a:solidFill>
                  <a:srgbClr val="0E7490"/>
                </a:solidFill>
                <a:latin typeface="Segoe UI"/>
              </a:rPr>
              <a:t>Presence avatars &amp; remote cursors</a:t>
            </a:r>
          </a:p>
        </p:txBody>
      </p:sp>
      <p:sp>
        <p:nvSpPr>
          <p:cNvPr id="34" name="Rounded Rectangle 33"/>
          <p:cNvSpPr/>
          <p:nvPr/>
        </p:nvSpPr>
        <p:spPr>
          <a:xfrm>
            <a:off x="8951747" y="5175504"/>
            <a:ext cx="2581579" cy="402336"/>
          </a:xfrm>
          <a:prstGeom prst="roundRect">
            <a:avLst>
              <a:gd name="adj" fmla="val 16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10000"/>
              </a:lnSpc>
            </a:pPr>
            <a:r>
              <a:rPr sz="1000" b="1">
                <a:solidFill>
                  <a:srgbClr val="0E7490"/>
                </a:solidFill>
                <a:latin typeface="Segoe UI"/>
              </a:rPr>
              <a:t>Live charts dock</a:t>
            </a:r>
          </a:p>
        </p:txBody>
      </p:sp>
      <p:sp>
        <p:nvSpPr>
          <p:cNvPr id="35" name="Rounded Rectangle 34"/>
          <p:cNvSpPr/>
          <p:nvPr/>
        </p:nvSpPr>
        <p:spPr>
          <a:xfrm>
            <a:off x="658368" y="5650992"/>
            <a:ext cx="2581579" cy="402336"/>
          </a:xfrm>
          <a:prstGeom prst="roundRect">
            <a:avLst>
              <a:gd name="adj" fmla="val 16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10000"/>
              </a:lnSpc>
            </a:pPr>
            <a:r>
              <a:rPr sz="1000" b="1">
                <a:solidFill>
                  <a:srgbClr val="0E7490"/>
                </a:solidFill>
                <a:latin typeface="Segoe UI"/>
              </a:rPr>
              <a:t>Alarm bell with active count</a:t>
            </a:r>
          </a:p>
        </p:txBody>
      </p:sp>
      <p:sp>
        <p:nvSpPr>
          <p:cNvPr id="36" name="Rounded Rectangle 35"/>
          <p:cNvSpPr/>
          <p:nvPr/>
        </p:nvSpPr>
        <p:spPr>
          <a:xfrm>
            <a:off x="3422827" y="5650992"/>
            <a:ext cx="2581579" cy="402336"/>
          </a:xfrm>
          <a:prstGeom prst="roundRect">
            <a:avLst>
              <a:gd name="adj" fmla="val 16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10000"/>
              </a:lnSpc>
            </a:pPr>
            <a:r>
              <a:rPr sz="1000" b="1">
                <a:solidFill>
                  <a:srgbClr val="0E7490"/>
                </a:solidFill>
                <a:latin typeface="Segoe UI"/>
              </a:rPr>
              <a:t>Dev FPS overlay</a:t>
            </a:r>
          </a:p>
        </p:txBody>
      </p:sp>
      <p:sp>
        <p:nvSpPr>
          <p:cNvPr id="37" name="Rounded Rectangle 36"/>
          <p:cNvSpPr/>
          <p:nvPr/>
        </p:nvSpPr>
        <p:spPr>
          <a:xfrm>
            <a:off x="6187287" y="5650992"/>
            <a:ext cx="2581579" cy="402336"/>
          </a:xfrm>
          <a:prstGeom prst="roundRect">
            <a:avLst>
              <a:gd name="adj" fmla="val 16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10000"/>
              </a:lnSpc>
            </a:pPr>
            <a:r>
              <a:rPr sz="1000" b="1">
                <a:solidFill>
                  <a:srgbClr val="0E7490"/>
                </a:solidFill>
                <a:latin typeface="Segoe UI"/>
              </a:rPr>
              <a:t>Undo / redo history</a:t>
            </a:r>
          </a:p>
        </p:txBody>
      </p:sp>
      <p:sp>
        <p:nvSpPr>
          <p:cNvPr id="38" name="Rounded Rectangle 37"/>
          <p:cNvSpPr/>
          <p:nvPr/>
        </p:nvSpPr>
        <p:spPr>
          <a:xfrm>
            <a:off x="8951747" y="5650992"/>
            <a:ext cx="2581579" cy="402336"/>
          </a:xfrm>
          <a:prstGeom prst="roundRect">
            <a:avLst>
              <a:gd name="adj" fmla="val 16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10000"/>
              </a:lnSpc>
            </a:pPr>
            <a:r>
              <a:rPr sz="1000" b="1">
                <a:solidFill>
                  <a:srgbClr val="0E7490"/>
                </a:solidFill>
                <a:latin typeface="Segoe UI"/>
              </a:rPr>
              <a:t>Preview runs that are never saved</a:t>
            </a:r>
          </a:p>
        </p:txBody>
      </p:sp>
      <p:sp>
        <p:nvSpPr>
          <p:cNvPr id="39" name="TextBox 38"/>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0" name="TextBox 39"/>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41" name="TextBox 40"/>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THE LIBRARY</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Twenty-six unit operations, nine categories</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Each palette block maps to a process model that computes removal, sizing and energy.</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3466490" cy="1060704"/>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45720" cy="10607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7824" y="2176272"/>
            <a:ext cx="3055010" cy="237744"/>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Flow boundaries</a:t>
            </a:r>
          </a:p>
        </p:txBody>
      </p:sp>
      <p:sp>
        <p:nvSpPr>
          <p:cNvPr id="10" name="TextBox 9"/>
          <p:cNvSpPr txBox="1"/>
          <p:nvPr/>
        </p:nvSpPr>
        <p:spPr>
          <a:xfrm>
            <a:off x="877824" y="2450591"/>
            <a:ext cx="3055010" cy="621792"/>
          </a:xfrm>
          <a:prstGeom prst="rect">
            <a:avLst/>
          </a:prstGeom>
          <a:noFill/>
        </p:spPr>
        <p:txBody>
          <a:bodyPr wrap="square" lIns="0" rIns="0" tIns="0" bIns="0" anchor="t">
            <a:spAutoFit/>
          </a:bodyPr>
          <a:lstStyle/>
          <a:p>
            <a:pPr algn="l">
              <a:lnSpc>
                <a:spcPct val="130000"/>
              </a:lnSpc>
            </a:pPr>
            <a:r>
              <a:rPr sz="950" b="0" i="0">
                <a:solidFill>
                  <a:srgbClr val="64748B"/>
                </a:solidFill>
                <a:latin typeface="Segoe UI"/>
              </a:rPr>
              <a:t>Inlet (source)  ·  Outlet (discharge)</a:t>
            </a:r>
          </a:p>
        </p:txBody>
      </p:sp>
      <p:sp>
        <p:nvSpPr>
          <p:cNvPr id="11" name="Rounded Rectangle 10"/>
          <p:cNvSpPr/>
          <p:nvPr/>
        </p:nvSpPr>
        <p:spPr>
          <a:xfrm>
            <a:off x="4362602" y="2048255"/>
            <a:ext cx="3466490" cy="1060704"/>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62602" y="2048255"/>
            <a:ext cx="45720" cy="1060704"/>
          </a:xfrm>
          <a:prstGeom prst="rect">
            <a:avLst/>
          </a:prstGeom>
          <a:solidFill>
            <a:srgbClr val="0B3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82058" y="2176272"/>
            <a:ext cx="3055010" cy="237744"/>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Flow control</a:t>
            </a:r>
          </a:p>
        </p:txBody>
      </p:sp>
      <p:sp>
        <p:nvSpPr>
          <p:cNvPr id="14" name="TextBox 13"/>
          <p:cNvSpPr txBox="1"/>
          <p:nvPr/>
        </p:nvSpPr>
        <p:spPr>
          <a:xfrm>
            <a:off x="4582058" y="2450591"/>
            <a:ext cx="3055010" cy="621792"/>
          </a:xfrm>
          <a:prstGeom prst="rect">
            <a:avLst/>
          </a:prstGeom>
          <a:noFill/>
        </p:spPr>
        <p:txBody>
          <a:bodyPr wrap="square" lIns="0" rIns="0" tIns="0" bIns="0" anchor="t">
            <a:spAutoFit/>
          </a:bodyPr>
          <a:lstStyle/>
          <a:p>
            <a:pPr algn="l">
              <a:lnSpc>
                <a:spcPct val="130000"/>
              </a:lnSpc>
            </a:pPr>
            <a:r>
              <a:rPr sz="950" b="0" i="0">
                <a:solidFill>
                  <a:srgbClr val="64748B"/>
                </a:solidFill>
                <a:latin typeface="Segoe UI"/>
              </a:rPr>
              <a:t>Pump  ·  Valve</a:t>
            </a:r>
          </a:p>
        </p:txBody>
      </p:sp>
      <p:sp>
        <p:nvSpPr>
          <p:cNvPr id="15" name="Rounded Rectangle 14"/>
          <p:cNvSpPr/>
          <p:nvPr/>
        </p:nvSpPr>
        <p:spPr>
          <a:xfrm>
            <a:off x="8066836" y="2048255"/>
            <a:ext cx="3466490" cy="1060704"/>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66836" y="2048255"/>
            <a:ext cx="45720" cy="1060704"/>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86292" y="2176272"/>
            <a:ext cx="3055010" cy="237744"/>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Preliminary</a:t>
            </a:r>
          </a:p>
        </p:txBody>
      </p:sp>
      <p:sp>
        <p:nvSpPr>
          <p:cNvPr id="18" name="TextBox 17"/>
          <p:cNvSpPr txBox="1"/>
          <p:nvPr/>
        </p:nvSpPr>
        <p:spPr>
          <a:xfrm>
            <a:off x="8286292" y="2450591"/>
            <a:ext cx="3055010" cy="621792"/>
          </a:xfrm>
          <a:prstGeom prst="rect">
            <a:avLst/>
          </a:prstGeom>
          <a:noFill/>
        </p:spPr>
        <p:txBody>
          <a:bodyPr wrap="square" lIns="0" rIns="0" tIns="0" bIns="0" anchor="t">
            <a:spAutoFit/>
          </a:bodyPr>
          <a:lstStyle/>
          <a:p>
            <a:pPr algn="l">
              <a:lnSpc>
                <a:spcPct val="130000"/>
              </a:lnSpc>
            </a:pPr>
            <a:r>
              <a:rPr sz="950" b="0" i="0">
                <a:solidFill>
                  <a:srgbClr val="64748B"/>
                </a:solidFill>
                <a:latin typeface="Segoe UI"/>
              </a:rPr>
              <a:t>Screening  ·  Grit removal</a:t>
            </a:r>
          </a:p>
        </p:txBody>
      </p:sp>
      <p:sp>
        <p:nvSpPr>
          <p:cNvPr id="19" name="Rounded Rectangle 18"/>
          <p:cNvSpPr/>
          <p:nvPr/>
        </p:nvSpPr>
        <p:spPr>
          <a:xfrm>
            <a:off x="658368" y="3236976"/>
            <a:ext cx="3466490" cy="1060704"/>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3236976"/>
            <a:ext cx="45720" cy="1060704"/>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77824" y="3364992"/>
            <a:ext cx="3055010" cy="237744"/>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Primary</a:t>
            </a:r>
          </a:p>
        </p:txBody>
      </p:sp>
      <p:sp>
        <p:nvSpPr>
          <p:cNvPr id="22" name="TextBox 21"/>
          <p:cNvSpPr txBox="1"/>
          <p:nvPr/>
        </p:nvSpPr>
        <p:spPr>
          <a:xfrm>
            <a:off x="877824" y="3639312"/>
            <a:ext cx="3055010" cy="621792"/>
          </a:xfrm>
          <a:prstGeom prst="rect">
            <a:avLst/>
          </a:prstGeom>
          <a:noFill/>
        </p:spPr>
        <p:txBody>
          <a:bodyPr wrap="square" lIns="0" rIns="0" tIns="0" bIns="0" anchor="t">
            <a:spAutoFit/>
          </a:bodyPr>
          <a:lstStyle/>
          <a:p>
            <a:pPr algn="l">
              <a:lnSpc>
                <a:spcPct val="130000"/>
              </a:lnSpc>
            </a:pPr>
            <a:r>
              <a:rPr sz="950" b="0" i="0">
                <a:solidFill>
                  <a:srgbClr val="64748B"/>
                </a:solidFill>
                <a:latin typeface="Segoe UI"/>
              </a:rPr>
              <a:t>Primary clarifier</a:t>
            </a:r>
          </a:p>
        </p:txBody>
      </p:sp>
      <p:sp>
        <p:nvSpPr>
          <p:cNvPr id="23" name="Rounded Rectangle 22"/>
          <p:cNvSpPr/>
          <p:nvPr/>
        </p:nvSpPr>
        <p:spPr>
          <a:xfrm>
            <a:off x="4362602" y="3236976"/>
            <a:ext cx="3466490" cy="1060704"/>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62602" y="3236976"/>
            <a:ext cx="45720" cy="1060704"/>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582058" y="3364992"/>
            <a:ext cx="3055010" cy="237744"/>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Secondary (biological)</a:t>
            </a:r>
          </a:p>
        </p:txBody>
      </p:sp>
      <p:sp>
        <p:nvSpPr>
          <p:cNvPr id="26" name="TextBox 25"/>
          <p:cNvSpPr txBox="1"/>
          <p:nvPr/>
        </p:nvSpPr>
        <p:spPr>
          <a:xfrm>
            <a:off x="4582058" y="3639312"/>
            <a:ext cx="3055010" cy="621792"/>
          </a:xfrm>
          <a:prstGeom prst="rect">
            <a:avLst/>
          </a:prstGeom>
          <a:noFill/>
        </p:spPr>
        <p:txBody>
          <a:bodyPr wrap="square" lIns="0" rIns="0" tIns="0" bIns="0" anchor="t">
            <a:spAutoFit/>
          </a:bodyPr>
          <a:lstStyle/>
          <a:p>
            <a:pPr algn="l">
              <a:lnSpc>
                <a:spcPct val="130000"/>
              </a:lnSpc>
            </a:pPr>
            <a:r>
              <a:rPr sz="950" b="0" i="0">
                <a:solidFill>
                  <a:srgbClr val="64748B"/>
                </a:solidFill>
                <a:latin typeface="Segoe UI"/>
              </a:rPr>
              <a:t>Activated sludge  ·  Secondary clarifier  ·  Membrane bioreactor  ·  UCT reactor (EBPR)  ·  JHB reactor (EBPR)  ·  Anaerobic digester</a:t>
            </a:r>
          </a:p>
        </p:txBody>
      </p:sp>
      <p:sp>
        <p:nvSpPr>
          <p:cNvPr id="27" name="Rounded Rectangle 26"/>
          <p:cNvSpPr/>
          <p:nvPr/>
        </p:nvSpPr>
        <p:spPr>
          <a:xfrm>
            <a:off x="8066836" y="3236976"/>
            <a:ext cx="3466490" cy="1060704"/>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066836" y="3236976"/>
            <a:ext cx="45720" cy="1060704"/>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286292" y="3364992"/>
            <a:ext cx="3055010" cy="237744"/>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Tertiary</a:t>
            </a:r>
          </a:p>
        </p:txBody>
      </p:sp>
      <p:sp>
        <p:nvSpPr>
          <p:cNvPr id="30" name="TextBox 29"/>
          <p:cNvSpPr txBox="1"/>
          <p:nvPr/>
        </p:nvSpPr>
        <p:spPr>
          <a:xfrm>
            <a:off x="8286292" y="3639312"/>
            <a:ext cx="3055010" cy="621792"/>
          </a:xfrm>
          <a:prstGeom prst="rect">
            <a:avLst/>
          </a:prstGeom>
          <a:noFill/>
        </p:spPr>
        <p:txBody>
          <a:bodyPr wrap="square" lIns="0" rIns="0" tIns="0" bIns="0" anchor="t">
            <a:spAutoFit/>
          </a:bodyPr>
          <a:lstStyle/>
          <a:p>
            <a:pPr algn="l">
              <a:lnSpc>
                <a:spcPct val="130000"/>
              </a:lnSpc>
            </a:pPr>
            <a:r>
              <a:rPr sz="950" b="0" i="0">
                <a:solidFill>
                  <a:srgbClr val="64748B"/>
                </a:solidFill>
                <a:latin typeface="Segoe UI"/>
              </a:rPr>
              <a:t>UV disinfection  ·  Chlorination  ·  Granular filter</a:t>
            </a:r>
          </a:p>
        </p:txBody>
      </p:sp>
      <p:sp>
        <p:nvSpPr>
          <p:cNvPr id="31" name="Rounded Rectangle 30"/>
          <p:cNvSpPr/>
          <p:nvPr/>
        </p:nvSpPr>
        <p:spPr>
          <a:xfrm>
            <a:off x="658368" y="4425696"/>
            <a:ext cx="3466490" cy="1060704"/>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4425696"/>
            <a:ext cx="45720" cy="1060704"/>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77824" y="4553712"/>
            <a:ext cx="3055010" cy="237744"/>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Chemical dosing</a:t>
            </a:r>
          </a:p>
        </p:txBody>
      </p:sp>
      <p:sp>
        <p:nvSpPr>
          <p:cNvPr id="34" name="TextBox 33"/>
          <p:cNvSpPr txBox="1"/>
          <p:nvPr/>
        </p:nvSpPr>
        <p:spPr>
          <a:xfrm>
            <a:off x="877824" y="4828032"/>
            <a:ext cx="3055010" cy="621792"/>
          </a:xfrm>
          <a:prstGeom prst="rect">
            <a:avLst/>
          </a:prstGeom>
          <a:noFill/>
        </p:spPr>
        <p:txBody>
          <a:bodyPr wrap="square" lIns="0" rIns="0" tIns="0" bIns="0" anchor="t">
            <a:spAutoFit/>
          </a:bodyPr>
          <a:lstStyle/>
          <a:p>
            <a:pPr algn="l">
              <a:lnSpc>
                <a:spcPct val="130000"/>
              </a:lnSpc>
            </a:pPr>
            <a:r>
              <a:rPr sz="950" b="0" i="0">
                <a:solidFill>
                  <a:srgbClr val="64748B"/>
                </a:solidFill>
                <a:latin typeface="Segoe UI"/>
              </a:rPr>
              <a:t>Chemical dosing  ·  Coagulant  ·  Polymer  ·  pH adjustment</a:t>
            </a:r>
          </a:p>
        </p:txBody>
      </p:sp>
      <p:sp>
        <p:nvSpPr>
          <p:cNvPr id="35" name="Rounded Rectangle 34"/>
          <p:cNvSpPr/>
          <p:nvPr/>
        </p:nvSpPr>
        <p:spPr>
          <a:xfrm>
            <a:off x="4362602" y="4425696"/>
            <a:ext cx="3466490" cy="1060704"/>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362602" y="4425696"/>
            <a:ext cx="45720" cy="10607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4582058" y="4553712"/>
            <a:ext cx="3055010" cy="237744"/>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Water purification</a:t>
            </a:r>
          </a:p>
        </p:txBody>
      </p:sp>
      <p:sp>
        <p:nvSpPr>
          <p:cNvPr id="38" name="TextBox 37"/>
          <p:cNvSpPr txBox="1"/>
          <p:nvPr/>
        </p:nvSpPr>
        <p:spPr>
          <a:xfrm>
            <a:off x="4582058" y="4828032"/>
            <a:ext cx="3055010" cy="621792"/>
          </a:xfrm>
          <a:prstGeom prst="rect">
            <a:avLst/>
          </a:prstGeom>
          <a:noFill/>
        </p:spPr>
        <p:txBody>
          <a:bodyPr wrap="square" lIns="0" rIns="0" tIns="0" bIns="0" anchor="t">
            <a:spAutoFit/>
          </a:bodyPr>
          <a:lstStyle/>
          <a:p>
            <a:pPr algn="l">
              <a:lnSpc>
                <a:spcPct val="130000"/>
              </a:lnSpc>
            </a:pPr>
            <a:r>
              <a:rPr sz="950" b="0" i="0">
                <a:solidFill>
                  <a:srgbClr val="64748B"/>
                </a:solidFill>
                <a:latin typeface="Segoe UI"/>
              </a:rPr>
              <a:t>Coagulation / floc  ·  RO membrane  ·  UF membrane  ·  GAC adsorption</a:t>
            </a:r>
          </a:p>
        </p:txBody>
      </p:sp>
      <p:sp>
        <p:nvSpPr>
          <p:cNvPr id="39" name="Rounded Rectangle 38"/>
          <p:cNvSpPr/>
          <p:nvPr/>
        </p:nvSpPr>
        <p:spPr>
          <a:xfrm>
            <a:off x="8066836" y="4425696"/>
            <a:ext cx="3466490" cy="1060704"/>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8066836" y="4425696"/>
            <a:ext cx="45720" cy="1060704"/>
          </a:xfrm>
          <a:prstGeom prst="rect">
            <a:avLst/>
          </a:prstGeom>
          <a:solidFill>
            <a:srgbClr val="9AAB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286292" y="4553712"/>
            <a:ext cx="3055010" cy="237744"/>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Utilities</a:t>
            </a:r>
          </a:p>
        </p:txBody>
      </p:sp>
      <p:sp>
        <p:nvSpPr>
          <p:cNvPr id="42" name="TextBox 41"/>
          <p:cNvSpPr txBox="1"/>
          <p:nvPr/>
        </p:nvSpPr>
        <p:spPr>
          <a:xfrm>
            <a:off x="8286292" y="4828032"/>
            <a:ext cx="3055010" cy="621792"/>
          </a:xfrm>
          <a:prstGeom prst="rect">
            <a:avLst/>
          </a:prstGeom>
          <a:noFill/>
        </p:spPr>
        <p:txBody>
          <a:bodyPr wrap="square" lIns="0" rIns="0" tIns="0" bIns="0" anchor="t">
            <a:spAutoFit/>
          </a:bodyPr>
          <a:lstStyle/>
          <a:p>
            <a:pPr algn="l">
              <a:lnSpc>
                <a:spcPct val="130000"/>
              </a:lnSpc>
            </a:pPr>
            <a:r>
              <a:rPr sz="950" b="0" i="0">
                <a:solidFill>
                  <a:srgbClr val="64748B"/>
                </a:solidFill>
                <a:latin typeface="Segoe UI"/>
              </a:rPr>
              <a:t>Blower  ·  Storage tank</a:t>
            </a:r>
          </a:p>
        </p:txBody>
      </p:sp>
      <p:sp>
        <p:nvSpPr>
          <p:cNvPr id="43" name="Rounded Rectangle 42"/>
          <p:cNvSpPr/>
          <p:nvPr/>
        </p:nvSpPr>
        <p:spPr>
          <a:xfrm>
            <a:off x="658368" y="5669279"/>
            <a:ext cx="10874959" cy="640080"/>
          </a:xfrm>
          <a:prstGeom prst="roundRect">
            <a:avLst>
              <a:gd name="adj" fmla="val 15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32688" y="5669279"/>
            <a:ext cx="10326319" cy="640080"/>
          </a:xfrm>
          <a:prstGeom prst="rect">
            <a:avLst/>
          </a:prstGeom>
          <a:noFill/>
        </p:spPr>
        <p:txBody>
          <a:bodyPr wrap="square" lIns="0" rIns="0" tIns="0" bIns="0" anchor="ctr">
            <a:spAutoFit/>
          </a:bodyPr>
          <a:lstStyle/>
          <a:p>
            <a:pPr algn="l">
              <a:lnSpc>
                <a:spcPct val="115000"/>
              </a:lnSpc>
            </a:pPr>
            <a:r>
              <a:rPr sz="1050" b="0" i="0">
                <a:solidFill>
                  <a:srgbClr val="0E7490"/>
                </a:solidFill>
                <a:latin typeface="Segoe UI"/>
              </a:rPr>
              <a:t>Behind the 26 blocks sit 15 process models — several palette blocks share a model (the three EBPR reactors all use the aeration-basin model with different recycle wiring).</a:t>
            </a:r>
          </a:p>
        </p:txBody>
      </p:sp>
      <p:sp>
        <p:nvSpPr>
          <p:cNvPr id="45" name="TextBox 44"/>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6" name="TextBox 45"/>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47" name="TextBox 46"/>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FLOW 03</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Inside a simulation run</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What happens between pressing Run and seeing numbers on the canvas.</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1690573" cy="173736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804672" y="2194560"/>
            <a:ext cx="310896" cy="3108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1</a:t>
            </a:r>
          </a:p>
        </p:txBody>
      </p:sp>
      <p:sp>
        <p:nvSpPr>
          <p:cNvPr id="9" name="TextBox 8"/>
          <p:cNvSpPr txBox="1"/>
          <p:nvPr/>
        </p:nvSpPr>
        <p:spPr>
          <a:xfrm>
            <a:off x="804672" y="2578608"/>
            <a:ext cx="1397965" cy="274320"/>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Validate</a:t>
            </a:r>
          </a:p>
        </p:txBody>
      </p:sp>
      <p:sp>
        <p:nvSpPr>
          <p:cNvPr id="10" name="TextBox 9"/>
          <p:cNvSpPr txBox="1"/>
          <p:nvPr/>
        </p:nvSpPr>
        <p:spPr>
          <a:xfrm>
            <a:off x="804672" y="2871215"/>
            <a:ext cx="1397965" cy="86868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The request body is checked; oversized canvases are rejected before anything is created.</a:t>
            </a:r>
          </a:p>
        </p:txBody>
      </p:sp>
      <p:sp>
        <p:nvSpPr>
          <p:cNvPr id="11" name="Right Arrow 10"/>
          <p:cNvSpPr/>
          <p:nvPr/>
        </p:nvSpPr>
        <p:spPr>
          <a:xfrm>
            <a:off x="2353513" y="2825496"/>
            <a:ext cx="132588" cy="164592"/>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495245" y="2048255"/>
            <a:ext cx="1690573" cy="173736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2641549" y="2194560"/>
            <a:ext cx="310896" cy="3108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2</a:t>
            </a:r>
          </a:p>
        </p:txBody>
      </p:sp>
      <p:sp>
        <p:nvSpPr>
          <p:cNvPr id="14" name="TextBox 13"/>
          <p:cNvSpPr txBox="1"/>
          <p:nvPr/>
        </p:nvSpPr>
        <p:spPr>
          <a:xfrm>
            <a:off x="2641549" y="2578608"/>
            <a:ext cx="1397965" cy="274320"/>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Create the run</a:t>
            </a:r>
          </a:p>
        </p:txBody>
      </p:sp>
      <p:sp>
        <p:nvSpPr>
          <p:cNvPr id="15" name="TextBox 14"/>
          <p:cNvSpPr txBox="1"/>
          <p:nvPr/>
        </p:nvSpPr>
        <p:spPr>
          <a:xfrm>
            <a:off x="2641549" y="2871215"/>
            <a:ext cx="1397965" cy="86868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A simulation_runs row is inserted with status "running". Previews are never recorded.</a:t>
            </a:r>
          </a:p>
        </p:txBody>
      </p:sp>
      <p:sp>
        <p:nvSpPr>
          <p:cNvPr id="16" name="Right Arrow 15"/>
          <p:cNvSpPr/>
          <p:nvPr/>
        </p:nvSpPr>
        <p:spPr>
          <a:xfrm>
            <a:off x="4190390" y="2825496"/>
            <a:ext cx="132588" cy="164592"/>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4332122" y="2048255"/>
            <a:ext cx="1690573" cy="173736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478426" y="2194560"/>
            <a:ext cx="310896" cy="3108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3</a:t>
            </a:r>
          </a:p>
        </p:txBody>
      </p:sp>
      <p:sp>
        <p:nvSpPr>
          <p:cNvPr id="19" name="TextBox 18"/>
          <p:cNvSpPr txBox="1"/>
          <p:nvPr/>
        </p:nvSpPr>
        <p:spPr>
          <a:xfrm>
            <a:off x="4478426" y="2578608"/>
            <a:ext cx="1397965" cy="274320"/>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Resolve inputs</a:t>
            </a:r>
          </a:p>
        </p:txBody>
      </p:sp>
      <p:sp>
        <p:nvSpPr>
          <p:cNvPr id="20" name="TextBox 19"/>
          <p:cNvSpPr txBox="1"/>
          <p:nvPr/>
        </p:nvSpPr>
        <p:spPr>
          <a:xfrm>
            <a:off x="4478426" y="2871215"/>
            <a:ext cx="1397965" cy="86868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Node parameters, project cost overrides and the active permit template are merged.</a:t>
            </a:r>
          </a:p>
        </p:txBody>
      </p:sp>
      <p:sp>
        <p:nvSpPr>
          <p:cNvPr id="21" name="Right Arrow 20"/>
          <p:cNvSpPr/>
          <p:nvPr/>
        </p:nvSpPr>
        <p:spPr>
          <a:xfrm>
            <a:off x="6027267" y="2825496"/>
            <a:ext cx="132588" cy="164592"/>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68999" y="2048255"/>
            <a:ext cx="1690573" cy="173736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315303" y="2194560"/>
            <a:ext cx="310896" cy="3108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4</a:t>
            </a:r>
          </a:p>
        </p:txBody>
      </p:sp>
      <p:sp>
        <p:nvSpPr>
          <p:cNvPr id="24" name="TextBox 23"/>
          <p:cNvSpPr txBox="1"/>
          <p:nvPr/>
        </p:nvSpPr>
        <p:spPr>
          <a:xfrm>
            <a:off x="6315303" y="2578608"/>
            <a:ext cx="1397965" cy="274320"/>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Solve</a:t>
            </a:r>
          </a:p>
        </p:txBody>
      </p:sp>
      <p:sp>
        <p:nvSpPr>
          <p:cNvPr id="25" name="TextBox 24"/>
          <p:cNvSpPr txBox="1"/>
          <p:nvPr/>
        </p:nvSpPr>
        <p:spPr>
          <a:xfrm>
            <a:off x="6315303" y="2871215"/>
            <a:ext cx="1397965" cy="86868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A worker thread runs the solver: max 4 concurrent, 60-second limit, FIFO queue.</a:t>
            </a:r>
          </a:p>
        </p:txBody>
      </p:sp>
      <p:sp>
        <p:nvSpPr>
          <p:cNvPr id="26" name="Right Arrow 25"/>
          <p:cNvSpPr/>
          <p:nvPr/>
        </p:nvSpPr>
        <p:spPr>
          <a:xfrm>
            <a:off x="7864144" y="2825496"/>
            <a:ext cx="132588" cy="164592"/>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8005876" y="2048255"/>
            <a:ext cx="1690573" cy="173736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8152180" y="2194560"/>
            <a:ext cx="310896" cy="3108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5</a:t>
            </a:r>
          </a:p>
        </p:txBody>
      </p:sp>
      <p:sp>
        <p:nvSpPr>
          <p:cNvPr id="29" name="TextBox 28"/>
          <p:cNvSpPr txBox="1"/>
          <p:nvPr/>
        </p:nvSpPr>
        <p:spPr>
          <a:xfrm>
            <a:off x="8152180" y="2578608"/>
            <a:ext cx="1397965" cy="274320"/>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Cost &amp; comply</a:t>
            </a:r>
          </a:p>
        </p:txBody>
      </p:sp>
      <p:sp>
        <p:nvSpPr>
          <p:cNvPr id="30" name="TextBox 29"/>
          <p:cNvSpPr txBox="1"/>
          <p:nvPr/>
        </p:nvSpPr>
        <p:spPr>
          <a:xfrm>
            <a:off x="8152180" y="2871215"/>
            <a:ext cx="1397965" cy="86868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Steady-state results are priced, then scored against the permit limits — pass or fail.</a:t>
            </a:r>
          </a:p>
        </p:txBody>
      </p:sp>
      <p:sp>
        <p:nvSpPr>
          <p:cNvPr id="31" name="Right Arrow 30"/>
          <p:cNvSpPr/>
          <p:nvPr/>
        </p:nvSpPr>
        <p:spPr>
          <a:xfrm>
            <a:off x="9701022" y="2825496"/>
            <a:ext cx="132588" cy="164592"/>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842754" y="2048255"/>
            <a:ext cx="1690573" cy="173736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9989058" y="2194560"/>
            <a:ext cx="310896" cy="3108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6</a:t>
            </a:r>
          </a:p>
        </p:txBody>
      </p:sp>
      <p:sp>
        <p:nvSpPr>
          <p:cNvPr id="34" name="TextBox 33"/>
          <p:cNvSpPr txBox="1"/>
          <p:nvPr/>
        </p:nvSpPr>
        <p:spPr>
          <a:xfrm>
            <a:off x="9989058" y="2578608"/>
            <a:ext cx="1397965" cy="274320"/>
          </a:xfrm>
          <a:prstGeom prst="rect">
            <a:avLst/>
          </a:prstGeom>
          <a:noFill/>
        </p:spPr>
        <p:txBody>
          <a:bodyPr wrap="square" lIns="0" rIns="0" tIns="0" bIns="0" anchor="t">
            <a:spAutoFit/>
          </a:bodyPr>
          <a:lstStyle/>
          <a:p>
            <a:pPr algn="l">
              <a:lnSpc>
                <a:spcPct val="115000"/>
              </a:lnSpc>
            </a:pPr>
            <a:r>
              <a:rPr sz="1150" b="1" i="0">
                <a:solidFill>
                  <a:srgbClr val="062438"/>
                </a:solidFill>
                <a:latin typeface="Segoe UI"/>
              </a:rPr>
              <a:t>Persist &amp; return</a:t>
            </a:r>
          </a:p>
        </p:txBody>
      </p:sp>
      <p:sp>
        <p:nvSpPr>
          <p:cNvPr id="35" name="TextBox 34"/>
          <p:cNvSpPr txBox="1"/>
          <p:nvPr/>
        </p:nvSpPr>
        <p:spPr>
          <a:xfrm>
            <a:off x="9989058" y="2871215"/>
            <a:ext cx="1397965" cy="86868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Results, costs, warnings and quality flags are stored and streamed to co-editors.</a:t>
            </a:r>
          </a:p>
        </p:txBody>
      </p:sp>
      <p:sp>
        <p:nvSpPr>
          <p:cNvPr id="36" name="TextBox 35"/>
          <p:cNvSpPr txBox="1"/>
          <p:nvPr/>
        </p:nvSpPr>
        <p:spPr>
          <a:xfrm>
            <a:off x="658368" y="4023360"/>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THREE WAYS TO RUN IT</a:t>
            </a:r>
          </a:p>
        </p:txBody>
      </p:sp>
      <p:sp>
        <p:nvSpPr>
          <p:cNvPr id="37" name="Rounded Rectangle 36"/>
          <p:cNvSpPr/>
          <p:nvPr/>
        </p:nvSpPr>
        <p:spPr>
          <a:xfrm>
            <a:off x="658368" y="4315968"/>
            <a:ext cx="3454298" cy="1170432"/>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58368" y="4315968"/>
            <a:ext cx="45720" cy="117043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14400" y="4498848"/>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Steady state</a:t>
            </a:r>
          </a:p>
        </p:txBody>
      </p:sp>
      <p:sp>
        <p:nvSpPr>
          <p:cNvPr id="40" name="TextBox 39"/>
          <p:cNvSpPr txBox="1"/>
          <p:nvPr/>
        </p:nvSpPr>
        <p:spPr>
          <a:xfrm>
            <a:off x="914400" y="4828032"/>
            <a:ext cx="2997098" cy="530351"/>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One converged operating point. Full cost breakdown and permit compliance. This is the default and the basis of every report.</a:t>
            </a:r>
          </a:p>
        </p:txBody>
      </p:sp>
      <p:sp>
        <p:nvSpPr>
          <p:cNvPr id="41" name="Rounded Rectangle 40"/>
          <p:cNvSpPr/>
          <p:nvPr/>
        </p:nvSpPr>
        <p:spPr>
          <a:xfrm>
            <a:off x="4368698" y="4315968"/>
            <a:ext cx="3454298" cy="1170432"/>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368698" y="4315968"/>
            <a:ext cx="45720" cy="1170432"/>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624730" y="4498848"/>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Dynamic</a:t>
            </a:r>
          </a:p>
        </p:txBody>
      </p:sp>
      <p:sp>
        <p:nvSpPr>
          <p:cNvPr id="44" name="TextBox 43"/>
          <p:cNvSpPr txBox="1"/>
          <p:nvPr/>
        </p:nvSpPr>
        <p:spPr>
          <a:xfrm>
            <a:off x="4624730" y="4828032"/>
            <a:ext cx="2997098" cy="530351"/>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The steady-state solver stepped through a 24-hour diurnal profile — flow and load scaled hour by hour, appropriate for slow biological processes.</a:t>
            </a:r>
          </a:p>
        </p:txBody>
      </p:sp>
      <p:sp>
        <p:nvSpPr>
          <p:cNvPr id="45" name="Rounded Rectangle 44"/>
          <p:cNvSpPr/>
          <p:nvPr/>
        </p:nvSpPr>
        <p:spPr>
          <a:xfrm>
            <a:off x="8079028" y="4315968"/>
            <a:ext cx="3454298" cy="1170432"/>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8079028" y="4315968"/>
            <a:ext cx="45720" cy="1170432"/>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335060" y="4498848"/>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Batch</a:t>
            </a:r>
          </a:p>
        </p:txBody>
      </p:sp>
      <p:sp>
        <p:nvSpPr>
          <p:cNvPr id="48" name="TextBox 47"/>
          <p:cNvSpPr txBox="1"/>
          <p:nvPr/>
        </p:nvSpPr>
        <p:spPr>
          <a:xfrm>
            <a:off x="8335060" y="4828032"/>
            <a:ext cx="2997098" cy="530351"/>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A parameter sweep: the same flowsheet solved repeatedly across a range of inputs, recorded as a single run for comparison.</a:t>
            </a:r>
          </a:p>
        </p:txBody>
      </p:sp>
      <p:sp>
        <p:nvSpPr>
          <p:cNvPr id="49" name="Rounded Rectangle 48"/>
          <p:cNvSpPr/>
          <p:nvPr/>
        </p:nvSpPr>
        <p:spPr>
          <a:xfrm>
            <a:off x="658368" y="5632704"/>
            <a:ext cx="10874959" cy="512064"/>
          </a:xfrm>
          <a:prstGeom prst="roundRect">
            <a:avLst>
              <a:gd name="adj" fmla="val 16000"/>
            </a:avLst>
          </a:prstGeom>
          <a:solidFill>
            <a:srgbClr val="062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32688" y="5632704"/>
            <a:ext cx="10326319" cy="512064"/>
          </a:xfrm>
          <a:prstGeom prst="rect">
            <a:avLst/>
          </a:prstGeom>
          <a:noFill/>
        </p:spPr>
        <p:txBody>
          <a:bodyPr wrap="square" lIns="0" rIns="0" tIns="0" bIns="0" anchor="ctr">
            <a:spAutoFit/>
          </a:bodyPr>
          <a:lstStyle/>
          <a:p>
            <a:pPr algn="l">
              <a:lnSpc>
                <a:spcPct val="115000"/>
              </a:lnSpc>
            </a:pPr>
            <a:r>
              <a:rPr sz="1100" b="0" i="0">
                <a:solidFill>
                  <a:srgbClr val="FFFFFF"/>
                </a:solidFill>
                <a:latin typeface="Segoe UI"/>
              </a:rPr>
              <a:t>Safety net: a background reaper marks any run still "running" after 15 minutes as failed, so a crashed process can never leave a run hanging forever.</a:t>
            </a:r>
          </a:p>
        </p:txBody>
      </p:sp>
      <p:sp>
        <p:nvSpPr>
          <p:cNvPr id="51" name="TextBox 50"/>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52" name="TextBox 51"/>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53" name="TextBox 52"/>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FLOW 04</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How the solver works</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A flowsheet is a directed graph. Solving it is a topological walk — until a recycle loop makes that impossible.</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5291175" cy="1133856"/>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45720" cy="113385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231136"/>
            <a:ext cx="4833975"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Order the graph</a:t>
            </a:r>
          </a:p>
        </p:txBody>
      </p:sp>
      <p:sp>
        <p:nvSpPr>
          <p:cNvPr id="10" name="TextBox 9"/>
          <p:cNvSpPr txBox="1"/>
          <p:nvPr/>
        </p:nvSpPr>
        <p:spPr>
          <a:xfrm>
            <a:off x="914400" y="2560320"/>
            <a:ext cx="4833975" cy="493775"/>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Kahn's algorithm orders units by in-degree, so every unit is solved only after its feeds are known. Branch-and-merge networks solve in a single pass.</a:t>
            </a:r>
          </a:p>
        </p:txBody>
      </p:sp>
      <p:sp>
        <p:nvSpPr>
          <p:cNvPr id="11" name="Rounded Rectangle 10"/>
          <p:cNvSpPr/>
          <p:nvPr/>
        </p:nvSpPr>
        <p:spPr>
          <a:xfrm>
            <a:off x="6242151" y="2048255"/>
            <a:ext cx="5291175" cy="1133856"/>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42151" y="2048255"/>
            <a:ext cx="45720" cy="1133856"/>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98183" y="2231136"/>
            <a:ext cx="4833975"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Find the real loops</a:t>
            </a:r>
          </a:p>
        </p:txBody>
      </p:sp>
      <p:sp>
        <p:nvSpPr>
          <p:cNvPr id="14" name="TextBox 13"/>
          <p:cNvSpPr txBox="1"/>
          <p:nvPr/>
        </p:nvSpPr>
        <p:spPr>
          <a:xfrm>
            <a:off x="6498183" y="2560320"/>
            <a:ext cx="4833975" cy="493775"/>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Cycles are detected structurally. Only edges genuinely inside a cycle are torn — a feed-forward split-and-rejoin is never mistaken for a recycle.</a:t>
            </a:r>
          </a:p>
        </p:txBody>
      </p:sp>
      <p:sp>
        <p:nvSpPr>
          <p:cNvPr id="15" name="Rounded Rectangle 14"/>
          <p:cNvSpPr/>
          <p:nvPr/>
        </p:nvSpPr>
        <p:spPr>
          <a:xfrm>
            <a:off x="658368" y="3291839"/>
            <a:ext cx="5291175" cy="1133856"/>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3291839"/>
            <a:ext cx="45720" cy="1133856"/>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3474720"/>
            <a:ext cx="4833975"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Iterate to convergence</a:t>
            </a:r>
          </a:p>
        </p:txBody>
      </p:sp>
      <p:sp>
        <p:nvSpPr>
          <p:cNvPr id="18" name="TextBox 17"/>
          <p:cNvSpPr txBox="1"/>
          <p:nvPr/>
        </p:nvSpPr>
        <p:spPr>
          <a:xfrm>
            <a:off x="914400" y="3803904"/>
            <a:ext cx="4833975" cy="493775"/>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Torn RAS and WAS streams are solved by fixed-point iteration: up to 50 passes, tolerance 1e-4, with 0.5 relaxation damping when it starts to oscillate.</a:t>
            </a:r>
          </a:p>
        </p:txBody>
      </p:sp>
      <p:sp>
        <p:nvSpPr>
          <p:cNvPr id="19" name="Rounded Rectangle 18"/>
          <p:cNvSpPr/>
          <p:nvPr/>
        </p:nvSpPr>
        <p:spPr>
          <a:xfrm>
            <a:off x="6242151" y="3291839"/>
            <a:ext cx="5291175" cy="1133856"/>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42151" y="3291839"/>
            <a:ext cx="45720" cy="1133856"/>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98183" y="3474720"/>
            <a:ext cx="4833975"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Report honestly</a:t>
            </a:r>
          </a:p>
        </p:txBody>
      </p:sp>
      <p:sp>
        <p:nvSpPr>
          <p:cNvPr id="22" name="TextBox 21"/>
          <p:cNvSpPr txBox="1"/>
          <p:nvPr/>
        </p:nvSpPr>
        <p:spPr>
          <a:xfrm>
            <a:off x="6498183" y="3803904"/>
            <a:ext cx="4833975" cy="493775"/>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Unrouted side streams are warned about, not silently dropped. Non-finite values are swept to null and flag the run degraded.</a:t>
            </a:r>
          </a:p>
        </p:txBody>
      </p:sp>
      <p:sp>
        <p:nvSpPr>
          <p:cNvPr id="23" name="TextBox 22"/>
          <p:cNvSpPr txBox="1"/>
          <p:nvPr/>
        </p:nvSpPr>
        <p:spPr>
          <a:xfrm>
            <a:off x="658368" y="4626864"/>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WHAT EVERY RESULT CARRIES</a:t>
            </a:r>
          </a:p>
        </p:txBody>
      </p:sp>
      <p:sp>
        <p:nvSpPr>
          <p:cNvPr id="24" name="Rounded Rectangle 23"/>
          <p:cNvSpPr/>
          <p:nvPr/>
        </p:nvSpPr>
        <p:spPr>
          <a:xfrm>
            <a:off x="658368" y="4937759"/>
            <a:ext cx="2028687" cy="786384"/>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04672" y="5029200"/>
            <a:ext cx="1736079" cy="237744"/>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converged</a:t>
            </a:r>
          </a:p>
        </p:txBody>
      </p:sp>
      <p:sp>
        <p:nvSpPr>
          <p:cNvPr id="26" name="TextBox 25"/>
          <p:cNvSpPr txBox="1"/>
          <p:nvPr/>
        </p:nvSpPr>
        <p:spPr>
          <a:xfrm>
            <a:off x="804672" y="5266944"/>
            <a:ext cx="1736079" cy="457200"/>
          </a:xfrm>
          <a:prstGeom prst="rect">
            <a:avLst/>
          </a:prstGeom>
          <a:noFill/>
        </p:spPr>
        <p:txBody>
          <a:bodyPr wrap="square" lIns="0" rIns="0" tIns="0" bIns="0" anchor="t">
            <a:spAutoFit/>
          </a:bodyPr>
          <a:lstStyle/>
          <a:p>
            <a:pPr algn="l">
              <a:lnSpc>
                <a:spcPct val="125000"/>
              </a:lnSpc>
            </a:pPr>
            <a:r>
              <a:rPr sz="950" b="0" i="0">
                <a:solidFill>
                  <a:srgbClr val="64748B"/>
                </a:solidFill>
                <a:latin typeface="Segoe UI"/>
              </a:rPr>
              <a:t>Did the fixed-point iteration reach tolerance?</a:t>
            </a:r>
          </a:p>
        </p:txBody>
      </p:sp>
      <p:sp>
        <p:nvSpPr>
          <p:cNvPr id="27" name="Rounded Rectangle 26"/>
          <p:cNvSpPr/>
          <p:nvPr/>
        </p:nvSpPr>
        <p:spPr>
          <a:xfrm>
            <a:off x="2869935" y="4937759"/>
            <a:ext cx="2028687" cy="786384"/>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016239" y="5029200"/>
            <a:ext cx="1736079" cy="237744"/>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iterations</a:t>
            </a:r>
          </a:p>
        </p:txBody>
      </p:sp>
      <p:sp>
        <p:nvSpPr>
          <p:cNvPr id="29" name="TextBox 28"/>
          <p:cNvSpPr txBox="1"/>
          <p:nvPr/>
        </p:nvSpPr>
        <p:spPr>
          <a:xfrm>
            <a:off x="3016239" y="5266944"/>
            <a:ext cx="1736079" cy="457200"/>
          </a:xfrm>
          <a:prstGeom prst="rect">
            <a:avLst/>
          </a:prstGeom>
          <a:noFill/>
        </p:spPr>
        <p:txBody>
          <a:bodyPr wrap="square" lIns="0" rIns="0" tIns="0" bIns="0" anchor="t">
            <a:spAutoFit/>
          </a:bodyPr>
          <a:lstStyle/>
          <a:p>
            <a:pPr algn="l">
              <a:lnSpc>
                <a:spcPct val="125000"/>
              </a:lnSpc>
            </a:pPr>
            <a:r>
              <a:rPr sz="950" b="0" i="0">
                <a:solidFill>
                  <a:srgbClr val="64748B"/>
                </a:solidFill>
                <a:latin typeface="Segoe UI"/>
              </a:rPr>
              <a:t>How many passes it took.</a:t>
            </a:r>
          </a:p>
        </p:txBody>
      </p:sp>
      <p:sp>
        <p:nvSpPr>
          <p:cNvPr id="30" name="Rounded Rectangle 29"/>
          <p:cNvSpPr/>
          <p:nvPr/>
        </p:nvSpPr>
        <p:spPr>
          <a:xfrm>
            <a:off x="5081503" y="4937759"/>
            <a:ext cx="2028687" cy="786384"/>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227807" y="5029200"/>
            <a:ext cx="1736079" cy="237744"/>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maxResidual</a:t>
            </a:r>
          </a:p>
        </p:txBody>
      </p:sp>
      <p:sp>
        <p:nvSpPr>
          <p:cNvPr id="32" name="TextBox 31"/>
          <p:cNvSpPr txBox="1"/>
          <p:nvPr/>
        </p:nvSpPr>
        <p:spPr>
          <a:xfrm>
            <a:off x="5227807" y="5266944"/>
            <a:ext cx="1736079" cy="457200"/>
          </a:xfrm>
          <a:prstGeom prst="rect">
            <a:avLst/>
          </a:prstGeom>
          <a:noFill/>
        </p:spPr>
        <p:txBody>
          <a:bodyPr wrap="square" lIns="0" rIns="0" tIns="0" bIns="0" anchor="t">
            <a:spAutoFit/>
          </a:bodyPr>
          <a:lstStyle/>
          <a:p>
            <a:pPr algn="l">
              <a:lnSpc>
                <a:spcPct val="125000"/>
              </a:lnSpc>
            </a:pPr>
            <a:r>
              <a:rPr sz="950" b="0" i="0">
                <a:solidFill>
                  <a:srgbClr val="64748B"/>
                </a:solidFill>
                <a:latin typeface="Segoe UI"/>
              </a:rPr>
              <a:t>The largest remaining imbalance.</a:t>
            </a:r>
          </a:p>
        </p:txBody>
      </p:sp>
      <p:sp>
        <p:nvSpPr>
          <p:cNvPr id="33" name="Rounded Rectangle 32"/>
          <p:cNvSpPr/>
          <p:nvPr/>
        </p:nvSpPr>
        <p:spPr>
          <a:xfrm>
            <a:off x="7293071" y="4937759"/>
            <a:ext cx="2028687" cy="786384"/>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439375" y="5029200"/>
            <a:ext cx="1736079" cy="237744"/>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degraded</a:t>
            </a:r>
          </a:p>
        </p:txBody>
      </p:sp>
      <p:sp>
        <p:nvSpPr>
          <p:cNvPr id="35" name="TextBox 34"/>
          <p:cNvSpPr txBox="1"/>
          <p:nvPr/>
        </p:nvSpPr>
        <p:spPr>
          <a:xfrm>
            <a:off x="7439375" y="5266944"/>
            <a:ext cx="1736079" cy="457200"/>
          </a:xfrm>
          <a:prstGeom prst="rect">
            <a:avLst/>
          </a:prstGeom>
          <a:noFill/>
        </p:spPr>
        <p:txBody>
          <a:bodyPr wrap="square" lIns="0" rIns="0" tIns="0" bIns="0" anchor="t">
            <a:spAutoFit/>
          </a:bodyPr>
          <a:lstStyle/>
          <a:p>
            <a:pPr algn="l">
              <a:lnSpc>
                <a:spcPct val="125000"/>
              </a:lnSpc>
            </a:pPr>
            <a:r>
              <a:rPr sz="950" b="0" i="0">
                <a:solidFill>
                  <a:srgbClr val="64748B"/>
                </a:solidFill>
                <a:latin typeface="Segoe UI"/>
              </a:rPr>
              <a:t>Were any values unusable?</a:t>
            </a:r>
          </a:p>
        </p:txBody>
      </p:sp>
      <p:sp>
        <p:nvSpPr>
          <p:cNvPr id="36" name="Rounded Rectangle 35"/>
          <p:cNvSpPr/>
          <p:nvPr/>
        </p:nvSpPr>
        <p:spPr>
          <a:xfrm>
            <a:off x="9504639" y="4937759"/>
            <a:ext cx="2028687" cy="786384"/>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650943" y="5029200"/>
            <a:ext cx="1736079" cy="237744"/>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warnings[]</a:t>
            </a:r>
          </a:p>
        </p:txBody>
      </p:sp>
      <p:sp>
        <p:nvSpPr>
          <p:cNvPr id="38" name="TextBox 37"/>
          <p:cNvSpPr txBox="1"/>
          <p:nvPr/>
        </p:nvSpPr>
        <p:spPr>
          <a:xfrm>
            <a:off x="9650943" y="5266944"/>
            <a:ext cx="1736079" cy="457200"/>
          </a:xfrm>
          <a:prstGeom prst="rect">
            <a:avLst/>
          </a:prstGeom>
          <a:noFill/>
        </p:spPr>
        <p:txBody>
          <a:bodyPr wrap="square" lIns="0" rIns="0" tIns="0" bIns="0" anchor="t">
            <a:spAutoFit/>
          </a:bodyPr>
          <a:lstStyle/>
          <a:p>
            <a:pPr algn="l">
              <a:lnSpc>
                <a:spcPct val="125000"/>
              </a:lnSpc>
            </a:pPr>
            <a:r>
              <a:rPr sz="950" b="0" i="0">
                <a:solidFill>
                  <a:srgbClr val="64748B"/>
                </a:solidFill>
                <a:latin typeface="Segoe UI"/>
              </a:rPr>
              <a:t>Everything the engine wants you to know.</a:t>
            </a:r>
          </a:p>
        </p:txBody>
      </p:sp>
      <p:sp>
        <p:nvSpPr>
          <p:cNvPr id="39" name="Rounded Rectangle 38"/>
          <p:cNvSpPr/>
          <p:nvPr/>
        </p:nvSpPr>
        <p:spPr>
          <a:xfrm>
            <a:off x="658368" y="5852159"/>
            <a:ext cx="10874959" cy="475488"/>
          </a:xfrm>
          <a:prstGeom prst="roundRect">
            <a:avLst>
              <a:gd name="adj" fmla="val 16000"/>
            </a:avLst>
          </a:prstGeom>
          <a:solidFill>
            <a:srgbClr val="062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32688" y="5852159"/>
            <a:ext cx="10326319" cy="475488"/>
          </a:xfrm>
          <a:prstGeom prst="rect">
            <a:avLst/>
          </a:prstGeom>
          <a:noFill/>
        </p:spPr>
        <p:txBody>
          <a:bodyPr wrap="square" lIns="0" rIns="0" tIns="0" bIns="0" anchor="ctr">
            <a:spAutoFit/>
          </a:bodyPr>
          <a:lstStyle/>
          <a:p>
            <a:pPr algn="l">
              <a:lnSpc>
                <a:spcPct val="115000"/>
              </a:lnSpc>
            </a:pPr>
            <a:r>
              <a:rPr sz="1150" b="1" i="0">
                <a:solidFill>
                  <a:srgbClr val="FFFFFF"/>
                </a:solidFill>
                <a:latin typeface="Segoe UI"/>
              </a:rPr>
              <a:t>The design principle: the engine would rather tell you it is unsure than quietly hand you a confident wrong number.</a:t>
            </a:r>
          </a:p>
        </p:txBody>
      </p:sp>
      <p:sp>
        <p:nvSpPr>
          <p:cNvPr id="41" name="TextBox 40"/>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2" name="TextBox 41"/>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43" name="TextBox 42"/>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FLOW 05</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From mass balance to money</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Cost is derived from the simulation, not typed in beside it — change a basin and the price moves with it.</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048255"/>
            <a:ext cx="5002481"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OPERATING COST — FIVE CATEGORIES</a:t>
            </a:r>
          </a:p>
        </p:txBody>
      </p:sp>
      <p:sp>
        <p:nvSpPr>
          <p:cNvPr id="8" name="Rectangle 7"/>
          <p:cNvSpPr/>
          <p:nvPr/>
        </p:nvSpPr>
        <p:spPr>
          <a:xfrm>
            <a:off x="658368" y="2359151"/>
            <a:ext cx="5002481" cy="47548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59536" y="2359151"/>
            <a:ext cx="1526573" cy="47548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Energy</a:t>
            </a:r>
          </a:p>
        </p:txBody>
      </p:sp>
      <p:sp>
        <p:nvSpPr>
          <p:cNvPr id="10" name="TextBox 9"/>
          <p:cNvSpPr txBox="1"/>
          <p:nvPr/>
        </p:nvSpPr>
        <p:spPr>
          <a:xfrm>
            <a:off x="2550701" y="2359151"/>
            <a:ext cx="2927267" cy="47548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Aeration from oxygen demand, UV lamps, RO feed pumps — less a biogas credit.</a:t>
            </a:r>
          </a:p>
        </p:txBody>
      </p:sp>
      <p:sp>
        <p:nvSpPr>
          <p:cNvPr id="11" name="TextBox 10"/>
          <p:cNvSpPr txBox="1"/>
          <p:nvPr/>
        </p:nvSpPr>
        <p:spPr>
          <a:xfrm>
            <a:off x="859536" y="2834639"/>
            <a:ext cx="1526573" cy="47548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Chemicals</a:t>
            </a:r>
          </a:p>
        </p:txBody>
      </p:sp>
      <p:sp>
        <p:nvSpPr>
          <p:cNvPr id="12" name="TextBox 11"/>
          <p:cNvSpPr txBox="1"/>
          <p:nvPr/>
        </p:nvSpPr>
        <p:spPr>
          <a:xfrm>
            <a:off x="2550701" y="2834639"/>
            <a:ext cx="2927267" cy="47548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Aggregated from the actual dosing units on the canvas.</a:t>
            </a:r>
          </a:p>
        </p:txBody>
      </p:sp>
      <p:sp>
        <p:nvSpPr>
          <p:cNvPr id="13" name="Rectangle 12"/>
          <p:cNvSpPr/>
          <p:nvPr/>
        </p:nvSpPr>
        <p:spPr>
          <a:xfrm>
            <a:off x="658368" y="3310127"/>
            <a:ext cx="5002481" cy="47548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59536" y="3310127"/>
            <a:ext cx="1526573" cy="47548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Sludge disposal</a:t>
            </a:r>
          </a:p>
        </p:txBody>
      </p:sp>
      <p:sp>
        <p:nvSpPr>
          <p:cNvPr id="15" name="TextBox 14"/>
          <p:cNvSpPr txBox="1"/>
          <p:nvPr/>
        </p:nvSpPr>
        <p:spPr>
          <a:xfrm>
            <a:off x="2550701" y="3310127"/>
            <a:ext cx="2927267" cy="47548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Thickened and dewatered biosolids at a tipping fee.</a:t>
            </a:r>
          </a:p>
        </p:txBody>
      </p:sp>
      <p:sp>
        <p:nvSpPr>
          <p:cNvPr id="16" name="TextBox 15"/>
          <p:cNvSpPr txBox="1"/>
          <p:nvPr/>
        </p:nvSpPr>
        <p:spPr>
          <a:xfrm>
            <a:off x="859536" y="3785615"/>
            <a:ext cx="1526573" cy="47548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Labour</a:t>
            </a:r>
          </a:p>
        </p:txBody>
      </p:sp>
      <p:sp>
        <p:nvSpPr>
          <p:cNvPr id="17" name="TextBox 16"/>
          <p:cNvSpPr txBox="1"/>
          <p:nvPr/>
        </p:nvSpPr>
        <p:spPr>
          <a:xfrm>
            <a:off x="2550701" y="3785615"/>
            <a:ext cx="2927267" cy="47548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Parametric staffing by plant capacity.</a:t>
            </a:r>
          </a:p>
        </p:txBody>
      </p:sp>
      <p:sp>
        <p:nvSpPr>
          <p:cNvPr id="18" name="Rectangle 17"/>
          <p:cNvSpPr/>
          <p:nvPr/>
        </p:nvSpPr>
        <p:spPr>
          <a:xfrm>
            <a:off x="658368" y="4261104"/>
            <a:ext cx="5002481" cy="475488"/>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59536" y="4261104"/>
            <a:ext cx="1526573" cy="475488"/>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Maintenance</a:t>
            </a:r>
          </a:p>
        </p:txBody>
      </p:sp>
      <p:sp>
        <p:nvSpPr>
          <p:cNvPr id="20" name="TextBox 19"/>
          <p:cNvSpPr txBox="1"/>
          <p:nvPr/>
        </p:nvSpPr>
        <p:spPr>
          <a:xfrm>
            <a:off x="2550701" y="4261104"/>
            <a:ext cx="2927267" cy="475488"/>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A percentage of the modelled installed capital.</a:t>
            </a:r>
          </a:p>
        </p:txBody>
      </p:sp>
      <p:sp>
        <p:nvSpPr>
          <p:cNvPr id="21" name="TextBox 20"/>
          <p:cNvSpPr txBox="1"/>
          <p:nvPr/>
        </p:nvSpPr>
        <p:spPr>
          <a:xfrm>
            <a:off x="5990033" y="2048255"/>
            <a:ext cx="5543293"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CAPITAL COST — SIZE-DRIVEN</a:t>
            </a:r>
          </a:p>
        </p:txBody>
      </p:sp>
      <p:sp>
        <p:nvSpPr>
          <p:cNvPr id="22" name="Rounded Rectangle 21"/>
          <p:cNvSpPr/>
          <p:nvPr/>
        </p:nvSpPr>
        <p:spPr>
          <a:xfrm>
            <a:off x="5990033" y="2359151"/>
            <a:ext cx="5543293" cy="1005840"/>
          </a:xfrm>
          <a:prstGeom prst="roundRect">
            <a:avLst>
              <a:gd name="adj" fmla="val 1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46065" y="2505456"/>
            <a:ext cx="5031229" cy="320040"/>
          </a:xfrm>
          <a:prstGeom prst="rect">
            <a:avLst/>
          </a:prstGeom>
          <a:noFill/>
        </p:spPr>
        <p:txBody>
          <a:bodyPr wrap="square" lIns="0" rIns="0" tIns="0" bIns="0" anchor="t">
            <a:spAutoFit/>
          </a:bodyPr>
          <a:lstStyle/>
          <a:p>
            <a:pPr algn="ctr">
              <a:lnSpc>
                <a:spcPct val="115000"/>
              </a:lnSpc>
            </a:pPr>
            <a:r>
              <a:rPr sz="1600" b="1" i="0">
                <a:solidFill>
                  <a:srgbClr val="062438"/>
                </a:solidFill>
                <a:latin typeface="Segoe UI Light"/>
              </a:rPr>
              <a:t>direct cost  =  C₀ × ( S / S₀ ) ⁿ</a:t>
            </a:r>
          </a:p>
        </p:txBody>
      </p:sp>
      <p:sp>
        <p:nvSpPr>
          <p:cNvPr id="24" name="TextBox 23"/>
          <p:cNvSpPr txBox="1"/>
          <p:nvPr/>
        </p:nvSpPr>
        <p:spPr>
          <a:xfrm>
            <a:off x="6246065" y="2889503"/>
            <a:ext cx="5031229" cy="411480"/>
          </a:xfrm>
          <a:prstGeom prst="rect">
            <a:avLst/>
          </a:prstGeom>
          <a:noFill/>
        </p:spPr>
        <p:txBody>
          <a:bodyPr wrap="square" lIns="0" rIns="0" tIns="0" bIns="0" anchor="t">
            <a:spAutoFit/>
          </a:bodyPr>
          <a:lstStyle/>
          <a:p>
            <a:pPr algn="ctr">
              <a:lnSpc>
                <a:spcPct val="128000"/>
              </a:lnSpc>
            </a:pPr>
            <a:r>
              <a:rPr sz="950" b="0" i="0">
                <a:solidFill>
                  <a:srgbClr val="64748B"/>
                </a:solidFill>
                <a:latin typeface="Segoe UI"/>
              </a:rPr>
              <a:t>The six-tenths rule (n ≈ 0.6–0.8), applied per unit to the size the model actually computed — clarifier area, basin volume, membrane capacity, lamp count, digester volume.</a:t>
            </a:r>
          </a:p>
        </p:txBody>
      </p:sp>
      <p:sp>
        <p:nvSpPr>
          <p:cNvPr id="25" name="Rectangle 24"/>
          <p:cNvSpPr/>
          <p:nvPr/>
        </p:nvSpPr>
        <p:spPr>
          <a:xfrm>
            <a:off x="5990033" y="3511296"/>
            <a:ext cx="5543293" cy="457200"/>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191201" y="3511296"/>
            <a:ext cx="1388668" cy="457200"/>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Installed cost</a:t>
            </a:r>
          </a:p>
        </p:txBody>
      </p:sp>
      <p:sp>
        <p:nvSpPr>
          <p:cNvPr id="27" name="TextBox 26"/>
          <p:cNvSpPr txBox="1"/>
          <p:nvPr/>
        </p:nvSpPr>
        <p:spPr>
          <a:xfrm>
            <a:off x="7744461" y="3511296"/>
            <a:ext cx="3605985" cy="457200"/>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A Lang-type installation and indirects factor converts direct to installed.</a:t>
            </a:r>
          </a:p>
        </p:txBody>
      </p:sp>
      <p:sp>
        <p:nvSpPr>
          <p:cNvPr id="28" name="TextBox 27"/>
          <p:cNvSpPr txBox="1"/>
          <p:nvPr/>
        </p:nvSpPr>
        <p:spPr>
          <a:xfrm>
            <a:off x="6191201" y="3968496"/>
            <a:ext cx="1388668" cy="457200"/>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Annualised</a:t>
            </a:r>
          </a:p>
        </p:txBody>
      </p:sp>
      <p:sp>
        <p:nvSpPr>
          <p:cNvPr id="29" name="TextBox 28"/>
          <p:cNvSpPr txBox="1"/>
          <p:nvPr/>
        </p:nvSpPr>
        <p:spPr>
          <a:xfrm>
            <a:off x="7744461" y="3968496"/>
            <a:ext cx="3605985" cy="457200"/>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Capital recovery factor CRF = r(1+r)ⁿ / ((1+r)ⁿ − 1).</a:t>
            </a:r>
          </a:p>
        </p:txBody>
      </p:sp>
      <p:sp>
        <p:nvSpPr>
          <p:cNvPr id="30" name="Rectangle 29"/>
          <p:cNvSpPr/>
          <p:nvPr/>
        </p:nvSpPr>
        <p:spPr>
          <a:xfrm>
            <a:off x="5990033" y="4425696"/>
            <a:ext cx="5543293" cy="457200"/>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191201" y="4425696"/>
            <a:ext cx="1388668" cy="457200"/>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LCOW</a:t>
            </a:r>
          </a:p>
        </p:txBody>
      </p:sp>
      <p:sp>
        <p:nvSpPr>
          <p:cNvPr id="32" name="TextBox 31"/>
          <p:cNvSpPr txBox="1"/>
          <p:nvPr/>
        </p:nvSpPr>
        <p:spPr>
          <a:xfrm>
            <a:off x="7744461" y="4425696"/>
            <a:ext cx="3605985" cy="457200"/>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Levelised cost of water = (annualised CAPEX + OPEX) ÷ annual treated volume.</a:t>
            </a:r>
          </a:p>
        </p:txBody>
      </p:sp>
      <p:sp>
        <p:nvSpPr>
          <p:cNvPr id="33" name="Rounded Rectangle 32"/>
          <p:cNvSpPr/>
          <p:nvPr/>
        </p:nvSpPr>
        <p:spPr>
          <a:xfrm>
            <a:off x="658368" y="5010912"/>
            <a:ext cx="10874959" cy="82296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4400" y="5138928"/>
            <a:ext cx="10362895" cy="256032"/>
          </a:xfrm>
          <a:prstGeom prst="rect">
            <a:avLst/>
          </a:prstGeom>
          <a:noFill/>
        </p:spPr>
        <p:txBody>
          <a:bodyPr wrap="square" lIns="0" rIns="0" tIns="0" bIns="0" anchor="t">
            <a:spAutoFit/>
          </a:bodyPr>
          <a:lstStyle/>
          <a:p>
            <a:pPr algn="l">
              <a:lnSpc>
                <a:spcPct val="115000"/>
              </a:lnSpc>
            </a:pPr>
            <a:r>
              <a:rPr sz="1000" b="1" i="0">
                <a:solidFill>
                  <a:srgbClr val="0E7490"/>
                </a:solidFill>
                <a:latin typeface="Segoe UI"/>
              </a:rPr>
              <a:t>COSTS ARE CONFIGURABLE AT THREE LEVELS</a:t>
            </a:r>
          </a:p>
        </p:txBody>
      </p:sp>
      <p:sp>
        <p:nvSpPr>
          <p:cNvPr id="35" name="Rounded Rectangle 34"/>
          <p:cNvSpPr/>
          <p:nvPr/>
        </p:nvSpPr>
        <p:spPr>
          <a:xfrm>
            <a:off x="914400" y="5413248"/>
            <a:ext cx="2905658" cy="329184"/>
          </a:xfrm>
          <a:prstGeom prst="roundRect">
            <a:avLst>
              <a:gd name="adj" fmla="val 2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E7490"/>
                </a:solidFill>
                <a:latin typeface="Segoe UI"/>
              </a:rPr>
              <a:t>Engine defaults
(2026 USD correlations)</a:t>
            </a:r>
          </a:p>
        </p:txBody>
      </p:sp>
      <p:sp>
        <p:nvSpPr>
          <p:cNvPr id="36" name="Right Arrow 35"/>
          <p:cNvSpPr/>
          <p:nvPr/>
        </p:nvSpPr>
        <p:spPr>
          <a:xfrm>
            <a:off x="4021226" y="5486400"/>
            <a:ext cx="402336" cy="182880"/>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74922" y="5193792"/>
            <a:ext cx="73152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Segoe UI"/>
              </a:rPr>
              <a:t>beaten by</a:t>
            </a:r>
          </a:p>
        </p:txBody>
      </p:sp>
      <p:sp>
        <p:nvSpPr>
          <p:cNvPr id="38" name="Rounded Rectangle 37"/>
          <p:cNvSpPr/>
          <p:nvPr/>
        </p:nvSpPr>
        <p:spPr>
          <a:xfrm>
            <a:off x="4643018" y="5413248"/>
            <a:ext cx="2905658" cy="329184"/>
          </a:xfrm>
          <a:prstGeom prst="roundRect">
            <a:avLst>
              <a:gd name="adj" fmla="val 2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E7490"/>
                </a:solidFill>
                <a:latin typeface="Segoe UI"/>
              </a:rPr>
              <a:t>Project overrides
(saved in project settings)</a:t>
            </a:r>
          </a:p>
        </p:txBody>
      </p:sp>
      <p:sp>
        <p:nvSpPr>
          <p:cNvPr id="39" name="Right Arrow 38"/>
          <p:cNvSpPr/>
          <p:nvPr/>
        </p:nvSpPr>
        <p:spPr>
          <a:xfrm>
            <a:off x="7749844" y="5486400"/>
            <a:ext cx="402336" cy="182880"/>
          </a:xfrm>
          <a:prstGeom prst="rightArrow">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603540" y="5193792"/>
            <a:ext cx="73152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Segoe UI"/>
              </a:rPr>
              <a:t>beaten by</a:t>
            </a:r>
          </a:p>
        </p:txBody>
      </p:sp>
      <p:sp>
        <p:nvSpPr>
          <p:cNvPr id="41" name="Rounded Rectangle 40"/>
          <p:cNvSpPr/>
          <p:nvPr/>
        </p:nvSpPr>
        <p:spPr>
          <a:xfrm>
            <a:off x="8371636" y="5413248"/>
            <a:ext cx="2905658" cy="329184"/>
          </a:xfrm>
          <a:prstGeom prst="roundRect">
            <a:avLst>
              <a:gd name="adj" fmla="val 20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950" b="1">
                <a:solidFill>
                  <a:srgbClr val="0E7490"/>
                </a:solidFill>
                <a:latin typeface="Segoe UI"/>
              </a:rPr>
              <a:t>Run overrides
(sent with the request)</a:t>
            </a:r>
          </a:p>
        </p:txBody>
      </p:sp>
      <p:sp>
        <p:nvSpPr>
          <p:cNvPr id="42" name="TextBox 41"/>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3" name="TextBox 42"/>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44" name="TextBox 43"/>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FLOW 06</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Proving compliance with the discharge permit</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The permit is configured once for the organisation, then applied automatically to every run.</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841247" y="2194560"/>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1</a:t>
            </a:r>
          </a:p>
        </p:txBody>
      </p:sp>
      <p:sp>
        <p:nvSpPr>
          <p:cNvPr id="9" name="TextBox 8"/>
          <p:cNvSpPr txBox="1"/>
          <p:nvPr/>
        </p:nvSpPr>
        <p:spPr>
          <a:xfrm>
            <a:off x="1353312" y="2185415"/>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Define the template</a:t>
            </a:r>
          </a:p>
        </p:txBody>
      </p:sp>
      <p:sp>
        <p:nvSpPr>
          <p:cNvPr id="10" name="TextBox 9"/>
          <p:cNvSpPr txBox="1"/>
          <p:nvPr/>
        </p:nvSpPr>
        <p:spPr>
          <a:xfrm>
            <a:off x="1353312" y="24597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An engineer or admin creates a permit template holding the effluent limits: BOD, COD, TSS, total nitrogen, total phosphorus and the rest.</a:t>
            </a:r>
          </a:p>
        </p:txBody>
      </p:sp>
      <p:sp>
        <p:nvSpPr>
          <p:cNvPr id="11" name="Rounded Rectangle 10"/>
          <p:cNvSpPr/>
          <p:nvPr/>
        </p:nvSpPr>
        <p:spPr>
          <a:xfrm>
            <a:off x="6251295" y="2048255"/>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434175" y="2194560"/>
            <a:ext cx="365760" cy="365760"/>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2</a:t>
            </a:r>
          </a:p>
        </p:txBody>
      </p:sp>
      <p:sp>
        <p:nvSpPr>
          <p:cNvPr id="13" name="TextBox 12"/>
          <p:cNvSpPr txBox="1"/>
          <p:nvPr/>
        </p:nvSpPr>
        <p:spPr>
          <a:xfrm>
            <a:off x="6946239" y="2185415"/>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Activate one</a:t>
            </a:r>
          </a:p>
        </p:txBody>
      </p:sp>
      <p:sp>
        <p:nvSpPr>
          <p:cNvPr id="14" name="TextBox 13"/>
          <p:cNvSpPr txBox="1"/>
          <p:nvPr/>
        </p:nvSpPr>
        <p:spPr>
          <a:xfrm>
            <a:off x="6946239" y="24597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Exactly one template is active per organisation at a time — enforced by a unique constraint, so there is never ambiguity about which limits applied.</a:t>
            </a:r>
          </a:p>
        </p:txBody>
      </p:sp>
      <p:sp>
        <p:nvSpPr>
          <p:cNvPr id="15" name="Rounded Rectangle 14"/>
          <p:cNvSpPr/>
          <p:nvPr/>
        </p:nvSpPr>
        <p:spPr>
          <a:xfrm>
            <a:off x="658368" y="2962656"/>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841247" y="3108960"/>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3</a:t>
            </a:r>
          </a:p>
        </p:txBody>
      </p:sp>
      <p:sp>
        <p:nvSpPr>
          <p:cNvPr id="17" name="TextBox 16"/>
          <p:cNvSpPr txBox="1"/>
          <p:nvPr/>
        </p:nvSpPr>
        <p:spPr>
          <a:xfrm>
            <a:off x="1353312" y="3099815"/>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Apply on every run</a:t>
            </a:r>
          </a:p>
        </p:txBody>
      </p:sp>
      <p:sp>
        <p:nvSpPr>
          <p:cNvPr id="18" name="TextBox 17"/>
          <p:cNvSpPr txBox="1"/>
          <p:nvPr/>
        </p:nvSpPr>
        <p:spPr>
          <a:xfrm>
            <a:off x="1353312" y="33741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The active template is loaded server-side and passed into the solver. The engineer cannot forget it, and cannot quietly substitute different limits.</a:t>
            </a:r>
          </a:p>
        </p:txBody>
      </p:sp>
      <p:sp>
        <p:nvSpPr>
          <p:cNvPr id="19" name="Rounded Rectangle 18"/>
          <p:cNvSpPr/>
          <p:nvPr/>
        </p:nvSpPr>
        <p:spPr>
          <a:xfrm>
            <a:off x="6251295" y="2962656"/>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6434175" y="3108960"/>
            <a:ext cx="365760" cy="365760"/>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4</a:t>
            </a:r>
          </a:p>
        </p:txBody>
      </p:sp>
      <p:sp>
        <p:nvSpPr>
          <p:cNvPr id="21" name="TextBox 20"/>
          <p:cNvSpPr txBox="1"/>
          <p:nvPr/>
        </p:nvSpPr>
        <p:spPr>
          <a:xfrm>
            <a:off x="6946239" y="3099815"/>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Score the effluent</a:t>
            </a:r>
          </a:p>
        </p:txBody>
      </p:sp>
      <p:sp>
        <p:nvSpPr>
          <p:cNvPr id="22" name="TextBox 21"/>
          <p:cNvSpPr txBox="1"/>
          <p:nvPr/>
        </p:nvSpPr>
        <p:spPr>
          <a:xfrm>
            <a:off x="6946239" y="33741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Each limited parameter is compared to the modelled effluent. The run is marked compliant or not, and the specific violations are listed.</a:t>
            </a:r>
          </a:p>
        </p:txBody>
      </p:sp>
      <p:sp>
        <p:nvSpPr>
          <p:cNvPr id="23" name="Rounded Rectangle 22"/>
          <p:cNvSpPr/>
          <p:nvPr/>
        </p:nvSpPr>
        <p:spPr>
          <a:xfrm>
            <a:off x="658368" y="3877056"/>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41247" y="4023360"/>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5</a:t>
            </a:r>
          </a:p>
        </p:txBody>
      </p:sp>
      <p:sp>
        <p:nvSpPr>
          <p:cNvPr id="25" name="TextBox 24"/>
          <p:cNvSpPr txBox="1"/>
          <p:nvPr/>
        </p:nvSpPr>
        <p:spPr>
          <a:xfrm>
            <a:off x="1353312" y="4014216"/>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Record what was used</a:t>
            </a:r>
          </a:p>
        </p:txBody>
      </p:sp>
      <p:sp>
        <p:nvSpPr>
          <p:cNvPr id="26" name="TextBox 25"/>
          <p:cNvSpPr txBox="1"/>
          <p:nvPr/>
        </p:nvSpPr>
        <p:spPr>
          <a:xfrm>
            <a:off x="1353312" y="42885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The run stores the limits it was judged against, so a report produced a year later still shows the permit in force at the time.</a:t>
            </a:r>
          </a:p>
        </p:txBody>
      </p:sp>
      <p:sp>
        <p:nvSpPr>
          <p:cNvPr id="27" name="Rounded Rectangle 26"/>
          <p:cNvSpPr/>
          <p:nvPr/>
        </p:nvSpPr>
        <p:spPr>
          <a:xfrm>
            <a:off x="6251295" y="3877056"/>
            <a:ext cx="5282031" cy="841248"/>
          </a:xfrm>
          <a:prstGeom prst="roundRect">
            <a:avLst>
              <a:gd name="adj" fmla="val 8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07327" y="4041648"/>
            <a:ext cx="4769967" cy="256032"/>
          </a:xfrm>
          <a:prstGeom prst="rect">
            <a:avLst/>
          </a:prstGeom>
          <a:noFill/>
        </p:spPr>
        <p:txBody>
          <a:bodyPr wrap="square" lIns="0" rIns="0" tIns="0" bIns="0" anchor="t">
            <a:spAutoFit/>
          </a:bodyPr>
          <a:lstStyle/>
          <a:p>
            <a:pPr algn="l">
              <a:lnSpc>
                <a:spcPct val="115000"/>
              </a:lnSpc>
            </a:pPr>
            <a:r>
              <a:rPr sz="1000" b="1" i="0">
                <a:solidFill>
                  <a:srgbClr val="0E7490"/>
                </a:solidFill>
                <a:latin typeface="Segoe UI"/>
              </a:rPr>
              <a:t>WHY IT MATTERS</a:t>
            </a:r>
          </a:p>
        </p:txBody>
      </p:sp>
      <p:sp>
        <p:nvSpPr>
          <p:cNvPr id="29" name="TextBox 28"/>
          <p:cNvSpPr txBox="1"/>
          <p:nvPr/>
        </p:nvSpPr>
        <p:spPr>
          <a:xfrm>
            <a:off x="6507327" y="4297680"/>
            <a:ext cx="4769967" cy="365760"/>
          </a:xfrm>
          <a:prstGeom prst="rect">
            <a:avLst/>
          </a:prstGeom>
          <a:noFill/>
        </p:spPr>
        <p:txBody>
          <a:bodyPr wrap="square" lIns="0" rIns="0" tIns="0" bIns="0" anchor="t">
            <a:spAutoFit/>
          </a:bodyPr>
          <a:lstStyle/>
          <a:p>
            <a:pPr algn="l">
              <a:lnSpc>
                <a:spcPct val="125000"/>
              </a:lnSpc>
            </a:pPr>
            <a:r>
              <a:rPr sz="1050" b="0" i="0">
                <a:solidFill>
                  <a:srgbClr val="0E7490"/>
                </a:solidFill>
                <a:latin typeface="Segoe UI"/>
              </a:rPr>
              <a:t>Compliance becomes a property of the run, not a claim in a covering email.</a:t>
            </a:r>
          </a:p>
        </p:txBody>
      </p:sp>
      <p:sp>
        <p:nvSpPr>
          <p:cNvPr id="30" name="TextBox 29"/>
          <p:cNvSpPr txBox="1"/>
          <p:nvPr/>
        </p:nvSpPr>
        <p:spPr>
          <a:xfrm>
            <a:off x="658368" y="4846320"/>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AND WHERE THE VERDICT SHOWS UP</a:t>
            </a:r>
          </a:p>
        </p:txBody>
      </p:sp>
      <p:sp>
        <p:nvSpPr>
          <p:cNvPr id="31" name="Rounded Rectangle 30"/>
          <p:cNvSpPr/>
          <p:nvPr/>
        </p:nvSpPr>
        <p:spPr>
          <a:xfrm>
            <a:off x="658368" y="5157216"/>
            <a:ext cx="2567863" cy="106070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5157216"/>
            <a:ext cx="45720" cy="10607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4400" y="5340096"/>
            <a:ext cx="2110663" cy="292608"/>
          </a:xfrm>
          <a:prstGeom prst="rect">
            <a:avLst/>
          </a:prstGeom>
          <a:noFill/>
        </p:spPr>
        <p:txBody>
          <a:bodyPr wrap="square" lIns="0" rIns="0" tIns="0" bIns="0" anchor="t">
            <a:spAutoFit/>
          </a:bodyPr>
          <a:lstStyle/>
          <a:p>
            <a:pPr algn="l">
              <a:lnSpc>
                <a:spcPct val="115000"/>
              </a:lnSpc>
            </a:pPr>
            <a:r>
              <a:rPr sz="1200" b="1" i="0">
                <a:solidFill>
                  <a:srgbClr val="062438"/>
                </a:solidFill>
                <a:latin typeface="Segoe UI"/>
              </a:rPr>
              <a:t>On the canvas</a:t>
            </a:r>
          </a:p>
        </p:txBody>
      </p:sp>
      <p:sp>
        <p:nvSpPr>
          <p:cNvPr id="34" name="TextBox 33"/>
          <p:cNvSpPr txBox="1"/>
          <p:nvPr/>
        </p:nvSpPr>
        <p:spPr>
          <a:xfrm>
            <a:off x="914400" y="5669280"/>
            <a:ext cx="2110663" cy="420623"/>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A pass or fail badge appears the moment a run returns.</a:t>
            </a:r>
          </a:p>
        </p:txBody>
      </p:sp>
      <p:sp>
        <p:nvSpPr>
          <p:cNvPr id="35" name="Rounded Rectangle 34"/>
          <p:cNvSpPr/>
          <p:nvPr/>
        </p:nvSpPr>
        <p:spPr>
          <a:xfrm>
            <a:off x="3427399" y="5157216"/>
            <a:ext cx="2567863" cy="106070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427399" y="5157216"/>
            <a:ext cx="45720" cy="1060704"/>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83431" y="5340096"/>
            <a:ext cx="2110663" cy="292608"/>
          </a:xfrm>
          <a:prstGeom prst="rect">
            <a:avLst/>
          </a:prstGeom>
          <a:noFill/>
        </p:spPr>
        <p:txBody>
          <a:bodyPr wrap="square" lIns="0" rIns="0" tIns="0" bIns="0" anchor="t">
            <a:spAutoFit/>
          </a:bodyPr>
          <a:lstStyle/>
          <a:p>
            <a:pPr algn="l">
              <a:lnSpc>
                <a:spcPct val="115000"/>
              </a:lnSpc>
            </a:pPr>
            <a:r>
              <a:rPr sz="1200" b="1" i="0">
                <a:solidFill>
                  <a:srgbClr val="062438"/>
                </a:solidFill>
                <a:latin typeface="Segoe UI"/>
              </a:rPr>
              <a:t>In the reports list</a:t>
            </a:r>
          </a:p>
        </p:txBody>
      </p:sp>
      <p:sp>
        <p:nvSpPr>
          <p:cNvPr id="38" name="TextBox 37"/>
          <p:cNvSpPr txBox="1"/>
          <p:nvPr/>
        </p:nvSpPr>
        <p:spPr>
          <a:xfrm>
            <a:off x="3683431" y="5669280"/>
            <a:ext cx="2110663" cy="420623"/>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Filter the run list by compliance to find every failing scenario.</a:t>
            </a:r>
          </a:p>
        </p:txBody>
      </p:sp>
      <p:sp>
        <p:nvSpPr>
          <p:cNvPr id="39" name="Rounded Rectangle 38"/>
          <p:cNvSpPr/>
          <p:nvPr/>
        </p:nvSpPr>
        <p:spPr>
          <a:xfrm>
            <a:off x="6196431" y="5157216"/>
            <a:ext cx="2567863" cy="106070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196431" y="5157216"/>
            <a:ext cx="45720" cy="1060704"/>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52463" y="5340096"/>
            <a:ext cx="2110663" cy="292608"/>
          </a:xfrm>
          <a:prstGeom prst="rect">
            <a:avLst/>
          </a:prstGeom>
          <a:noFill/>
        </p:spPr>
        <p:txBody>
          <a:bodyPr wrap="square" lIns="0" rIns="0" tIns="0" bIns="0" anchor="t">
            <a:spAutoFit/>
          </a:bodyPr>
          <a:lstStyle/>
          <a:p>
            <a:pPr algn="l">
              <a:lnSpc>
                <a:spcPct val="115000"/>
              </a:lnSpc>
            </a:pPr>
            <a:r>
              <a:rPr sz="1200" b="1" i="0">
                <a:solidFill>
                  <a:srgbClr val="062438"/>
                </a:solidFill>
                <a:latin typeface="Segoe UI"/>
              </a:rPr>
              <a:t>In the PDF</a:t>
            </a:r>
          </a:p>
        </p:txBody>
      </p:sp>
      <p:sp>
        <p:nvSpPr>
          <p:cNvPr id="42" name="TextBox 41"/>
          <p:cNvSpPr txBox="1"/>
          <p:nvPr/>
        </p:nvSpPr>
        <p:spPr>
          <a:xfrm>
            <a:off x="6452463" y="5669280"/>
            <a:ext cx="2110663" cy="420623"/>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A section lists each limit, the value and the margin.</a:t>
            </a:r>
          </a:p>
        </p:txBody>
      </p:sp>
      <p:sp>
        <p:nvSpPr>
          <p:cNvPr id="43" name="Rounded Rectangle 42"/>
          <p:cNvSpPr/>
          <p:nvPr/>
        </p:nvSpPr>
        <p:spPr>
          <a:xfrm>
            <a:off x="8965463" y="5157216"/>
            <a:ext cx="2567863" cy="106070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8965463" y="5157216"/>
            <a:ext cx="45720" cy="1060704"/>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221495" y="5340096"/>
            <a:ext cx="2110663" cy="292608"/>
          </a:xfrm>
          <a:prstGeom prst="rect">
            <a:avLst/>
          </a:prstGeom>
          <a:noFill/>
        </p:spPr>
        <p:txBody>
          <a:bodyPr wrap="square" lIns="0" rIns="0" tIns="0" bIns="0" anchor="t">
            <a:spAutoFit/>
          </a:bodyPr>
          <a:lstStyle/>
          <a:p>
            <a:pPr algn="l">
              <a:lnSpc>
                <a:spcPct val="115000"/>
              </a:lnSpc>
            </a:pPr>
            <a:r>
              <a:rPr sz="1200" b="1" i="0">
                <a:solidFill>
                  <a:srgbClr val="062438"/>
                </a:solidFill>
                <a:latin typeface="Segoe UI"/>
              </a:rPr>
              <a:t>As an alarm</a:t>
            </a:r>
          </a:p>
        </p:txBody>
      </p:sp>
      <p:sp>
        <p:nvSpPr>
          <p:cNvPr id="46" name="TextBox 45"/>
          <p:cNvSpPr txBox="1"/>
          <p:nvPr/>
        </p:nvSpPr>
        <p:spPr>
          <a:xfrm>
            <a:off x="9221495" y="5669280"/>
            <a:ext cx="2110663" cy="420623"/>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A breached limit can raise an alarm event with its own history.</a:t>
            </a:r>
          </a:p>
        </p:txBody>
      </p:sp>
      <p:sp>
        <p:nvSpPr>
          <p:cNvPr id="47" name="TextBox 46"/>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8" name="TextBox 47"/>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49" name="TextBox 48"/>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FLOW 07</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Reporting, export and comparison</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Node.js builds the report data; Python renders it. Four audiences, four formats.</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2554147" cy="160020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45720" cy="160020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231136"/>
            <a:ext cx="2096947" cy="201168"/>
          </a:xfrm>
          <a:prstGeom prst="rect">
            <a:avLst/>
          </a:prstGeom>
          <a:noFill/>
        </p:spPr>
        <p:txBody>
          <a:bodyPr wrap="square" lIns="0" rIns="0" tIns="0" bIns="0" anchor="t">
            <a:spAutoFit/>
          </a:bodyPr>
          <a:lstStyle/>
          <a:p>
            <a:pPr algn="l">
              <a:lnSpc>
                <a:spcPct val="115000"/>
              </a:lnSpc>
            </a:pPr>
            <a:r>
              <a:rPr sz="900" b="1" i="0">
                <a:solidFill>
                  <a:srgbClr val="BE123C"/>
                </a:solidFill>
                <a:latin typeface="Segoe UI"/>
              </a:rPr>
              <a:t>REPORTLAB + MATPLOTLIB</a:t>
            </a:r>
          </a:p>
        </p:txBody>
      </p:sp>
      <p:sp>
        <p:nvSpPr>
          <p:cNvPr id="10" name="TextBox 9"/>
          <p:cNvSpPr txBox="1"/>
          <p:nvPr/>
        </p:nvSpPr>
        <p:spPr>
          <a:xfrm>
            <a:off x="914400" y="2468880"/>
            <a:ext cx="2096947"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PDF report</a:t>
            </a:r>
          </a:p>
        </p:txBody>
      </p:sp>
      <p:sp>
        <p:nvSpPr>
          <p:cNvPr id="11" name="TextBox 10"/>
          <p:cNvSpPr txBox="1"/>
          <p:nvPr/>
        </p:nvSpPr>
        <p:spPr>
          <a:xfrm>
            <a:off x="914400" y="2798064"/>
            <a:ext cx="2096947" cy="722375"/>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An engineering document: flowsheet summary, stream table, unit results, removal efficiencies, cost breakdown, permit compliance and charts.</a:t>
            </a:r>
          </a:p>
        </p:txBody>
      </p:sp>
      <p:sp>
        <p:nvSpPr>
          <p:cNvPr id="12" name="Rounded Rectangle 11"/>
          <p:cNvSpPr/>
          <p:nvPr/>
        </p:nvSpPr>
        <p:spPr>
          <a:xfrm>
            <a:off x="3431971" y="2048255"/>
            <a:ext cx="2554147" cy="160020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31971" y="2048255"/>
            <a:ext cx="45720" cy="1600200"/>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688003" y="2231136"/>
            <a:ext cx="2096947" cy="201168"/>
          </a:xfrm>
          <a:prstGeom prst="rect">
            <a:avLst/>
          </a:prstGeom>
          <a:noFill/>
        </p:spPr>
        <p:txBody>
          <a:bodyPr wrap="square" lIns="0" rIns="0" tIns="0" bIns="0" anchor="t">
            <a:spAutoFit/>
          </a:bodyPr>
          <a:lstStyle/>
          <a:p>
            <a:pPr algn="l">
              <a:lnSpc>
                <a:spcPct val="115000"/>
              </a:lnSpc>
            </a:pPr>
            <a:r>
              <a:rPr sz="900" b="1" i="0">
                <a:solidFill>
                  <a:srgbClr val="0F765E"/>
                </a:solidFill>
                <a:latin typeface="Segoe UI"/>
              </a:rPr>
              <a:t>OPENPYXL</a:t>
            </a:r>
          </a:p>
        </p:txBody>
      </p:sp>
      <p:sp>
        <p:nvSpPr>
          <p:cNvPr id="15" name="TextBox 14"/>
          <p:cNvSpPr txBox="1"/>
          <p:nvPr/>
        </p:nvSpPr>
        <p:spPr>
          <a:xfrm>
            <a:off x="3688003" y="2468880"/>
            <a:ext cx="2096947"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Excel workbook</a:t>
            </a:r>
          </a:p>
        </p:txBody>
      </p:sp>
      <p:sp>
        <p:nvSpPr>
          <p:cNvPr id="16" name="TextBox 15"/>
          <p:cNvSpPr txBox="1"/>
          <p:nvPr/>
        </p:nvSpPr>
        <p:spPr>
          <a:xfrm>
            <a:off x="3688003" y="2798064"/>
            <a:ext cx="2096947" cy="722375"/>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A multi-sheet workbook for a single run, and a second layout for comparing runs — the format reviewers interrogate.</a:t>
            </a:r>
          </a:p>
        </p:txBody>
      </p:sp>
      <p:sp>
        <p:nvSpPr>
          <p:cNvPr id="17" name="Rounded Rectangle 16"/>
          <p:cNvSpPr/>
          <p:nvPr/>
        </p:nvSpPr>
        <p:spPr>
          <a:xfrm>
            <a:off x="6205575" y="2048255"/>
            <a:ext cx="2554147" cy="160020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05575" y="2048255"/>
            <a:ext cx="45720" cy="1600200"/>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61607" y="2231136"/>
            <a:ext cx="2096947" cy="201168"/>
          </a:xfrm>
          <a:prstGeom prst="rect">
            <a:avLst/>
          </a:prstGeom>
          <a:noFill/>
        </p:spPr>
        <p:txBody>
          <a:bodyPr wrap="square" lIns="0" rIns="0" tIns="0" bIns="0" anchor="t">
            <a:spAutoFit/>
          </a:bodyPr>
          <a:lstStyle/>
          <a:p>
            <a:pPr algn="l">
              <a:lnSpc>
                <a:spcPct val="115000"/>
              </a:lnSpc>
            </a:pPr>
            <a:r>
              <a:rPr sz="900" b="1" i="0">
                <a:solidFill>
                  <a:srgbClr val="C26A0A"/>
                </a:solidFill>
                <a:latin typeface="Segoe UI"/>
              </a:rPr>
              <a:t>STREAMED</a:t>
            </a:r>
          </a:p>
        </p:txBody>
      </p:sp>
      <p:sp>
        <p:nvSpPr>
          <p:cNvPr id="20" name="TextBox 19"/>
          <p:cNvSpPr txBox="1"/>
          <p:nvPr/>
        </p:nvSpPr>
        <p:spPr>
          <a:xfrm>
            <a:off x="6461607" y="2468880"/>
            <a:ext cx="2096947"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CSV export</a:t>
            </a:r>
          </a:p>
        </p:txBody>
      </p:sp>
      <p:sp>
        <p:nvSpPr>
          <p:cNvPr id="21" name="TextBox 20"/>
          <p:cNvSpPr txBox="1"/>
          <p:nvPr/>
        </p:nvSpPr>
        <p:spPr>
          <a:xfrm>
            <a:off x="6461607" y="2798064"/>
            <a:ext cx="2096947" cy="722375"/>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Flat stream and event data for anyone who wants to do their own analysis without asking for an API key.</a:t>
            </a:r>
          </a:p>
        </p:txBody>
      </p:sp>
      <p:sp>
        <p:nvSpPr>
          <p:cNvPr id="22" name="Rounded Rectangle 21"/>
          <p:cNvSpPr/>
          <p:nvPr/>
        </p:nvSpPr>
        <p:spPr>
          <a:xfrm>
            <a:off x="8979179" y="2048255"/>
            <a:ext cx="2554147" cy="160020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979179" y="2048255"/>
            <a:ext cx="45720" cy="160020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35211" y="2231136"/>
            <a:ext cx="2096947" cy="201168"/>
          </a:xfrm>
          <a:prstGeom prst="rect">
            <a:avLst/>
          </a:prstGeom>
          <a:noFill/>
        </p:spPr>
        <p:txBody>
          <a:bodyPr wrap="square" lIns="0" rIns="0" tIns="0" bIns="0" anchor="t">
            <a:spAutoFit/>
          </a:bodyPr>
          <a:lstStyle/>
          <a:p>
            <a:pPr algn="l">
              <a:lnSpc>
                <a:spcPct val="115000"/>
              </a:lnSpc>
            </a:pPr>
            <a:r>
              <a:rPr sz="900" b="1" i="0">
                <a:solidFill>
                  <a:srgbClr val="0E7490"/>
                </a:solidFill>
                <a:latin typeface="Segoe UI"/>
              </a:rPr>
              <a:t>PURE JS LAYER</a:t>
            </a:r>
          </a:p>
        </p:txBody>
      </p:sp>
      <p:sp>
        <p:nvSpPr>
          <p:cNvPr id="25" name="TextBox 24"/>
          <p:cNvSpPr txBox="1"/>
          <p:nvPr/>
        </p:nvSpPr>
        <p:spPr>
          <a:xfrm>
            <a:off x="9235211" y="2468880"/>
            <a:ext cx="2096947"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Plain language</a:t>
            </a:r>
          </a:p>
        </p:txBody>
      </p:sp>
      <p:sp>
        <p:nvSpPr>
          <p:cNvPr id="26" name="TextBox 25"/>
          <p:cNvSpPr txBox="1"/>
          <p:nvPr/>
        </p:nvSpPr>
        <p:spPr>
          <a:xfrm>
            <a:off x="9235211" y="2798064"/>
            <a:ext cx="2096947" cy="722375"/>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A one-line verdict and a readable story for non-engineers — volumes compared to swimming pools and bathtubs, with a glossary.</a:t>
            </a:r>
          </a:p>
        </p:txBody>
      </p:sp>
      <p:sp>
        <p:nvSpPr>
          <p:cNvPr id="27" name="TextBox 26"/>
          <p:cNvSpPr txBox="1"/>
          <p:nvPr/>
        </p:nvSpPr>
        <p:spPr>
          <a:xfrm>
            <a:off x="658368" y="3840479"/>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AND AROUND THE EXPORTS</a:t>
            </a:r>
          </a:p>
        </p:txBody>
      </p:sp>
      <p:sp>
        <p:nvSpPr>
          <p:cNvPr id="28" name="Rectangle 27"/>
          <p:cNvSpPr/>
          <p:nvPr/>
        </p:nvSpPr>
        <p:spPr>
          <a:xfrm>
            <a:off x="658368" y="4151375"/>
            <a:ext cx="10874959" cy="402336"/>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59536" y="4151375"/>
            <a:ext cx="1900671"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Report history</a:t>
            </a:r>
          </a:p>
        </p:txBody>
      </p:sp>
      <p:sp>
        <p:nvSpPr>
          <p:cNvPr id="30" name="TextBox 29"/>
          <p:cNvSpPr txBox="1"/>
          <p:nvPr/>
        </p:nvSpPr>
        <p:spPr>
          <a:xfrm>
            <a:off x="2924799" y="4151375"/>
            <a:ext cx="8425647"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Every completed run across the organisation, filterable by project, mode and compliance.</a:t>
            </a:r>
          </a:p>
        </p:txBody>
      </p:sp>
      <p:sp>
        <p:nvSpPr>
          <p:cNvPr id="31" name="TextBox 30"/>
          <p:cNvSpPr txBox="1"/>
          <p:nvPr/>
        </p:nvSpPr>
        <p:spPr>
          <a:xfrm>
            <a:off x="859536" y="4553712"/>
            <a:ext cx="1900671"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Saved reports</a:t>
            </a:r>
          </a:p>
        </p:txBody>
      </p:sp>
      <p:sp>
        <p:nvSpPr>
          <p:cNvPr id="32" name="TextBox 31"/>
          <p:cNvSpPr txBox="1"/>
          <p:nvPr/>
        </p:nvSpPr>
        <p:spPr>
          <a:xfrm>
            <a:off x="2924799" y="4553712"/>
            <a:ext cx="8425647"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Bookmark a run with a label and notes so a key scenario is never lost in the list.</a:t>
            </a:r>
          </a:p>
        </p:txBody>
      </p:sp>
      <p:sp>
        <p:nvSpPr>
          <p:cNvPr id="33" name="Rectangle 32"/>
          <p:cNvSpPr/>
          <p:nvPr/>
        </p:nvSpPr>
        <p:spPr>
          <a:xfrm>
            <a:off x="658368" y="4956048"/>
            <a:ext cx="10874959" cy="402336"/>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59536" y="4956048"/>
            <a:ext cx="1900671"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Scenario comparison</a:t>
            </a:r>
          </a:p>
        </p:txBody>
      </p:sp>
      <p:sp>
        <p:nvSpPr>
          <p:cNvPr id="35" name="TextBox 34"/>
          <p:cNvSpPr txBox="1"/>
          <p:nvPr/>
        </p:nvSpPr>
        <p:spPr>
          <a:xfrm>
            <a:off x="2924799" y="4956048"/>
            <a:ext cx="8425647"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Select two to six runs and compare effluent quality, removal efficiency and cost side by side.</a:t>
            </a:r>
          </a:p>
        </p:txBody>
      </p:sp>
      <p:sp>
        <p:nvSpPr>
          <p:cNvPr id="36" name="TextBox 35"/>
          <p:cNvSpPr txBox="1"/>
          <p:nvPr/>
        </p:nvSpPr>
        <p:spPr>
          <a:xfrm>
            <a:off x="859536" y="5358384"/>
            <a:ext cx="1900671"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Infinite scroll</a:t>
            </a:r>
          </a:p>
        </p:txBody>
      </p:sp>
      <p:sp>
        <p:nvSpPr>
          <p:cNvPr id="37" name="TextBox 36"/>
          <p:cNvSpPr txBox="1"/>
          <p:nvPr/>
        </p:nvSpPr>
        <p:spPr>
          <a:xfrm>
            <a:off x="2924799" y="5358384"/>
            <a:ext cx="8425647"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The list pages by keyset cursor and renders virtually — it stays fast at any history size.</a:t>
            </a:r>
          </a:p>
        </p:txBody>
      </p:sp>
      <p:sp>
        <p:nvSpPr>
          <p:cNvPr id="38" name="Rounded Rectangle 37"/>
          <p:cNvSpPr/>
          <p:nvPr/>
        </p:nvSpPr>
        <p:spPr>
          <a:xfrm>
            <a:off x="658368" y="5852159"/>
            <a:ext cx="10874959" cy="475488"/>
          </a:xfrm>
          <a:prstGeom prst="roundRect">
            <a:avLst>
              <a:gd name="adj" fmla="val 16000"/>
            </a:avLst>
          </a:prstGeom>
          <a:solidFill>
            <a:srgbClr val="062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32688" y="5852159"/>
            <a:ext cx="10326319" cy="475488"/>
          </a:xfrm>
          <a:prstGeom prst="rect">
            <a:avLst/>
          </a:prstGeom>
          <a:noFill/>
        </p:spPr>
        <p:txBody>
          <a:bodyPr wrap="square" lIns="0" rIns="0" tIns="0" bIns="0" anchor="ctr">
            <a:spAutoFit/>
          </a:bodyPr>
          <a:lstStyle/>
          <a:p>
            <a:pPr algn="l">
              <a:lnSpc>
                <a:spcPct val="115000"/>
              </a:lnSpc>
            </a:pPr>
            <a:r>
              <a:rPr sz="1100" b="0" i="0">
                <a:solidFill>
                  <a:srgbClr val="FFFFFF"/>
                </a:solidFill>
                <a:latin typeface="Segoe UI"/>
              </a:rPr>
              <a:t>The Python renderers run in a hardened child process: interpreter pinned, 30-second timeout, 50 MB output cap and a shared concurrency limit.</a:t>
            </a:r>
          </a:p>
        </p:txBody>
      </p:sp>
      <p:sp>
        <p:nvSpPr>
          <p:cNvPr id="40" name="TextBox 39"/>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1" name="TextBox 40"/>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42" name="TextBox 41"/>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FLOW 08</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Connecting the model to the real plant</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A canvas parameter can be bound to a live PLC tag, so the simulation runs on what the plant is actually doing.</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2014057" cy="141732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804672" y="2194560"/>
            <a:ext cx="292608" cy="292608"/>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1</a:t>
            </a:r>
          </a:p>
        </p:txBody>
      </p:sp>
      <p:sp>
        <p:nvSpPr>
          <p:cNvPr id="9" name="TextBox 8"/>
          <p:cNvSpPr txBox="1"/>
          <p:nvPr/>
        </p:nvSpPr>
        <p:spPr>
          <a:xfrm>
            <a:off x="804672" y="2560320"/>
            <a:ext cx="1721449" cy="310896"/>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Define a connection</a:t>
            </a:r>
          </a:p>
        </p:txBody>
      </p:sp>
      <p:sp>
        <p:nvSpPr>
          <p:cNvPr id="10" name="TextBox 9"/>
          <p:cNvSpPr txBox="1"/>
          <p:nvPr/>
        </p:nvSpPr>
        <p:spPr>
          <a:xfrm>
            <a:off x="804672" y="2907791"/>
            <a:ext cx="1721449" cy="50292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A PLC device: protocol, host, port, credentials. Test it before saving.</a:t>
            </a:r>
          </a:p>
        </p:txBody>
      </p:sp>
      <p:sp>
        <p:nvSpPr>
          <p:cNvPr id="11" name="Right Arrow 10"/>
          <p:cNvSpPr/>
          <p:nvPr/>
        </p:nvSpPr>
        <p:spPr>
          <a:xfrm>
            <a:off x="2690713" y="2688335"/>
            <a:ext cx="164592" cy="164592"/>
          </a:xfrm>
          <a:prstGeom prst="rightArrow">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873593" y="2048255"/>
            <a:ext cx="2014057" cy="141732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019897" y="2194560"/>
            <a:ext cx="292608" cy="292608"/>
          </a:xfrm>
          <a:prstGeom prst="ellipse">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2</a:t>
            </a:r>
          </a:p>
        </p:txBody>
      </p:sp>
      <p:sp>
        <p:nvSpPr>
          <p:cNvPr id="14" name="TextBox 13"/>
          <p:cNvSpPr txBox="1"/>
          <p:nvPr/>
        </p:nvSpPr>
        <p:spPr>
          <a:xfrm>
            <a:off x="3019897" y="2560320"/>
            <a:ext cx="1721449" cy="310896"/>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Bind tags to parameters</a:t>
            </a:r>
          </a:p>
        </p:txBody>
      </p:sp>
      <p:sp>
        <p:nvSpPr>
          <p:cNvPr id="15" name="TextBox 14"/>
          <p:cNvSpPr txBox="1"/>
          <p:nvPr/>
        </p:nvSpPr>
        <p:spPr>
          <a:xfrm>
            <a:off x="3019897" y="2907791"/>
            <a:ext cx="1721449" cy="50292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One binding maps one tag to one node parameter — read, or read-write.</a:t>
            </a:r>
          </a:p>
        </p:txBody>
      </p:sp>
      <p:sp>
        <p:nvSpPr>
          <p:cNvPr id="16" name="Right Arrow 15"/>
          <p:cNvSpPr/>
          <p:nvPr/>
        </p:nvSpPr>
        <p:spPr>
          <a:xfrm>
            <a:off x="4905938" y="2688335"/>
            <a:ext cx="164592" cy="164592"/>
          </a:xfrm>
          <a:prstGeom prst="rightArrow">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088818" y="2048255"/>
            <a:ext cx="2014057" cy="141732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5235122" y="2194560"/>
            <a:ext cx="292608" cy="292608"/>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3</a:t>
            </a:r>
          </a:p>
        </p:txBody>
      </p:sp>
      <p:sp>
        <p:nvSpPr>
          <p:cNvPr id="19" name="TextBox 18"/>
          <p:cNvSpPr txBox="1"/>
          <p:nvPr/>
        </p:nvSpPr>
        <p:spPr>
          <a:xfrm>
            <a:off x="5235122" y="2560320"/>
            <a:ext cx="1721449" cy="310896"/>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The poller reads</a:t>
            </a:r>
          </a:p>
        </p:txBody>
      </p:sp>
      <p:sp>
        <p:nvSpPr>
          <p:cNvPr id="20" name="TextBox 19"/>
          <p:cNvSpPr txBox="1"/>
          <p:nvPr/>
        </p:nvSpPr>
        <p:spPr>
          <a:xfrm>
            <a:off x="5235122" y="2907791"/>
            <a:ext cx="1721449" cy="50292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A 500 ms scheduler reads each binding on its own interval, 2 s by default.</a:t>
            </a:r>
          </a:p>
        </p:txBody>
      </p:sp>
      <p:sp>
        <p:nvSpPr>
          <p:cNvPr id="21" name="Right Arrow 20"/>
          <p:cNvSpPr/>
          <p:nvPr/>
        </p:nvSpPr>
        <p:spPr>
          <a:xfrm>
            <a:off x="7121164" y="2688335"/>
            <a:ext cx="164592" cy="164592"/>
          </a:xfrm>
          <a:prstGeom prst="rightArrow">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7304044" y="2048255"/>
            <a:ext cx="2014057" cy="141732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450348" y="2194560"/>
            <a:ext cx="292608" cy="292608"/>
          </a:xfrm>
          <a:prstGeom prst="ellipse">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4</a:t>
            </a:r>
          </a:p>
        </p:txBody>
      </p:sp>
      <p:sp>
        <p:nvSpPr>
          <p:cNvPr id="24" name="TextBox 23"/>
          <p:cNvSpPr txBox="1"/>
          <p:nvPr/>
        </p:nvSpPr>
        <p:spPr>
          <a:xfrm>
            <a:off x="7450348" y="2560320"/>
            <a:ext cx="1721449" cy="310896"/>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Values reach the canvas</a:t>
            </a:r>
          </a:p>
        </p:txBody>
      </p:sp>
      <p:sp>
        <p:nvSpPr>
          <p:cNvPr id="25" name="TextBox 24"/>
          <p:cNvSpPr txBox="1"/>
          <p:nvPr/>
        </p:nvSpPr>
        <p:spPr>
          <a:xfrm>
            <a:off x="7450348" y="2907791"/>
            <a:ext cx="1721449" cy="50292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Fresh samples broadcast to the flowsheet WebSocket room as plc:update.</a:t>
            </a:r>
          </a:p>
        </p:txBody>
      </p:sp>
      <p:sp>
        <p:nvSpPr>
          <p:cNvPr id="26" name="Right Arrow 25"/>
          <p:cNvSpPr/>
          <p:nvPr/>
        </p:nvSpPr>
        <p:spPr>
          <a:xfrm>
            <a:off x="9336389" y="2688335"/>
            <a:ext cx="164592" cy="164592"/>
          </a:xfrm>
          <a:prstGeom prst="rightArrow">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519269" y="2048255"/>
            <a:ext cx="2014057" cy="1417320"/>
          </a:xfrm>
          <a:prstGeom prst="roundRect">
            <a:avLst>
              <a:gd name="adj" fmla="val 7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665573" y="2194560"/>
            <a:ext cx="292608" cy="292608"/>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100" b="1">
                <a:solidFill>
                  <a:srgbClr val="FFFFFF"/>
                </a:solidFill>
                <a:latin typeface="Segoe UI"/>
              </a:rPr>
              <a:t>5</a:t>
            </a:r>
          </a:p>
        </p:txBody>
      </p:sp>
      <p:sp>
        <p:nvSpPr>
          <p:cNvPr id="29" name="TextBox 28"/>
          <p:cNvSpPr txBox="1"/>
          <p:nvPr/>
        </p:nvSpPr>
        <p:spPr>
          <a:xfrm>
            <a:off x="9665573" y="2560320"/>
            <a:ext cx="1721449" cy="310896"/>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Alarms evaluate</a:t>
            </a:r>
          </a:p>
        </p:txBody>
      </p:sp>
      <p:sp>
        <p:nvSpPr>
          <p:cNvPr id="30" name="TextBox 29"/>
          <p:cNvSpPr txBox="1"/>
          <p:nvPr/>
        </p:nvSpPr>
        <p:spPr>
          <a:xfrm>
            <a:off x="9665573" y="2907791"/>
            <a:ext cx="1721449" cy="502920"/>
          </a:xfrm>
          <a:prstGeom prst="rect">
            <a:avLst/>
          </a:prstGeom>
          <a:noFill/>
        </p:spPr>
        <p:txBody>
          <a:bodyPr wrap="square" lIns="0" rIns="0" tIns="0" bIns="0" anchor="t">
            <a:spAutoFit/>
          </a:bodyPr>
          <a:lstStyle/>
          <a:p>
            <a:pPr algn="l">
              <a:lnSpc>
                <a:spcPct val="126000"/>
              </a:lnSpc>
            </a:pPr>
            <a:r>
              <a:rPr sz="950" b="0" i="0">
                <a:solidFill>
                  <a:srgbClr val="64748B"/>
                </a:solidFill>
                <a:latin typeface="Segoe UI"/>
              </a:rPr>
              <a:t>Every good sample is checked against the parameter alarm rules.</a:t>
            </a:r>
          </a:p>
        </p:txBody>
      </p:sp>
      <p:sp>
        <p:nvSpPr>
          <p:cNvPr id="31" name="TextBox 30"/>
          <p:cNvSpPr txBox="1"/>
          <p:nvPr/>
        </p:nvSpPr>
        <p:spPr>
          <a:xfrm>
            <a:off x="658368" y="3712463"/>
            <a:ext cx="5120640"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FIVE PROTOCOLS</a:t>
            </a:r>
          </a:p>
        </p:txBody>
      </p:sp>
      <p:sp>
        <p:nvSpPr>
          <p:cNvPr id="32" name="Rectangle 31"/>
          <p:cNvSpPr/>
          <p:nvPr/>
        </p:nvSpPr>
        <p:spPr>
          <a:xfrm>
            <a:off x="658368" y="4023359"/>
            <a:ext cx="5394960" cy="402336"/>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59536" y="4023359"/>
            <a:ext cx="1559966"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Modbus TCP</a:t>
            </a:r>
          </a:p>
        </p:txBody>
      </p:sp>
      <p:sp>
        <p:nvSpPr>
          <p:cNvPr id="34" name="TextBox 33"/>
          <p:cNvSpPr txBox="1"/>
          <p:nvPr/>
        </p:nvSpPr>
        <p:spPr>
          <a:xfrm>
            <a:off x="2584094" y="4023359"/>
            <a:ext cx="3286353"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Native Node, dependency-free over a raw socket.</a:t>
            </a:r>
          </a:p>
        </p:txBody>
      </p:sp>
      <p:sp>
        <p:nvSpPr>
          <p:cNvPr id="35" name="TextBox 34"/>
          <p:cNvSpPr txBox="1"/>
          <p:nvPr/>
        </p:nvSpPr>
        <p:spPr>
          <a:xfrm>
            <a:off x="859536" y="4425696"/>
            <a:ext cx="1559966"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Simulator</a:t>
            </a:r>
          </a:p>
        </p:txBody>
      </p:sp>
      <p:sp>
        <p:nvSpPr>
          <p:cNvPr id="36" name="TextBox 35"/>
          <p:cNvSpPr txBox="1"/>
          <p:nvPr/>
        </p:nvSpPr>
        <p:spPr>
          <a:xfrm>
            <a:off x="2584094" y="4425696"/>
            <a:ext cx="3286353"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A built-in virtual PLC — no network, no hardware.</a:t>
            </a:r>
          </a:p>
        </p:txBody>
      </p:sp>
      <p:sp>
        <p:nvSpPr>
          <p:cNvPr id="37" name="Rectangle 36"/>
          <p:cNvSpPr/>
          <p:nvPr/>
        </p:nvSpPr>
        <p:spPr>
          <a:xfrm>
            <a:off x="658368" y="4828032"/>
            <a:ext cx="5394960" cy="402336"/>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59536" y="4828032"/>
            <a:ext cx="1559966"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OPC UA</a:t>
            </a:r>
          </a:p>
        </p:txBody>
      </p:sp>
      <p:sp>
        <p:nvSpPr>
          <p:cNvPr id="39" name="TextBox 38"/>
          <p:cNvSpPr txBox="1"/>
          <p:nvPr/>
        </p:nvSpPr>
        <p:spPr>
          <a:xfrm>
            <a:off x="2584094" y="4828032"/>
            <a:ext cx="3286353"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Python bridge via asyncua.</a:t>
            </a:r>
          </a:p>
        </p:txBody>
      </p:sp>
      <p:sp>
        <p:nvSpPr>
          <p:cNvPr id="40" name="TextBox 39"/>
          <p:cNvSpPr txBox="1"/>
          <p:nvPr/>
        </p:nvSpPr>
        <p:spPr>
          <a:xfrm>
            <a:off x="859536" y="5230368"/>
            <a:ext cx="1559966"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Siemens S7</a:t>
            </a:r>
          </a:p>
        </p:txBody>
      </p:sp>
      <p:sp>
        <p:nvSpPr>
          <p:cNvPr id="41" name="TextBox 40"/>
          <p:cNvSpPr txBox="1"/>
          <p:nvPr/>
        </p:nvSpPr>
        <p:spPr>
          <a:xfrm>
            <a:off x="2584094" y="5230368"/>
            <a:ext cx="3286353"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Python bridge via python-snap7.</a:t>
            </a:r>
          </a:p>
        </p:txBody>
      </p:sp>
      <p:sp>
        <p:nvSpPr>
          <p:cNvPr id="42" name="Rectangle 41"/>
          <p:cNvSpPr/>
          <p:nvPr/>
        </p:nvSpPr>
        <p:spPr>
          <a:xfrm>
            <a:off x="658368" y="5632704"/>
            <a:ext cx="5394960" cy="402336"/>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59536" y="5632704"/>
            <a:ext cx="1559966"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EtherNet/IP</a:t>
            </a:r>
          </a:p>
        </p:txBody>
      </p:sp>
      <p:sp>
        <p:nvSpPr>
          <p:cNvPr id="44" name="TextBox 43"/>
          <p:cNvSpPr txBox="1"/>
          <p:nvPr/>
        </p:nvSpPr>
        <p:spPr>
          <a:xfrm>
            <a:off x="2584094" y="5632704"/>
            <a:ext cx="3286353"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Python bridge via pycomm3.</a:t>
            </a:r>
          </a:p>
        </p:txBody>
      </p:sp>
      <p:sp>
        <p:nvSpPr>
          <p:cNvPr id="45" name="TextBox 44"/>
          <p:cNvSpPr txBox="1"/>
          <p:nvPr/>
        </p:nvSpPr>
        <p:spPr>
          <a:xfrm>
            <a:off x="6373368" y="3712463"/>
            <a:ext cx="5159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HOW IT STAYS HONEST</a:t>
            </a:r>
          </a:p>
        </p:txBody>
      </p:sp>
      <p:sp>
        <p:nvSpPr>
          <p:cNvPr id="46" name="Rounded Rectangle 45"/>
          <p:cNvSpPr/>
          <p:nvPr/>
        </p:nvSpPr>
        <p:spPr>
          <a:xfrm>
            <a:off x="6373368" y="4023359"/>
            <a:ext cx="5159959" cy="548640"/>
          </a:xfrm>
          <a:prstGeom prst="roundRect">
            <a:avLst>
              <a:gd name="adj" fmla="val 12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6501383" y="4151375"/>
            <a:ext cx="731520" cy="292608"/>
          </a:xfrm>
          <a:prstGeom prst="roundRect">
            <a:avLst>
              <a:gd name="adj" fmla="val 40000"/>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0000"/>
              </a:lnSpc>
            </a:pPr>
            <a:r>
              <a:rPr sz="950" b="1">
                <a:solidFill>
                  <a:srgbClr val="FFFFFF"/>
                </a:solidFill>
                <a:latin typeface="Segoe UI"/>
              </a:rPr>
              <a:t>good</a:t>
            </a:r>
          </a:p>
        </p:txBody>
      </p:sp>
      <p:sp>
        <p:nvSpPr>
          <p:cNvPr id="48" name="TextBox 47"/>
          <p:cNvSpPr txBox="1"/>
          <p:nvPr/>
        </p:nvSpPr>
        <p:spPr>
          <a:xfrm>
            <a:off x="7342631" y="4023359"/>
            <a:ext cx="4044391" cy="548640"/>
          </a:xfrm>
          <a:prstGeom prst="rect">
            <a:avLst/>
          </a:prstGeom>
          <a:noFill/>
        </p:spPr>
        <p:txBody>
          <a:bodyPr wrap="square" lIns="0" rIns="0" tIns="0" bIns="0" anchor="ctr">
            <a:spAutoFit/>
          </a:bodyPr>
          <a:lstStyle/>
          <a:p>
            <a:pPr algn="l">
              <a:lnSpc>
                <a:spcPct val="120000"/>
              </a:lnSpc>
            </a:pPr>
            <a:r>
              <a:rPr sz="1000" b="0" i="0">
                <a:solidFill>
                  <a:srgbClr val="64748B"/>
                </a:solidFill>
                <a:latin typeface="Segoe UI"/>
              </a:rPr>
              <a:t>The read succeeded on this cycle.</a:t>
            </a:r>
          </a:p>
        </p:txBody>
      </p:sp>
      <p:sp>
        <p:nvSpPr>
          <p:cNvPr id="49" name="Rounded Rectangle 48"/>
          <p:cNvSpPr/>
          <p:nvPr/>
        </p:nvSpPr>
        <p:spPr>
          <a:xfrm>
            <a:off x="6373368" y="4645151"/>
            <a:ext cx="5159959" cy="548640"/>
          </a:xfrm>
          <a:prstGeom prst="roundRect">
            <a:avLst>
              <a:gd name="adj" fmla="val 12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6501383" y="4773167"/>
            <a:ext cx="731520" cy="292608"/>
          </a:xfrm>
          <a:prstGeom prst="roundRect">
            <a:avLst>
              <a:gd name="adj" fmla="val 40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0000"/>
              </a:lnSpc>
            </a:pPr>
            <a:r>
              <a:rPr sz="950" b="1">
                <a:solidFill>
                  <a:srgbClr val="FFFFFF"/>
                </a:solidFill>
                <a:latin typeface="Segoe UI"/>
              </a:rPr>
              <a:t>bad</a:t>
            </a:r>
          </a:p>
        </p:txBody>
      </p:sp>
      <p:sp>
        <p:nvSpPr>
          <p:cNvPr id="51" name="TextBox 50"/>
          <p:cNvSpPr txBox="1"/>
          <p:nvPr/>
        </p:nvSpPr>
        <p:spPr>
          <a:xfrm>
            <a:off x="7342631" y="4645151"/>
            <a:ext cx="4044391" cy="548640"/>
          </a:xfrm>
          <a:prstGeom prst="rect">
            <a:avLst/>
          </a:prstGeom>
          <a:noFill/>
        </p:spPr>
        <p:txBody>
          <a:bodyPr wrap="square" lIns="0" rIns="0" tIns="0" bIns="0" anchor="ctr">
            <a:spAutoFit/>
          </a:bodyPr>
          <a:lstStyle/>
          <a:p>
            <a:pPr algn="l">
              <a:lnSpc>
                <a:spcPct val="120000"/>
              </a:lnSpc>
            </a:pPr>
            <a:r>
              <a:rPr sz="1000" b="0" i="0">
                <a:solidFill>
                  <a:srgbClr val="64748B"/>
                </a:solidFill>
                <a:latin typeface="Segoe UI"/>
              </a:rPr>
              <a:t>The device answered with a tag-level error — only that binding is affected.</a:t>
            </a:r>
          </a:p>
        </p:txBody>
      </p:sp>
      <p:sp>
        <p:nvSpPr>
          <p:cNvPr id="52" name="Rounded Rectangle 51"/>
          <p:cNvSpPr/>
          <p:nvPr/>
        </p:nvSpPr>
        <p:spPr>
          <a:xfrm>
            <a:off x="6373368" y="5266943"/>
            <a:ext cx="5159959" cy="548640"/>
          </a:xfrm>
          <a:prstGeom prst="roundRect">
            <a:avLst>
              <a:gd name="adj" fmla="val 12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6501383" y="5394959"/>
            <a:ext cx="731520" cy="292608"/>
          </a:xfrm>
          <a:prstGeom prst="roundRect">
            <a:avLst>
              <a:gd name="adj" fmla="val 40000"/>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0000"/>
              </a:lnSpc>
            </a:pPr>
            <a:r>
              <a:rPr sz="950" b="1">
                <a:solidFill>
                  <a:srgbClr val="FFFFFF"/>
                </a:solidFill>
                <a:latin typeface="Segoe UI"/>
              </a:rPr>
              <a:t>stale</a:t>
            </a:r>
          </a:p>
        </p:txBody>
      </p:sp>
      <p:sp>
        <p:nvSpPr>
          <p:cNvPr id="54" name="TextBox 53"/>
          <p:cNvSpPr txBox="1"/>
          <p:nvPr/>
        </p:nvSpPr>
        <p:spPr>
          <a:xfrm>
            <a:off x="7342631" y="5266943"/>
            <a:ext cx="4044391" cy="548640"/>
          </a:xfrm>
          <a:prstGeom prst="rect">
            <a:avLst/>
          </a:prstGeom>
          <a:noFill/>
        </p:spPr>
        <p:txBody>
          <a:bodyPr wrap="square" lIns="0" rIns="0" tIns="0" bIns="0" anchor="ctr">
            <a:spAutoFit/>
          </a:bodyPr>
          <a:lstStyle/>
          <a:p>
            <a:pPr algn="l">
              <a:lnSpc>
                <a:spcPct val="120000"/>
              </a:lnSpc>
            </a:pPr>
            <a:r>
              <a:rPr sz="1000" b="0" i="0">
                <a:solidFill>
                  <a:srgbClr val="64748B"/>
                </a:solidFill>
                <a:latin typeface="Segoe UI"/>
              </a:rPr>
              <a:t>The connection is down. The last value is kept, but clearly marked as no longer current.</a:t>
            </a:r>
          </a:p>
        </p:txBody>
      </p:sp>
      <p:sp>
        <p:nvSpPr>
          <p:cNvPr id="55" name="TextBox 54"/>
          <p:cNvSpPr txBox="1"/>
          <p:nvPr/>
        </p:nvSpPr>
        <p:spPr>
          <a:xfrm>
            <a:off x="6373368" y="5907023"/>
            <a:ext cx="5159959" cy="457200"/>
          </a:xfrm>
          <a:prstGeom prst="rect">
            <a:avLst/>
          </a:prstGeom>
          <a:noFill/>
        </p:spPr>
        <p:txBody>
          <a:bodyPr wrap="square" lIns="0" rIns="0" tIns="0" bIns="0" anchor="t">
            <a:spAutoFit/>
          </a:bodyPr>
          <a:lstStyle/>
          <a:p>
            <a:pPr algn="l">
              <a:lnSpc>
                <a:spcPct val="125000"/>
              </a:lnSpc>
            </a:pPr>
            <a:r>
              <a:rPr sz="1000" b="0" i="0">
                <a:solidFill>
                  <a:srgbClr val="0E7490"/>
                </a:solidFill>
                <a:latin typeface="Segoe UI"/>
              </a:rPr>
              <a:t>A lost connection triggers exponential backoff from 1 s up to 30 s — it never hammers a device that is already struggling.</a:t>
            </a:r>
          </a:p>
        </p:txBody>
      </p:sp>
      <p:sp>
        <p:nvSpPr>
          <p:cNvPr id="56" name="TextBox 55"/>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57" name="TextBox 56"/>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58" name="TextBox 57"/>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FLOW 09</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Alarms — limits, breaches and history</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A rule is a limit on something the flowsheet genuinely has. An event is what happened when that limit was crossed.</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3454298" cy="169164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45720" cy="16916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231136"/>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Rules are validated at creation</a:t>
            </a:r>
          </a:p>
        </p:txBody>
      </p:sp>
      <p:sp>
        <p:nvSpPr>
          <p:cNvPr id="10" name="TextBox 9"/>
          <p:cNvSpPr txBox="1"/>
          <p:nvPr/>
        </p:nvSpPr>
        <p:spPr>
          <a:xfrm>
            <a:off x="914400" y="2560320"/>
            <a:ext cx="2997098" cy="1051560"/>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A rule can only point at a target the canvas actually exposes: a node parameter, a node output, or a value in the effluent summary. You cannot set a min/max on a deleted node, or on a text setting where a limit is meaningless.</a:t>
            </a:r>
          </a:p>
        </p:txBody>
      </p:sp>
      <p:sp>
        <p:nvSpPr>
          <p:cNvPr id="11" name="Rounded Rectangle 10"/>
          <p:cNvSpPr/>
          <p:nvPr/>
        </p:nvSpPr>
        <p:spPr>
          <a:xfrm>
            <a:off x="4368698" y="2048255"/>
            <a:ext cx="3454298" cy="169164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68698" y="2048255"/>
            <a:ext cx="45720" cy="1691640"/>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24730" y="2231136"/>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Two evaluation sources</a:t>
            </a:r>
          </a:p>
        </p:txBody>
      </p:sp>
      <p:sp>
        <p:nvSpPr>
          <p:cNvPr id="14" name="TextBox 13"/>
          <p:cNvSpPr txBox="1"/>
          <p:nvPr/>
        </p:nvSpPr>
        <p:spPr>
          <a:xfrm>
            <a:off x="4624730" y="2560320"/>
            <a:ext cx="2997098" cy="1051560"/>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Rules are checked after each persisted simulation run, and against every good PLC sample as it arrives. Enabled parameter rules are cached per flowsheet for ten seconds, so the poller never pays a query per tick.</a:t>
            </a:r>
          </a:p>
        </p:txBody>
      </p:sp>
      <p:sp>
        <p:nvSpPr>
          <p:cNvPr id="15" name="Rounded Rectangle 14"/>
          <p:cNvSpPr/>
          <p:nvPr/>
        </p:nvSpPr>
        <p:spPr>
          <a:xfrm>
            <a:off x="8079028" y="2048255"/>
            <a:ext cx="3454298" cy="169164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79028" y="2048255"/>
            <a:ext cx="45720" cy="169164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35060" y="2231136"/>
            <a:ext cx="2997098"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Events have a lifecycle</a:t>
            </a:r>
          </a:p>
        </p:txBody>
      </p:sp>
      <p:sp>
        <p:nvSpPr>
          <p:cNvPr id="18" name="TextBox 17"/>
          <p:cNvSpPr txBox="1"/>
          <p:nvPr/>
        </p:nvSpPr>
        <p:spPr>
          <a:xfrm>
            <a:off x="8335060" y="2560320"/>
            <a:ext cx="2997098" cy="1051560"/>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A new breach opens an active event and broadcasts "raised". A repeat breach only refreshes the value and timestamp. A clean evaluation flips the event to cleared. A later re-breach opens a new event, never reuses the old one.</a:t>
            </a:r>
          </a:p>
        </p:txBody>
      </p:sp>
      <p:sp>
        <p:nvSpPr>
          <p:cNvPr id="19" name="TextBox 18"/>
          <p:cNvSpPr txBox="1"/>
          <p:nvPr/>
        </p:nvSpPr>
        <p:spPr>
          <a:xfrm>
            <a:off x="658368" y="4005072"/>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THE EVENT STATE MACHINE</a:t>
            </a:r>
          </a:p>
        </p:txBody>
      </p:sp>
      <p:sp>
        <p:nvSpPr>
          <p:cNvPr id="20" name="Rounded Rectangle 19"/>
          <p:cNvSpPr/>
          <p:nvPr/>
        </p:nvSpPr>
        <p:spPr>
          <a:xfrm>
            <a:off x="658368" y="4334256"/>
            <a:ext cx="1583893" cy="566928"/>
          </a:xfrm>
          <a:prstGeom prst="roundRect">
            <a:avLst>
              <a:gd name="adj" fmla="val 14000"/>
            </a:avLst>
          </a:prstGeom>
          <a:solidFill>
            <a:srgbClr val="FFFFFF"/>
          </a:solidFill>
          <a:ln w="19050">
            <a:solidFill>
              <a:srgbClr val="9AAB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9AABB8"/>
                </a:solidFill>
                <a:latin typeface="Segoe UI"/>
              </a:rPr>
              <a:t>Clean</a:t>
            </a:r>
          </a:p>
        </p:txBody>
      </p:sp>
      <p:sp>
        <p:nvSpPr>
          <p:cNvPr id="21" name="Right Arrow 20"/>
          <p:cNvSpPr/>
          <p:nvPr/>
        </p:nvSpPr>
        <p:spPr>
          <a:xfrm>
            <a:off x="2269693" y="4526280"/>
            <a:ext cx="219456" cy="182880"/>
          </a:xfrm>
          <a:prstGeom prst="rightArrow">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2516581" y="4334256"/>
            <a:ext cx="1583893" cy="566928"/>
          </a:xfrm>
          <a:prstGeom prst="roundRect">
            <a:avLst>
              <a:gd name="adj" fmla="val 14000"/>
            </a:avLst>
          </a:prstGeom>
          <a:solidFill>
            <a:srgbClr val="FFFFFF"/>
          </a:solidFill>
          <a:ln w="19050">
            <a:solidFill>
              <a:srgbClr val="BE12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BE123C"/>
                </a:solidFill>
                <a:latin typeface="Segoe UI"/>
              </a:rPr>
              <a:t>Breach detected</a:t>
            </a:r>
          </a:p>
        </p:txBody>
      </p:sp>
      <p:sp>
        <p:nvSpPr>
          <p:cNvPr id="23" name="Right Arrow 22"/>
          <p:cNvSpPr/>
          <p:nvPr/>
        </p:nvSpPr>
        <p:spPr>
          <a:xfrm>
            <a:off x="4127906" y="4526280"/>
            <a:ext cx="219456" cy="182880"/>
          </a:xfrm>
          <a:prstGeom prst="rightArrow">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4374794" y="4334256"/>
            <a:ext cx="1583893" cy="566928"/>
          </a:xfrm>
          <a:prstGeom prst="roundRect">
            <a:avLst>
              <a:gd name="adj" fmla="val 14000"/>
            </a:avLst>
          </a:prstGeom>
          <a:solidFill>
            <a:srgbClr val="FFFFFF"/>
          </a:solidFill>
          <a:ln w="19050">
            <a:solidFill>
              <a:srgbClr val="BE12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BE123C"/>
                </a:solidFill>
                <a:latin typeface="Segoe UI"/>
              </a:rPr>
              <a:t>ACTIVE event</a:t>
            </a:r>
          </a:p>
        </p:txBody>
      </p:sp>
      <p:sp>
        <p:nvSpPr>
          <p:cNvPr id="25" name="Right Arrow 24"/>
          <p:cNvSpPr/>
          <p:nvPr/>
        </p:nvSpPr>
        <p:spPr>
          <a:xfrm>
            <a:off x="5986119" y="4526280"/>
            <a:ext cx="219456" cy="182880"/>
          </a:xfrm>
          <a:prstGeom prst="rightArrow">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33007" y="4334256"/>
            <a:ext cx="1583893" cy="566928"/>
          </a:xfrm>
          <a:prstGeom prst="roundRect">
            <a:avLst>
              <a:gd name="adj" fmla="val 14000"/>
            </a:avLst>
          </a:prstGeom>
          <a:solidFill>
            <a:srgbClr val="FFFFFF"/>
          </a:solidFill>
          <a:ln w="19050">
            <a:solidFill>
              <a:srgbClr val="0F765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0F765E"/>
                </a:solidFill>
                <a:latin typeface="Segoe UI"/>
              </a:rPr>
              <a:t>Evaluated clean</a:t>
            </a:r>
          </a:p>
        </p:txBody>
      </p:sp>
      <p:sp>
        <p:nvSpPr>
          <p:cNvPr id="27" name="Right Arrow 26"/>
          <p:cNvSpPr/>
          <p:nvPr/>
        </p:nvSpPr>
        <p:spPr>
          <a:xfrm>
            <a:off x="7844332" y="4526280"/>
            <a:ext cx="219456" cy="182880"/>
          </a:xfrm>
          <a:prstGeom prst="rightArrow">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8091220" y="4334256"/>
            <a:ext cx="1583893" cy="566928"/>
          </a:xfrm>
          <a:prstGeom prst="roundRect">
            <a:avLst>
              <a:gd name="adj" fmla="val 14000"/>
            </a:avLst>
          </a:prstGeom>
          <a:solidFill>
            <a:srgbClr val="FFFFFF"/>
          </a:solidFill>
          <a:ln w="19050">
            <a:solidFill>
              <a:srgbClr val="0F765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0F765E"/>
                </a:solidFill>
                <a:latin typeface="Segoe UI"/>
              </a:rPr>
              <a:t>CLEARED</a:t>
            </a:r>
          </a:p>
        </p:txBody>
      </p:sp>
      <p:sp>
        <p:nvSpPr>
          <p:cNvPr id="29" name="Right Arrow 28"/>
          <p:cNvSpPr/>
          <p:nvPr/>
        </p:nvSpPr>
        <p:spPr>
          <a:xfrm>
            <a:off x="9702546" y="4526280"/>
            <a:ext cx="219456" cy="182880"/>
          </a:xfrm>
          <a:prstGeom prst="rightArrow">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949434" y="4334256"/>
            <a:ext cx="1583893" cy="566928"/>
          </a:xfrm>
          <a:prstGeom prst="roundRect">
            <a:avLst>
              <a:gd name="adj" fmla="val 14000"/>
            </a:avLst>
          </a:prstGeom>
          <a:solidFill>
            <a:srgbClr val="FFFFFF"/>
          </a:solidFill>
          <a:ln w="19050">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050" b="1">
                <a:solidFill>
                  <a:srgbClr val="C26A0A"/>
                </a:solidFill>
                <a:latin typeface="Segoe UI"/>
              </a:rPr>
              <a:t>Re-breach → new event</a:t>
            </a:r>
          </a:p>
        </p:txBody>
      </p:sp>
      <p:sp>
        <p:nvSpPr>
          <p:cNvPr id="31" name="TextBox 30"/>
          <p:cNvSpPr txBox="1"/>
          <p:nvPr/>
        </p:nvSpPr>
        <p:spPr>
          <a:xfrm>
            <a:off x="658368" y="5084064"/>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WHERE ALARMS SURFACE</a:t>
            </a:r>
          </a:p>
        </p:txBody>
      </p:sp>
      <p:sp>
        <p:nvSpPr>
          <p:cNvPr id="32" name="Rounded Rectangle 31"/>
          <p:cNvSpPr/>
          <p:nvPr/>
        </p:nvSpPr>
        <p:spPr>
          <a:xfrm>
            <a:off x="658368" y="5394959"/>
            <a:ext cx="2567863" cy="786384"/>
          </a:xfrm>
          <a:prstGeom prst="roundRect">
            <a:avLst>
              <a:gd name="adj" fmla="val 9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41247" y="5504688"/>
            <a:ext cx="2202103" cy="237744"/>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Alarm bell</a:t>
            </a:r>
          </a:p>
        </p:txBody>
      </p:sp>
      <p:sp>
        <p:nvSpPr>
          <p:cNvPr id="34" name="TextBox 33"/>
          <p:cNvSpPr txBox="1"/>
          <p:nvPr/>
        </p:nvSpPr>
        <p:spPr>
          <a:xfrm>
            <a:off x="841247" y="5742431"/>
            <a:ext cx="2202103" cy="411480"/>
          </a:xfrm>
          <a:prstGeom prst="rect">
            <a:avLst/>
          </a:prstGeom>
          <a:noFill/>
        </p:spPr>
        <p:txBody>
          <a:bodyPr wrap="square" lIns="0" rIns="0" tIns="0" bIns="0" anchor="t">
            <a:spAutoFit/>
          </a:bodyPr>
          <a:lstStyle/>
          <a:p>
            <a:pPr algn="l">
              <a:lnSpc>
                <a:spcPct val="125000"/>
              </a:lnSpc>
            </a:pPr>
            <a:r>
              <a:rPr sz="950" b="0" i="0">
                <a:solidFill>
                  <a:srgbClr val="0E7490"/>
                </a:solidFill>
                <a:latin typeface="Segoe UI"/>
              </a:rPr>
              <a:t>A live count in the canvas header, updated over the WebSocket.</a:t>
            </a:r>
          </a:p>
        </p:txBody>
      </p:sp>
      <p:sp>
        <p:nvSpPr>
          <p:cNvPr id="35" name="Rounded Rectangle 34"/>
          <p:cNvSpPr/>
          <p:nvPr/>
        </p:nvSpPr>
        <p:spPr>
          <a:xfrm>
            <a:off x="3427399" y="5394959"/>
            <a:ext cx="2567863" cy="786384"/>
          </a:xfrm>
          <a:prstGeom prst="roundRect">
            <a:avLst>
              <a:gd name="adj" fmla="val 9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610279" y="5504688"/>
            <a:ext cx="2202103" cy="237744"/>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Alarms panel</a:t>
            </a:r>
          </a:p>
        </p:txBody>
      </p:sp>
      <p:sp>
        <p:nvSpPr>
          <p:cNvPr id="37" name="TextBox 36"/>
          <p:cNvSpPr txBox="1"/>
          <p:nvPr/>
        </p:nvSpPr>
        <p:spPr>
          <a:xfrm>
            <a:off x="3610279" y="5742431"/>
            <a:ext cx="2202103" cy="411480"/>
          </a:xfrm>
          <a:prstGeom prst="rect">
            <a:avLst/>
          </a:prstGeom>
          <a:noFill/>
        </p:spPr>
        <p:txBody>
          <a:bodyPr wrap="square" lIns="0" rIns="0" tIns="0" bIns="0" anchor="t">
            <a:spAutoFit/>
          </a:bodyPr>
          <a:lstStyle/>
          <a:p>
            <a:pPr algn="l">
              <a:lnSpc>
                <a:spcPct val="125000"/>
              </a:lnSpc>
            </a:pPr>
            <a:r>
              <a:rPr sz="950" b="0" i="0">
                <a:solidFill>
                  <a:srgbClr val="0E7490"/>
                </a:solidFill>
                <a:latin typeface="Segoe UI"/>
              </a:rPr>
              <a:t>Active and recent events for the flowsheet you are editing.</a:t>
            </a:r>
          </a:p>
        </p:txBody>
      </p:sp>
      <p:sp>
        <p:nvSpPr>
          <p:cNvPr id="38" name="Rounded Rectangle 37"/>
          <p:cNvSpPr/>
          <p:nvPr/>
        </p:nvSpPr>
        <p:spPr>
          <a:xfrm>
            <a:off x="6196431" y="5394959"/>
            <a:ext cx="2567863" cy="786384"/>
          </a:xfrm>
          <a:prstGeom prst="roundRect">
            <a:avLst>
              <a:gd name="adj" fmla="val 9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379311" y="5504688"/>
            <a:ext cx="2202103" cy="237744"/>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Alarms page</a:t>
            </a:r>
          </a:p>
        </p:txBody>
      </p:sp>
      <p:sp>
        <p:nvSpPr>
          <p:cNvPr id="40" name="TextBox 39"/>
          <p:cNvSpPr txBox="1"/>
          <p:nvPr/>
        </p:nvSpPr>
        <p:spPr>
          <a:xfrm>
            <a:off x="6379311" y="5742431"/>
            <a:ext cx="2202103" cy="411480"/>
          </a:xfrm>
          <a:prstGeom prst="rect">
            <a:avLst/>
          </a:prstGeom>
          <a:noFill/>
        </p:spPr>
        <p:txBody>
          <a:bodyPr wrap="square" lIns="0" rIns="0" tIns="0" bIns="0" anchor="t">
            <a:spAutoFit/>
          </a:bodyPr>
          <a:lstStyle/>
          <a:p>
            <a:pPr algn="l">
              <a:lnSpc>
                <a:spcPct val="125000"/>
              </a:lnSpc>
            </a:pPr>
            <a:r>
              <a:rPr sz="950" b="0" i="0">
                <a:solidFill>
                  <a:srgbClr val="0E7490"/>
                </a:solidFill>
                <a:latin typeface="Segoe UI"/>
              </a:rPr>
              <a:t>Organisation-wide event history, filterable and exportable to CSV.</a:t>
            </a:r>
          </a:p>
        </p:txBody>
      </p:sp>
      <p:sp>
        <p:nvSpPr>
          <p:cNvPr id="41" name="Rounded Rectangle 40"/>
          <p:cNvSpPr/>
          <p:nvPr/>
        </p:nvSpPr>
        <p:spPr>
          <a:xfrm>
            <a:off x="8965463" y="5394959"/>
            <a:ext cx="2567863" cy="786384"/>
          </a:xfrm>
          <a:prstGeom prst="roundRect">
            <a:avLst>
              <a:gd name="adj" fmla="val 9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148343" y="5504688"/>
            <a:ext cx="2202103" cy="237744"/>
          </a:xfrm>
          <a:prstGeom prst="rect">
            <a:avLst/>
          </a:prstGeom>
          <a:noFill/>
        </p:spPr>
        <p:txBody>
          <a:bodyPr wrap="square" lIns="0" rIns="0" tIns="0" bIns="0" anchor="t">
            <a:spAutoFit/>
          </a:bodyPr>
          <a:lstStyle/>
          <a:p>
            <a:pPr algn="l">
              <a:lnSpc>
                <a:spcPct val="115000"/>
              </a:lnSpc>
            </a:pPr>
            <a:r>
              <a:rPr sz="1100" b="1" i="0">
                <a:solidFill>
                  <a:srgbClr val="062438"/>
                </a:solidFill>
                <a:latin typeface="Segoe UI"/>
              </a:rPr>
              <a:t>PDF alarm report</a:t>
            </a:r>
          </a:p>
        </p:txBody>
      </p:sp>
      <p:sp>
        <p:nvSpPr>
          <p:cNvPr id="43" name="TextBox 42"/>
          <p:cNvSpPr txBox="1"/>
          <p:nvPr/>
        </p:nvSpPr>
        <p:spPr>
          <a:xfrm>
            <a:off x="9148343" y="5742431"/>
            <a:ext cx="2202103" cy="411480"/>
          </a:xfrm>
          <a:prstGeom prst="rect">
            <a:avLst/>
          </a:prstGeom>
          <a:noFill/>
        </p:spPr>
        <p:txBody>
          <a:bodyPr wrap="square" lIns="0" rIns="0" tIns="0" bIns="0" anchor="t">
            <a:spAutoFit/>
          </a:bodyPr>
          <a:lstStyle/>
          <a:p>
            <a:pPr algn="l">
              <a:lnSpc>
                <a:spcPct val="125000"/>
              </a:lnSpc>
            </a:pPr>
            <a:r>
              <a:rPr sz="950" b="0" i="0">
                <a:solidFill>
                  <a:srgbClr val="0E7490"/>
                </a:solidFill>
                <a:latin typeface="Segoe UI"/>
              </a:rPr>
              <a:t>A rendered event report for a review meeting or a regulator.</a:t>
            </a:r>
          </a:p>
        </p:txBody>
      </p:sp>
      <p:sp>
        <p:nvSpPr>
          <p:cNvPr id="44" name="TextBox 43"/>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5" name="TextBox 44"/>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46" name="TextBox 45"/>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FLOW 10</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Real-time collaboration</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A flowsheet is a room. Everyone editing it sees the same canvas change at the same moment.</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841247" y="2194560"/>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1</a:t>
            </a:r>
          </a:p>
        </p:txBody>
      </p:sp>
      <p:sp>
        <p:nvSpPr>
          <p:cNvPr id="9" name="TextBox 8"/>
          <p:cNvSpPr txBox="1"/>
          <p:nvPr/>
        </p:nvSpPr>
        <p:spPr>
          <a:xfrm>
            <a:off x="1353312" y="2185415"/>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Authorise the upgrade</a:t>
            </a:r>
          </a:p>
        </p:txBody>
      </p:sp>
      <p:sp>
        <p:nvSpPr>
          <p:cNvPr id="10" name="TextBox 9"/>
          <p:cNvSpPr txBox="1"/>
          <p:nvPr/>
        </p:nvSpPr>
        <p:spPr>
          <a:xfrm>
            <a:off x="1353312" y="24597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The JWT is verified during the WebSocket handshake, then the flowsheet is traced up to its project and organisation before the upgrade completes.</a:t>
            </a:r>
          </a:p>
        </p:txBody>
      </p:sp>
      <p:sp>
        <p:nvSpPr>
          <p:cNvPr id="11" name="Rounded Rectangle 10"/>
          <p:cNvSpPr/>
          <p:nvPr/>
        </p:nvSpPr>
        <p:spPr>
          <a:xfrm>
            <a:off x="6251295" y="2048255"/>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434175" y="2194560"/>
            <a:ext cx="365760" cy="365760"/>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2</a:t>
            </a:r>
          </a:p>
        </p:txBody>
      </p:sp>
      <p:sp>
        <p:nvSpPr>
          <p:cNvPr id="13" name="TextBox 12"/>
          <p:cNvSpPr txBox="1"/>
          <p:nvPr/>
        </p:nvSpPr>
        <p:spPr>
          <a:xfrm>
            <a:off x="6946239" y="2185415"/>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Join the room</a:t>
            </a:r>
          </a:p>
        </p:txBody>
      </p:sp>
      <p:sp>
        <p:nvSpPr>
          <p:cNvPr id="14" name="TextBox 13"/>
          <p:cNvSpPr txBox="1"/>
          <p:nvPr/>
        </p:nvSpPr>
        <p:spPr>
          <a:xfrm>
            <a:off x="6946239" y="24597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Rooms are keyed by flowsheet id. On joining, the client receives the full presence list; everyone else receives a presence update.</a:t>
            </a:r>
          </a:p>
        </p:txBody>
      </p:sp>
      <p:sp>
        <p:nvSpPr>
          <p:cNvPr id="15" name="Rounded Rectangle 14"/>
          <p:cNvSpPr/>
          <p:nvPr/>
        </p:nvSpPr>
        <p:spPr>
          <a:xfrm>
            <a:off x="658368" y="2962656"/>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841247" y="3108960"/>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3</a:t>
            </a:r>
          </a:p>
        </p:txBody>
      </p:sp>
      <p:sp>
        <p:nvSpPr>
          <p:cNvPr id="17" name="TextBox 16"/>
          <p:cNvSpPr txBox="1"/>
          <p:nvPr/>
        </p:nvSpPr>
        <p:spPr>
          <a:xfrm>
            <a:off x="1353312" y="3099815"/>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Broadcast the edits</a:t>
            </a:r>
          </a:p>
        </p:txBody>
      </p:sp>
      <p:sp>
        <p:nvSpPr>
          <p:cNvPr id="18" name="TextBox 17"/>
          <p:cNvSpPr txBox="1"/>
          <p:nvPr/>
        </p:nvSpPr>
        <p:spPr>
          <a:xfrm>
            <a:off x="1353312" y="33741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Node adds, moves and deletes, edge changes, parameter updates and cursor movement all fan out to the other members of the room.</a:t>
            </a:r>
          </a:p>
        </p:txBody>
      </p:sp>
      <p:sp>
        <p:nvSpPr>
          <p:cNvPr id="19" name="Rounded Rectangle 18"/>
          <p:cNvSpPr/>
          <p:nvPr/>
        </p:nvSpPr>
        <p:spPr>
          <a:xfrm>
            <a:off x="6251295" y="2962656"/>
            <a:ext cx="5282031" cy="841248"/>
          </a:xfrm>
          <a:prstGeom prst="roundRect">
            <a:avLst>
              <a:gd name="adj" fmla="val 8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6434175" y="3108960"/>
            <a:ext cx="365760" cy="365760"/>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1300" b="1">
                <a:solidFill>
                  <a:srgbClr val="FFFFFF"/>
                </a:solidFill>
                <a:latin typeface="Segoe UI"/>
              </a:rPr>
              <a:t>4</a:t>
            </a:r>
          </a:p>
        </p:txBody>
      </p:sp>
      <p:sp>
        <p:nvSpPr>
          <p:cNvPr id="21" name="TextBox 20"/>
          <p:cNvSpPr txBox="1"/>
          <p:nvPr/>
        </p:nvSpPr>
        <p:spPr>
          <a:xfrm>
            <a:off x="6946239" y="3099815"/>
            <a:ext cx="4385919" cy="256032"/>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Share the results</a:t>
            </a:r>
          </a:p>
        </p:txBody>
      </p:sp>
      <p:sp>
        <p:nvSpPr>
          <p:cNvPr id="22" name="TextBox 21"/>
          <p:cNvSpPr txBox="1"/>
          <p:nvPr/>
        </p:nvSpPr>
        <p:spPr>
          <a:xfrm>
            <a:off x="6946239" y="3374136"/>
            <a:ext cx="4385919" cy="365760"/>
          </a:xfrm>
          <a:prstGeom prst="rect">
            <a:avLst/>
          </a:prstGeom>
          <a:noFill/>
        </p:spPr>
        <p:txBody>
          <a:bodyPr wrap="square" lIns="0" rIns="0" tIns="0" bIns="0" anchor="t">
            <a:spAutoFit/>
          </a:bodyPr>
          <a:lstStyle/>
          <a:p>
            <a:pPr algn="l">
              <a:lnSpc>
                <a:spcPct val="122000"/>
              </a:lnSpc>
            </a:pPr>
            <a:r>
              <a:rPr sz="1000" b="0" i="0">
                <a:solidFill>
                  <a:srgbClr val="64748B"/>
                </a:solidFill>
                <a:latin typeface="Segoe UI"/>
              </a:rPr>
              <a:t>Simulation start and completion are broadcast too — one person presses Run and everybody watches the numbers land.</a:t>
            </a:r>
          </a:p>
        </p:txBody>
      </p:sp>
      <p:sp>
        <p:nvSpPr>
          <p:cNvPr id="23" name="TextBox 22"/>
          <p:cNvSpPr txBox="1"/>
          <p:nvPr/>
        </p:nvSpPr>
        <p:spPr>
          <a:xfrm>
            <a:off x="658368" y="4078224"/>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THE MESSAGE VOCABULARY</a:t>
            </a:r>
          </a:p>
        </p:txBody>
      </p:sp>
      <p:sp>
        <p:nvSpPr>
          <p:cNvPr id="24" name="Rounded Rectangle 23"/>
          <p:cNvSpPr/>
          <p:nvPr/>
        </p:nvSpPr>
        <p:spPr>
          <a:xfrm>
            <a:off x="658368" y="4389120"/>
            <a:ext cx="1675333" cy="402336"/>
          </a:xfrm>
          <a:prstGeom prst="roundRect">
            <a:avLst>
              <a:gd name="adj" fmla="val 18000"/>
            </a:avLst>
          </a:prstGeom>
          <a:solidFill>
            <a:srgbClr val="FFFFFF"/>
          </a:solidFill>
          <a:ln w="1524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0E7490"/>
                </a:solidFill>
                <a:latin typeface="Segoe UI"/>
              </a:rPr>
              <a:t>presence:init</a:t>
            </a:r>
          </a:p>
        </p:txBody>
      </p:sp>
      <p:sp>
        <p:nvSpPr>
          <p:cNvPr id="25" name="Rounded Rectangle 24"/>
          <p:cNvSpPr/>
          <p:nvPr/>
        </p:nvSpPr>
        <p:spPr>
          <a:xfrm>
            <a:off x="2498293" y="4389120"/>
            <a:ext cx="1675333" cy="402336"/>
          </a:xfrm>
          <a:prstGeom prst="roundRect">
            <a:avLst>
              <a:gd name="adj" fmla="val 18000"/>
            </a:avLst>
          </a:prstGeom>
          <a:solidFill>
            <a:srgbClr val="FFFFFF"/>
          </a:solidFill>
          <a:ln w="1524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0E7490"/>
                </a:solidFill>
                <a:latin typeface="Segoe UI"/>
              </a:rPr>
              <a:t>presence:update</a:t>
            </a:r>
          </a:p>
        </p:txBody>
      </p:sp>
      <p:sp>
        <p:nvSpPr>
          <p:cNvPr id="26" name="Rounded Rectangle 25"/>
          <p:cNvSpPr/>
          <p:nvPr/>
        </p:nvSpPr>
        <p:spPr>
          <a:xfrm>
            <a:off x="4338218" y="4389120"/>
            <a:ext cx="1675333" cy="402336"/>
          </a:xfrm>
          <a:prstGeom prst="roundRect">
            <a:avLst>
              <a:gd name="adj" fmla="val 18000"/>
            </a:avLst>
          </a:prstGeom>
          <a:solidFill>
            <a:srgbClr val="FFFFFF"/>
          </a:solidFill>
          <a:ln w="15240">
            <a:solidFill>
              <a:srgbClr val="22B8D4"/>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22B8D4"/>
                </a:solidFill>
                <a:latin typeface="Segoe UI"/>
              </a:rPr>
              <a:t>cursor:move</a:t>
            </a:r>
          </a:p>
        </p:txBody>
      </p:sp>
      <p:sp>
        <p:nvSpPr>
          <p:cNvPr id="27" name="Rounded Rectangle 26"/>
          <p:cNvSpPr/>
          <p:nvPr/>
        </p:nvSpPr>
        <p:spPr>
          <a:xfrm>
            <a:off x="6178143" y="4389120"/>
            <a:ext cx="1675333" cy="402336"/>
          </a:xfrm>
          <a:prstGeom prst="roundRect">
            <a:avLst>
              <a:gd name="adj" fmla="val 18000"/>
            </a:avLst>
          </a:prstGeom>
          <a:solidFill>
            <a:srgbClr val="FFFFFF"/>
          </a:solidFill>
          <a:ln w="15240">
            <a:solidFill>
              <a:srgbClr val="6D359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6D359E"/>
                </a:solidFill>
                <a:latin typeface="Segoe UI"/>
              </a:rPr>
              <a:t>node:add</a:t>
            </a:r>
          </a:p>
        </p:txBody>
      </p:sp>
      <p:sp>
        <p:nvSpPr>
          <p:cNvPr id="28" name="Rounded Rectangle 27"/>
          <p:cNvSpPr/>
          <p:nvPr/>
        </p:nvSpPr>
        <p:spPr>
          <a:xfrm>
            <a:off x="8018068" y="4389120"/>
            <a:ext cx="1675333" cy="402336"/>
          </a:xfrm>
          <a:prstGeom prst="roundRect">
            <a:avLst>
              <a:gd name="adj" fmla="val 18000"/>
            </a:avLst>
          </a:prstGeom>
          <a:solidFill>
            <a:srgbClr val="FFFFFF"/>
          </a:solidFill>
          <a:ln w="15240">
            <a:solidFill>
              <a:srgbClr val="6D359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6D359E"/>
                </a:solidFill>
                <a:latin typeface="Segoe UI"/>
              </a:rPr>
              <a:t>node:move</a:t>
            </a:r>
          </a:p>
        </p:txBody>
      </p:sp>
      <p:sp>
        <p:nvSpPr>
          <p:cNvPr id="29" name="Rounded Rectangle 28"/>
          <p:cNvSpPr/>
          <p:nvPr/>
        </p:nvSpPr>
        <p:spPr>
          <a:xfrm>
            <a:off x="9857994" y="4389120"/>
            <a:ext cx="1675333" cy="402336"/>
          </a:xfrm>
          <a:prstGeom prst="roundRect">
            <a:avLst>
              <a:gd name="adj" fmla="val 18000"/>
            </a:avLst>
          </a:prstGeom>
          <a:solidFill>
            <a:srgbClr val="FFFFFF"/>
          </a:solidFill>
          <a:ln w="15240">
            <a:solidFill>
              <a:srgbClr val="6D359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6D359E"/>
                </a:solidFill>
                <a:latin typeface="Segoe UI"/>
              </a:rPr>
              <a:t>node:delete</a:t>
            </a:r>
          </a:p>
        </p:txBody>
      </p:sp>
      <p:sp>
        <p:nvSpPr>
          <p:cNvPr id="30" name="Rounded Rectangle 29"/>
          <p:cNvSpPr/>
          <p:nvPr/>
        </p:nvSpPr>
        <p:spPr>
          <a:xfrm>
            <a:off x="658368" y="4864608"/>
            <a:ext cx="1675333" cy="402336"/>
          </a:xfrm>
          <a:prstGeom prst="roundRect">
            <a:avLst>
              <a:gd name="adj" fmla="val 18000"/>
            </a:avLst>
          </a:prstGeom>
          <a:solidFill>
            <a:srgbClr val="FFFFFF"/>
          </a:solidFill>
          <a:ln w="15240">
            <a:solidFill>
              <a:srgbClr val="0F765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0F765E"/>
                </a:solidFill>
                <a:latin typeface="Segoe UI"/>
              </a:rPr>
              <a:t>edge:add</a:t>
            </a:r>
          </a:p>
        </p:txBody>
      </p:sp>
      <p:sp>
        <p:nvSpPr>
          <p:cNvPr id="31" name="Rounded Rectangle 30"/>
          <p:cNvSpPr/>
          <p:nvPr/>
        </p:nvSpPr>
        <p:spPr>
          <a:xfrm>
            <a:off x="2498293" y="4864608"/>
            <a:ext cx="1675333" cy="402336"/>
          </a:xfrm>
          <a:prstGeom prst="roundRect">
            <a:avLst>
              <a:gd name="adj" fmla="val 18000"/>
            </a:avLst>
          </a:prstGeom>
          <a:solidFill>
            <a:srgbClr val="FFFFFF"/>
          </a:solidFill>
          <a:ln w="15240">
            <a:solidFill>
              <a:srgbClr val="0F765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0F765E"/>
                </a:solidFill>
                <a:latin typeface="Segoe UI"/>
              </a:rPr>
              <a:t>edge:delete</a:t>
            </a:r>
          </a:p>
        </p:txBody>
      </p:sp>
      <p:sp>
        <p:nvSpPr>
          <p:cNvPr id="32" name="Rounded Rectangle 31"/>
          <p:cNvSpPr/>
          <p:nvPr/>
        </p:nvSpPr>
        <p:spPr>
          <a:xfrm>
            <a:off x="4338218" y="4864608"/>
            <a:ext cx="1675333" cy="402336"/>
          </a:xfrm>
          <a:prstGeom prst="roundRect">
            <a:avLst>
              <a:gd name="adj" fmla="val 18000"/>
            </a:avLst>
          </a:prstGeom>
          <a:solidFill>
            <a:srgbClr val="FFFFFF"/>
          </a:solidFill>
          <a:ln w="15240">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C26A0A"/>
                </a:solidFill>
                <a:latin typeface="Segoe UI"/>
              </a:rPr>
              <a:t>params:update</a:t>
            </a:r>
          </a:p>
        </p:txBody>
      </p:sp>
      <p:sp>
        <p:nvSpPr>
          <p:cNvPr id="33" name="Rounded Rectangle 32"/>
          <p:cNvSpPr/>
          <p:nvPr/>
        </p:nvSpPr>
        <p:spPr>
          <a:xfrm>
            <a:off x="6178143" y="4864608"/>
            <a:ext cx="1675333" cy="402336"/>
          </a:xfrm>
          <a:prstGeom prst="roundRect">
            <a:avLst>
              <a:gd name="adj" fmla="val 18000"/>
            </a:avLst>
          </a:prstGeom>
          <a:solidFill>
            <a:srgbClr val="FFFFFF"/>
          </a:solidFill>
          <a:ln w="15240">
            <a:solidFill>
              <a:srgbClr val="BE123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BE123C"/>
                </a:solidFill>
                <a:latin typeface="Segoe UI"/>
              </a:rPr>
              <a:t>sim:running</a:t>
            </a:r>
          </a:p>
        </p:txBody>
      </p:sp>
      <p:sp>
        <p:nvSpPr>
          <p:cNvPr id="34" name="Rounded Rectangle 33"/>
          <p:cNvSpPr/>
          <p:nvPr/>
        </p:nvSpPr>
        <p:spPr>
          <a:xfrm>
            <a:off x="8018068" y="4864608"/>
            <a:ext cx="1675333" cy="402336"/>
          </a:xfrm>
          <a:prstGeom prst="roundRect">
            <a:avLst>
              <a:gd name="adj" fmla="val 18000"/>
            </a:avLst>
          </a:prstGeom>
          <a:solidFill>
            <a:srgbClr val="FFFFFF"/>
          </a:solidFill>
          <a:ln w="15240">
            <a:solidFill>
              <a:srgbClr val="BE123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BE123C"/>
                </a:solidFill>
                <a:latin typeface="Segoe UI"/>
              </a:rPr>
              <a:t>sim:result</a:t>
            </a:r>
          </a:p>
        </p:txBody>
      </p:sp>
      <p:sp>
        <p:nvSpPr>
          <p:cNvPr id="35" name="Rounded Rectangle 34"/>
          <p:cNvSpPr/>
          <p:nvPr/>
        </p:nvSpPr>
        <p:spPr>
          <a:xfrm>
            <a:off x="9857994" y="4864608"/>
            <a:ext cx="1675333" cy="402336"/>
          </a:xfrm>
          <a:prstGeom prst="roundRect">
            <a:avLst>
              <a:gd name="adj" fmla="val 18000"/>
            </a:avLst>
          </a:prstGeom>
          <a:solidFill>
            <a:srgbClr val="FFFFFF"/>
          </a:solidFill>
          <a:ln w="15240">
            <a:solidFill>
              <a:srgbClr val="0B354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lnSpc>
                <a:spcPct val="110000"/>
              </a:lnSpc>
            </a:pPr>
            <a:r>
              <a:rPr sz="1000" b="1">
                <a:solidFill>
                  <a:srgbClr val="0B354E"/>
                </a:solidFill>
                <a:latin typeface="Segoe UI"/>
              </a:rPr>
              <a:t>plc:update</a:t>
            </a:r>
          </a:p>
        </p:txBody>
      </p:sp>
      <p:sp>
        <p:nvSpPr>
          <p:cNvPr id="36" name="Rounded Rectangle 35"/>
          <p:cNvSpPr/>
          <p:nvPr/>
        </p:nvSpPr>
        <p:spPr>
          <a:xfrm>
            <a:off x="658368" y="5468112"/>
            <a:ext cx="10874959" cy="822960"/>
          </a:xfrm>
          <a:prstGeom prst="roundRect">
            <a:avLst>
              <a:gd name="adj" fmla="val 10000"/>
            </a:avLst>
          </a:prstGeom>
          <a:solidFill>
            <a:srgbClr val="062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32688" y="5614416"/>
            <a:ext cx="10326319" cy="256032"/>
          </a:xfrm>
          <a:prstGeom prst="rect">
            <a:avLst/>
          </a:prstGeom>
          <a:noFill/>
        </p:spPr>
        <p:txBody>
          <a:bodyPr wrap="square" lIns="0" rIns="0" tIns="0" bIns="0" anchor="t">
            <a:spAutoFit/>
          </a:bodyPr>
          <a:lstStyle/>
          <a:p>
            <a:pPr algn="l">
              <a:lnSpc>
                <a:spcPct val="115000"/>
              </a:lnSpc>
            </a:pPr>
            <a:r>
              <a:rPr sz="1000" b="1" i="0">
                <a:solidFill>
                  <a:srgbClr val="22B8D4"/>
                </a:solidFill>
                <a:latin typeface="Segoe UI"/>
              </a:rPr>
              <a:t>ONE DELIBERATE ASYMMETRY</a:t>
            </a:r>
          </a:p>
        </p:txBody>
      </p:sp>
      <p:sp>
        <p:nvSpPr>
          <p:cNvPr id="38" name="TextBox 37"/>
          <p:cNvSpPr txBox="1"/>
          <p:nvPr/>
        </p:nvSpPr>
        <p:spPr>
          <a:xfrm>
            <a:off x="932688" y="5870448"/>
            <a:ext cx="10326319" cy="384048"/>
          </a:xfrm>
          <a:prstGeom prst="rect">
            <a:avLst/>
          </a:prstGeom>
          <a:noFill/>
        </p:spPr>
        <p:txBody>
          <a:bodyPr wrap="square" lIns="0" rIns="0" tIns="0" bIns="0" anchor="t">
            <a:spAutoFit/>
          </a:bodyPr>
          <a:lstStyle/>
          <a:p>
            <a:pPr algn="l">
              <a:lnSpc>
                <a:spcPct val="125000"/>
              </a:lnSpc>
            </a:pPr>
            <a:r>
              <a:rPr sz="1100" b="0" i="0">
                <a:solidFill>
                  <a:srgbClr val="C2DCE8"/>
                </a:solidFill>
                <a:latin typeface="Segoe UI"/>
              </a:rPr>
              <a:t>Client messages are checked against an allowlist. "plc:update" is deliberately absent from it — only the server may emit live plant values, so a browser can never forge a reading from the plant.</a:t>
            </a:r>
          </a:p>
        </p:txBody>
      </p:sp>
      <p:sp>
        <p:nvSpPr>
          <p:cNvPr id="39" name="TextBox 38"/>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0" name="TextBox 39"/>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The Flows</a:t>
            </a:r>
          </a:p>
        </p:txBody>
      </p:sp>
      <p:sp>
        <p:nvSpPr>
          <p:cNvPr id="41" name="TextBox 40"/>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62438"/>
        </a:solidFill>
        <a:effectLst/>
      </p:bgPr>
    </p:bg>
    <p:spTree>
      <p:nvGrpSpPr>
        <p:cNvPr id="1" name=""/>
        <p:cNvGrpSpPr/>
        <p:nvPr/>
      </p:nvGrpSpPr>
      <p:grpSpPr/>
      <p:sp>
        <p:nvSpPr>
          <p:cNvPr id="2" name="Rectangle 1"/>
          <p:cNvSpPr/>
          <p:nvPr/>
        </p:nvSpPr>
        <p:spPr>
          <a:xfrm>
            <a:off x="-457200" y="5532120"/>
            <a:ext cx="13106095" cy="502920"/>
          </a:xfrm>
          <a:prstGeom prst="rect">
            <a:avLst/>
          </a:prstGeom>
          <a:solidFill>
            <a:srgbClr val="0B3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457200" y="5989320"/>
            <a:ext cx="13106095" cy="457200"/>
          </a:xfrm>
          <a:prstGeom prst="rect">
            <a:avLst/>
          </a:prstGeom>
          <a:solidFill>
            <a:srgbClr val="0E50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457200" y="6382512"/>
            <a:ext cx="13106095" cy="502920"/>
          </a:xfrm>
          <a:prstGeom prst="rect">
            <a:avLst/>
          </a:prstGeom>
          <a:solidFill>
            <a:srgbClr val="12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874519"/>
            <a:ext cx="822960" cy="6858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2176272"/>
            <a:ext cx="10874959" cy="457200"/>
          </a:xfrm>
          <a:prstGeom prst="rect">
            <a:avLst/>
          </a:prstGeom>
          <a:noFill/>
        </p:spPr>
        <p:txBody>
          <a:bodyPr wrap="square" lIns="0" rIns="0" tIns="0" bIns="0" anchor="t">
            <a:spAutoFit/>
          </a:bodyPr>
          <a:lstStyle/>
          <a:p>
            <a:pPr algn="l">
              <a:lnSpc>
                <a:spcPct val="115000"/>
              </a:lnSpc>
            </a:pPr>
            <a:r>
              <a:rPr sz="1200" b="1" i="0">
                <a:solidFill>
                  <a:srgbClr val="22B8D4"/>
                </a:solidFill>
                <a:latin typeface="Segoe UI"/>
              </a:rPr>
              <a:t>PART 04</a:t>
            </a:r>
          </a:p>
        </p:txBody>
      </p:sp>
      <p:sp>
        <p:nvSpPr>
          <p:cNvPr id="7" name="TextBox 6"/>
          <p:cNvSpPr txBox="1"/>
          <p:nvPr/>
        </p:nvSpPr>
        <p:spPr>
          <a:xfrm>
            <a:off x="658368" y="2560320"/>
            <a:ext cx="8156219" cy="914400"/>
          </a:xfrm>
          <a:prstGeom prst="rect">
            <a:avLst/>
          </a:prstGeom>
          <a:noFill/>
        </p:spPr>
        <p:txBody>
          <a:bodyPr wrap="square" lIns="0" rIns="0" tIns="0" bIns="0" anchor="t">
            <a:spAutoFit/>
          </a:bodyPr>
          <a:lstStyle/>
          <a:p>
            <a:pPr algn="l">
              <a:lnSpc>
                <a:spcPct val="115000"/>
              </a:lnSpc>
            </a:pPr>
            <a:r>
              <a:rPr sz="4200" b="1" i="0">
                <a:solidFill>
                  <a:srgbClr val="FFFFFF"/>
                </a:solidFill>
                <a:latin typeface="Segoe UI Light"/>
              </a:rPr>
              <a:t>Engineering</a:t>
            </a:r>
          </a:p>
        </p:txBody>
      </p:sp>
      <p:sp>
        <p:nvSpPr>
          <p:cNvPr id="8" name="TextBox 7"/>
          <p:cNvSpPr txBox="1"/>
          <p:nvPr/>
        </p:nvSpPr>
        <p:spPr>
          <a:xfrm>
            <a:off x="658368" y="3566160"/>
            <a:ext cx="6742474" cy="731520"/>
          </a:xfrm>
          <a:prstGeom prst="rect">
            <a:avLst/>
          </a:prstGeom>
          <a:noFill/>
        </p:spPr>
        <p:txBody>
          <a:bodyPr wrap="square" lIns="0" rIns="0" tIns="0" bIns="0" anchor="t">
            <a:spAutoFit/>
          </a:bodyPr>
          <a:lstStyle/>
          <a:p>
            <a:pPr algn="l">
              <a:lnSpc>
                <a:spcPct val="135000"/>
              </a:lnSpc>
            </a:pPr>
            <a:r>
              <a:rPr sz="1400" b="0" i="0">
                <a:solidFill>
                  <a:srgbClr val="A9C8D8"/>
                </a:solidFill>
                <a:latin typeface="Segoe UI"/>
              </a:rPr>
              <a:t>The work that does not show up in a demo: speed, safety, proof and delivery.</a:t>
            </a:r>
          </a:p>
        </p:txBody>
      </p:sp>
      <p:sp>
        <p:nvSpPr>
          <p:cNvPr id="9" name="Rounded Rectangle 8"/>
          <p:cNvSpPr/>
          <p:nvPr/>
        </p:nvSpPr>
        <p:spPr>
          <a:xfrm>
            <a:off x="7692847" y="2066543"/>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Performance</a:t>
            </a:r>
          </a:p>
        </p:txBody>
      </p:sp>
      <p:sp>
        <p:nvSpPr>
          <p:cNvPr id="10" name="Rounded Rectangle 9"/>
          <p:cNvSpPr/>
          <p:nvPr/>
        </p:nvSpPr>
        <p:spPr>
          <a:xfrm>
            <a:off x="7692847" y="2542032"/>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Security</a:t>
            </a:r>
          </a:p>
        </p:txBody>
      </p:sp>
      <p:sp>
        <p:nvSpPr>
          <p:cNvPr id="11" name="Rounded Rectangle 10"/>
          <p:cNvSpPr/>
          <p:nvPr/>
        </p:nvSpPr>
        <p:spPr>
          <a:xfrm>
            <a:off x="7692847" y="3017520"/>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Testing &amp; CI</a:t>
            </a:r>
          </a:p>
        </p:txBody>
      </p:sp>
      <p:sp>
        <p:nvSpPr>
          <p:cNvPr id="12" name="Rounded Rectangle 11"/>
          <p:cNvSpPr/>
          <p:nvPr/>
        </p:nvSpPr>
        <p:spPr>
          <a:xfrm>
            <a:off x="7692847" y="3493008"/>
            <a:ext cx="3840480" cy="384048"/>
          </a:xfrm>
          <a:prstGeom prst="roundRect">
            <a:avLst>
              <a:gd name="adj" fmla="val 5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lnSpc>
                <a:spcPct val="110000"/>
              </a:lnSpc>
            </a:pPr>
            <a:r>
              <a:rPr sz="1100" b="1">
                <a:solidFill>
                  <a:srgbClr val="9CD8E8"/>
                </a:solidFill>
                <a:latin typeface="Segoe UI"/>
              </a:rPr>
              <a:t>Deployment &amp; operations</a:t>
            </a:r>
          </a:p>
        </p:txBody>
      </p:sp>
      <p:sp>
        <p:nvSpPr>
          <p:cNvPr id="13" name="TextBox 12"/>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14" name="TextBox 13"/>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
            </a:r>
          </a:p>
        </p:txBody>
      </p:sp>
      <p:sp>
        <p:nvSpPr>
          <p:cNvPr id="15" name="TextBox 14"/>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ENGINEERING</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Performance engineering</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Three pressure points: a canvas with many nodes, a results list with many rows, and a solver that must never block the API.</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3454298" cy="324612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3454298"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2267711"/>
            <a:ext cx="2997098" cy="274320"/>
          </a:xfrm>
          <a:prstGeom prst="rect">
            <a:avLst/>
          </a:prstGeom>
          <a:noFill/>
        </p:spPr>
        <p:txBody>
          <a:bodyPr wrap="square" lIns="0" rIns="0" tIns="0" bIns="0" anchor="t">
            <a:spAutoFit/>
          </a:bodyPr>
          <a:lstStyle/>
          <a:p>
            <a:pPr algn="l">
              <a:lnSpc>
                <a:spcPct val="115000"/>
              </a:lnSpc>
            </a:pPr>
            <a:r>
              <a:rPr sz="1400" b="1" i="0">
                <a:solidFill>
                  <a:srgbClr val="062438"/>
                </a:solidFill>
                <a:latin typeface="Segoe UI"/>
              </a:rPr>
              <a:t>The canvas</a:t>
            </a:r>
          </a:p>
        </p:txBody>
      </p:sp>
      <p:sp>
        <p:nvSpPr>
          <p:cNvPr id="10" name="Oval 9"/>
          <p:cNvSpPr/>
          <p:nvPr/>
        </p:nvSpPr>
        <p:spPr>
          <a:xfrm>
            <a:off x="914400" y="2734056"/>
            <a:ext cx="82296" cy="822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115568" y="2642616"/>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Hot handlers wrapped in useCallback so identity is stable</a:t>
            </a:r>
          </a:p>
        </p:txBody>
      </p:sp>
      <p:sp>
        <p:nvSpPr>
          <p:cNvPr id="12" name="Oval 11"/>
          <p:cNvSpPr/>
          <p:nvPr/>
        </p:nvSpPr>
        <p:spPr>
          <a:xfrm>
            <a:off x="914400" y="3246120"/>
            <a:ext cx="82296" cy="822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115568" y="3154680"/>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React.memo on edges and side panels — ReactFlow re-renders everything otherwise</a:t>
            </a:r>
          </a:p>
        </p:txBody>
      </p:sp>
      <p:sp>
        <p:nvSpPr>
          <p:cNvPr id="14" name="Oval 13"/>
          <p:cNvSpPr/>
          <p:nvPr/>
        </p:nvSpPr>
        <p:spPr>
          <a:xfrm>
            <a:off x="914400" y="3758184"/>
            <a:ext cx="82296" cy="822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115568" y="3666744"/>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Derived summary, costs and warnings computed with useMemo</a:t>
            </a:r>
          </a:p>
        </p:txBody>
      </p:sp>
      <p:sp>
        <p:nvSpPr>
          <p:cNvPr id="16" name="Oval 15"/>
          <p:cNvSpPr/>
          <p:nvPr/>
        </p:nvSpPr>
        <p:spPr>
          <a:xfrm>
            <a:off x="914400" y="4270248"/>
            <a:ext cx="82296" cy="822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115568" y="4178807"/>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Auto-save debounced to 3 s after the last edit</a:t>
            </a:r>
          </a:p>
        </p:txBody>
      </p:sp>
      <p:sp>
        <p:nvSpPr>
          <p:cNvPr id="18" name="Oval 17"/>
          <p:cNvSpPr/>
          <p:nvPr/>
        </p:nvSpPr>
        <p:spPr>
          <a:xfrm>
            <a:off x="914400" y="4782312"/>
            <a:ext cx="82296" cy="822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115568" y="4690872"/>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A dev-only FPS overlay, green above 55 fps, red below 30</a:t>
            </a:r>
          </a:p>
        </p:txBody>
      </p:sp>
      <p:sp>
        <p:nvSpPr>
          <p:cNvPr id="20" name="Rounded Rectangle 19"/>
          <p:cNvSpPr/>
          <p:nvPr/>
        </p:nvSpPr>
        <p:spPr>
          <a:xfrm>
            <a:off x="4368698" y="2048255"/>
            <a:ext cx="3454298" cy="324612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368698" y="2048255"/>
            <a:ext cx="3454298" cy="54864"/>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606442" y="2267711"/>
            <a:ext cx="2997098" cy="274320"/>
          </a:xfrm>
          <a:prstGeom prst="rect">
            <a:avLst/>
          </a:prstGeom>
          <a:noFill/>
        </p:spPr>
        <p:txBody>
          <a:bodyPr wrap="square" lIns="0" rIns="0" tIns="0" bIns="0" anchor="t">
            <a:spAutoFit/>
          </a:bodyPr>
          <a:lstStyle/>
          <a:p>
            <a:pPr algn="l">
              <a:lnSpc>
                <a:spcPct val="115000"/>
              </a:lnSpc>
            </a:pPr>
            <a:r>
              <a:rPr sz="1400" b="1" i="0">
                <a:solidFill>
                  <a:srgbClr val="062438"/>
                </a:solidFill>
                <a:latin typeface="Segoe UI"/>
              </a:rPr>
              <a:t>The lists</a:t>
            </a:r>
          </a:p>
        </p:txBody>
      </p:sp>
      <p:sp>
        <p:nvSpPr>
          <p:cNvPr id="23" name="Oval 22"/>
          <p:cNvSpPr/>
          <p:nvPr/>
        </p:nvSpPr>
        <p:spPr>
          <a:xfrm>
            <a:off x="4624730" y="2734056"/>
            <a:ext cx="82296" cy="822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825898" y="2642616"/>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A virtual-scroll hook renders only the visible rows</a:t>
            </a:r>
          </a:p>
        </p:txBody>
      </p:sp>
      <p:sp>
        <p:nvSpPr>
          <p:cNvPr id="25" name="Oval 24"/>
          <p:cNvSpPr/>
          <p:nvPr/>
        </p:nvSpPr>
        <p:spPr>
          <a:xfrm>
            <a:off x="4624730" y="3246120"/>
            <a:ext cx="82296" cy="822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825898" y="3154680"/>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Fixed 56 px row height keeps the slice arithmetic O(1)</a:t>
            </a:r>
          </a:p>
        </p:txBody>
      </p:sp>
      <p:sp>
        <p:nvSpPr>
          <p:cNvPr id="27" name="Oval 26"/>
          <p:cNvSpPr/>
          <p:nvPr/>
        </p:nvSpPr>
        <p:spPr>
          <a:xfrm>
            <a:off x="4624730" y="3758184"/>
            <a:ext cx="82296" cy="822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825898" y="3666744"/>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Sticky header, skeleton overlay while loading</a:t>
            </a:r>
          </a:p>
        </p:txBody>
      </p:sp>
      <p:sp>
        <p:nvSpPr>
          <p:cNvPr id="29" name="Oval 28"/>
          <p:cNvSpPr/>
          <p:nvPr/>
        </p:nvSpPr>
        <p:spPr>
          <a:xfrm>
            <a:off x="4624730" y="4270248"/>
            <a:ext cx="82296" cy="822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825898" y="4178807"/>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Cursor pagination on completed_at instead of OFFSET</a:t>
            </a:r>
          </a:p>
        </p:txBody>
      </p:sp>
      <p:sp>
        <p:nvSpPr>
          <p:cNvPr id="31" name="Oval 30"/>
          <p:cNvSpPr/>
          <p:nvPr/>
        </p:nvSpPr>
        <p:spPr>
          <a:xfrm>
            <a:off x="4624730" y="4782312"/>
            <a:ext cx="82296" cy="822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825898" y="4690872"/>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Infinite scroll via an IntersectionObserver sentinel</a:t>
            </a:r>
          </a:p>
        </p:txBody>
      </p:sp>
      <p:sp>
        <p:nvSpPr>
          <p:cNvPr id="33" name="Rounded Rectangle 32"/>
          <p:cNvSpPr/>
          <p:nvPr/>
        </p:nvSpPr>
        <p:spPr>
          <a:xfrm>
            <a:off x="8079028" y="2048255"/>
            <a:ext cx="3454298" cy="324612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79028" y="2048255"/>
            <a:ext cx="3454298" cy="54864"/>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316772" y="2267711"/>
            <a:ext cx="2997098" cy="274320"/>
          </a:xfrm>
          <a:prstGeom prst="rect">
            <a:avLst/>
          </a:prstGeom>
          <a:noFill/>
        </p:spPr>
        <p:txBody>
          <a:bodyPr wrap="square" lIns="0" rIns="0" tIns="0" bIns="0" anchor="t">
            <a:spAutoFit/>
          </a:bodyPr>
          <a:lstStyle/>
          <a:p>
            <a:pPr algn="l">
              <a:lnSpc>
                <a:spcPct val="115000"/>
              </a:lnSpc>
            </a:pPr>
            <a:r>
              <a:rPr sz="1400" b="1" i="0">
                <a:solidFill>
                  <a:srgbClr val="062438"/>
                </a:solidFill>
                <a:latin typeface="Segoe UI"/>
              </a:rPr>
              <a:t>The server</a:t>
            </a:r>
          </a:p>
        </p:txBody>
      </p:sp>
      <p:sp>
        <p:nvSpPr>
          <p:cNvPr id="36" name="Oval 35"/>
          <p:cNvSpPr/>
          <p:nvPr/>
        </p:nvSpPr>
        <p:spPr>
          <a:xfrm>
            <a:off x="8335060" y="2734056"/>
            <a:ext cx="82296" cy="82296"/>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536228" y="2642616"/>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The solver runs in worker threads, never on the event loop</a:t>
            </a:r>
          </a:p>
        </p:txBody>
      </p:sp>
      <p:sp>
        <p:nvSpPr>
          <p:cNvPr id="38" name="Oval 37"/>
          <p:cNvSpPr/>
          <p:nvPr/>
        </p:nvSpPr>
        <p:spPr>
          <a:xfrm>
            <a:off x="8335060" y="3246120"/>
            <a:ext cx="82296" cy="82296"/>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536228" y="3154680"/>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Concurrency capped at 4 with a FIFO queue in front</a:t>
            </a:r>
          </a:p>
        </p:txBody>
      </p:sp>
      <p:sp>
        <p:nvSpPr>
          <p:cNvPr id="40" name="Oval 39"/>
          <p:cNvSpPr/>
          <p:nvPr/>
        </p:nvSpPr>
        <p:spPr>
          <a:xfrm>
            <a:off x="8335060" y="3758184"/>
            <a:ext cx="82296" cy="82296"/>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536228" y="3666744"/>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60-second wall-clock timeout terminates a runaway worker</a:t>
            </a:r>
          </a:p>
        </p:txBody>
      </p:sp>
      <p:sp>
        <p:nvSpPr>
          <p:cNvPr id="42" name="Oval 41"/>
          <p:cNvSpPr/>
          <p:nvPr/>
        </p:nvSpPr>
        <p:spPr>
          <a:xfrm>
            <a:off x="8335060" y="4270248"/>
            <a:ext cx="82296" cy="82296"/>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536228" y="4178807"/>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Six partial indexes, created CONCURRENTLY, on completed runs</a:t>
            </a:r>
          </a:p>
        </p:txBody>
      </p:sp>
      <p:sp>
        <p:nvSpPr>
          <p:cNvPr id="44" name="Oval 43"/>
          <p:cNvSpPr/>
          <p:nvPr/>
        </p:nvSpPr>
        <p:spPr>
          <a:xfrm>
            <a:off x="8335060" y="4782312"/>
            <a:ext cx="82296" cy="82296"/>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536228" y="4690872"/>
            <a:ext cx="2741066" cy="640080"/>
          </a:xfrm>
          <a:prstGeom prst="rect">
            <a:avLst/>
          </a:prstGeom>
          <a:noFill/>
        </p:spPr>
        <p:txBody>
          <a:bodyPr wrap="square" lIns="0" rIns="0" tIns="0" bIns="0" anchor="t">
            <a:spAutoFit/>
          </a:bodyPr>
          <a:lstStyle/>
          <a:p>
            <a:pPr algn="l">
              <a:lnSpc>
                <a:spcPct val="125000"/>
              </a:lnSpc>
            </a:pPr>
            <a:r>
              <a:rPr sz="1000" b="0" i="0">
                <a:solidFill>
                  <a:srgbClr val="64748B"/>
                </a:solidFill>
                <a:latin typeface="Segoe UI"/>
              </a:rPr>
              <a:t>limit+1 fetch detects the next page without a second count</a:t>
            </a:r>
          </a:p>
        </p:txBody>
      </p:sp>
      <p:sp>
        <p:nvSpPr>
          <p:cNvPr id="46" name="Rounded Rectangle 45"/>
          <p:cNvSpPr/>
          <p:nvPr/>
        </p:nvSpPr>
        <p:spPr>
          <a:xfrm>
            <a:off x="658368" y="5486400"/>
            <a:ext cx="10874959" cy="512064"/>
          </a:xfrm>
          <a:prstGeom prst="roundRect">
            <a:avLst>
              <a:gd name="adj" fmla="val 16000"/>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32688" y="5486400"/>
            <a:ext cx="10326319" cy="512064"/>
          </a:xfrm>
          <a:prstGeom prst="rect">
            <a:avLst/>
          </a:prstGeom>
          <a:noFill/>
        </p:spPr>
        <p:txBody>
          <a:bodyPr wrap="square" lIns="0" rIns="0" tIns="0" bIns="0" anchor="ctr">
            <a:spAutoFit/>
          </a:bodyPr>
          <a:lstStyle/>
          <a:p>
            <a:pPr algn="l">
              <a:lnSpc>
                <a:spcPct val="115000"/>
              </a:lnSpc>
            </a:pPr>
            <a:r>
              <a:rPr sz="1100" b="0" i="0">
                <a:solidFill>
                  <a:srgbClr val="0E7490"/>
                </a:solidFill>
                <a:latin typeface="Segoe UI"/>
              </a:rPr>
              <a:t>The rule applied throughout: keep the number of things in the DOM and the number of rows crossing the wire proportional to what the user can actually see.</a:t>
            </a:r>
          </a:p>
        </p:txBody>
      </p:sp>
      <p:sp>
        <p:nvSpPr>
          <p:cNvPr id="48" name="TextBox 47"/>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9" name="TextBox 48"/>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Engineering</a:t>
            </a:r>
          </a:p>
        </p:txBody>
      </p:sp>
      <p:sp>
        <p:nvSpPr>
          <p:cNvPr id="50" name="TextBox 49"/>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ENGINEERING</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Security posture</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Defence in layers — the network edge, the request, the query and the record.</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5291175" cy="201168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45720" cy="20116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249424"/>
            <a:ext cx="4833975" cy="274320"/>
          </a:xfrm>
          <a:prstGeom prst="rect">
            <a:avLst/>
          </a:prstGeom>
          <a:noFill/>
        </p:spPr>
        <p:txBody>
          <a:bodyPr wrap="square" lIns="0" rIns="0" tIns="0" bIns="0" anchor="t">
            <a:spAutoFit/>
          </a:bodyPr>
          <a:lstStyle/>
          <a:p>
            <a:pPr algn="l">
              <a:lnSpc>
                <a:spcPct val="115000"/>
              </a:lnSpc>
            </a:pPr>
            <a:r>
              <a:rPr sz="1350" b="1" i="0">
                <a:solidFill>
                  <a:srgbClr val="062438"/>
                </a:solidFill>
                <a:latin typeface="Segoe UI"/>
              </a:rPr>
              <a:t>At the edge</a:t>
            </a:r>
          </a:p>
        </p:txBody>
      </p:sp>
      <p:sp>
        <p:nvSpPr>
          <p:cNvPr id="10" name="Oval 9"/>
          <p:cNvSpPr/>
          <p:nvPr/>
        </p:nvSpPr>
        <p:spPr>
          <a:xfrm>
            <a:off x="932688" y="2715768"/>
            <a:ext cx="82296" cy="822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133856" y="2624328"/>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Helmet with a strict Content-Security-Policy</a:t>
            </a:r>
          </a:p>
        </p:txBody>
      </p:sp>
      <p:sp>
        <p:nvSpPr>
          <p:cNvPr id="12" name="Oval 11"/>
          <p:cNvSpPr/>
          <p:nvPr/>
        </p:nvSpPr>
        <p:spPr>
          <a:xfrm>
            <a:off x="932688" y="3081527"/>
            <a:ext cx="82296" cy="822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133856" y="2990088"/>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HSTS with preload, production only</a:t>
            </a:r>
          </a:p>
        </p:txBody>
      </p:sp>
      <p:sp>
        <p:nvSpPr>
          <p:cNvPr id="14" name="Oval 13"/>
          <p:cNvSpPr/>
          <p:nvPr/>
        </p:nvSpPr>
        <p:spPr>
          <a:xfrm>
            <a:off x="932688" y="3447287"/>
            <a:ext cx="82296" cy="822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133856" y="3355848"/>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CORS locked to a configured origin, credentials allowed</a:t>
            </a:r>
          </a:p>
        </p:txBody>
      </p:sp>
      <p:sp>
        <p:nvSpPr>
          <p:cNvPr id="16" name="Oval 15"/>
          <p:cNvSpPr/>
          <p:nvPr/>
        </p:nvSpPr>
        <p:spPr>
          <a:xfrm>
            <a:off x="932688" y="3813048"/>
            <a:ext cx="82296" cy="82296"/>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133856" y="3721607"/>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trust proxy set so client IPs survive the load balancer</a:t>
            </a:r>
          </a:p>
        </p:txBody>
      </p:sp>
      <p:sp>
        <p:nvSpPr>
          <p:cNvPr id="18" name="Rounded Rectangle 17"/>
          <p:cNvSpPr/>
          <p:nvPr/>
        </p:nvSpPr>
        <p:spPr>
          <a:xfrm>
            <a:off x="6242151" y="2048255"/>
            <a:ext cx="5291175" cy="201168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2151" y="2048255"/>
            <a:ext cx="45720" cy="201168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98183" y="2249424"/>
            <a:ext cx="4833975" cy="274320"/>
          </a:xfrm>
          <a:prstGeom prst="rect">
            <a:avLst/>
          </a:prstGeom>
          <a:noFill/>
        </p:spPr>
        <p:txBody>
          <a:bodyPr wrap="square" lIns="0" rIns="0" tIns="0" bIns="0" anchor="t">
            <a:spAutoFit/>
          </a:bodyPr>
          <a:lstStyle/>
          <a:p>
            <a:pPr algn="l">
              <a:lnSpc>
                <a:spcPct val="115000"/>
              </a:lnSpc>
            </a:pPr>
            <a:r>
              <a:rPr sz="1350" b="1" i="0">
                <a:solidFill>
                  <a:srgbClr val="062438"/>
                </a:solidFill>
                <a:latin typeface="Segoe UI"/>
              </a:rPr>
              <a:t>On the request</a:t>
            </a:r>
          </a:p>
        </p:txBody>
      </p:sp>
      <p:sp>
        <p:nvSpPr>
          <p:cNvPr id="21" name="Oval 20"/>
          <p:cNvSpPr/>
          <p:nvPr/>
        </p:nvSpPr>
        <p:spPr>
          <a:xfrm>
            <a:off x="6516471" y="2715768"/>
            <a:ext cx="82296" cy="822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17639" y="2624328"/>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JWT bearer authentication, then hierarchical RBAC</a:t>
            </a:r>
          </a:p>
        </p:txBody>
      </p:sp>
      <p:sp>
        <p:nvSpPr>
          <p:cNvPr id="23" name="Oval 22"/>
          <p:cNvSpPr/>
          <p:nvPr/>
        </p:nvSpPr>
        <p:spPr>
          <a:xfrm>
            <a:off x="6516471" y="3081527"/>
            <a:ext cx="82296" cy="822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717639" y="2990088"/>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express-validator on every mutating body and param</a:t>
            </a:r>
          </a:p>
        </p:txBody>
      </p:sp>
      <p:sp>
        <p:nvSpPr>
          <p:cNvPr id="25" name="Oval 24"/>
          <p:cNvSpPr/>
          <p:nvPr/>
        </p:nvSpPr>
        <p:spPr>
          <a:xfrm>
            <a:off x="6516471" y="3447287"/>
            <a:ext cx="82296" cy="822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717639" y="3355848"/>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Rate limits: 500 per 15 min global, 20 per 15 min on auth</a:t>
            </a:r>
          </a:p>
        </p:txBody>
      </p:sp>
      <p:sp>
        <p:nvSpPr>
          <p:cNvPr id="27" name="Oval 26"/>
          <p:cNvSpPr/>
          <p:nvPr/>
        </p:nvSpPr>
        <p:spPr>
          <a:xfrm>
            <a:off x="6516471" y="3813048"/>
            <a:ext cx="82296" cy="82296"/>
          </a:xfrm>
          <a:prstGeom prst="ellipse">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717639" y="3721607"/>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A correlation id on every request, logged end to end</a:t>
            </a:r>
          </a:p>
        </p:txBody>
      </p:sp>
      <p:sp>
        <p:nvSpPr>
          <p:cNvPr id="29" name="Rounded Rectangle 28"/>
          <p:cNvSpPr/>
          <p:nvPr/>
        </p:nvSpPr>
        <p:spPr>
          <a:xfrm>
            <a:off x="658368" y="4224527"/>
            <a:ext cx="5291175" cy="201168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58368" y="4224527"/>
            <a:ext cx="45720" cy="2011680"/>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4400" y="4425695"/>
            <a:ext cx="4833975" cy="274320"/>
          </a:xfrm>
          <a:prstGeom prst="rect">
            <a:avLst/>
          </a:prstGeom>
          <a:noFill/>
        </p:spPr>
        <p:txBody>
          <a:bodyPr wrap="square" lIns="0" rIns="0" tIns="0" bIns="0" anchor="t">
            <a:spAutoFit/>
          </a:bodyPr>
          <a:lstStyle/>
          <a:p>
            <a:pPr algn="l">
              <a:lnSpc>
                <a:spcPct val="115000"/>
              </a:lnSpc>
            </a:pPr>
            <a:r>
              <a:rPr sz="1350" b="1" i="0">
                <a:solidFill>
                  <a:srgbClr val="062438"/>
                </a:solidFill>
                <a:latin typeface="Segoe UI"/>
              </a:rPr>
              <a:t>On the data</a:t>
            </a:r>
          </a:p>
        </p:txBody>
      </p:sp>
      <p:sp>
        <p:nvSpPr>
          <p:cNvPr id="32" name="Oval 31"/>
          <p:cNvSpPr/>
          <p:nvPr/>
        </p:nvSpPr>
        <p:spPr>
          <a:xfrm>
            <a:off x="932688" y="4892040"/>
            <a:ext cx="82296" cy="82296"/>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133856" y="4800599"/>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Parameterised SQL everywhere — no string-built queries</a:t>
            </a:r>
          </a:p>
        </p:txBody>
      </p:sp>
      <p:sp>
        <p:nvSpPr>
          <p:cNvPr id="34" name="Oval 33"/>
          <p:cNvSpPr/>
          <p:nvPr/>
        </p:nvSpPr>
        <p:spPr>
          <a:xfrm>
            <a:off x="932688" y="5257800"/>
            <a:ext cx="82296" cy="82296"/>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133856" y="5166359"/>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Every read scoped by the organisation id from the token</a:t>
            </a:r>
          </a:p>
        </p:txBody>
      </p:sp>
      <p:sp>
        <p:nvSpPr>
          <p:cNvPr id="36" name="Oval 35"/>
          <p:cNvSpPr/>
          <p:nvPr/>
        </p:nvSpPr>
        <p:spPr>
          <a:xfrm>
            <a:off x="932688" y="5623560"/>
            <a:ext cx="82296" cy="82296"/>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133856" y="5532120"/>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bcrypt password hashes, stripped from all responses</a:t>
            </a:r>
          </a:p>
        </p:txBody>
      </p:sp>
      <p:sp>
        <p:nvSpPr>
          <p:cNvPr id="38" name="Oval 37"/>
          <p:cNvSpPr/>
          <p:nvPr/>
        </p:nvSpPr>
        <p:spPr>
          <a:xfrm>
            <a:off x="932688" y="5989320"/>
            <a:ext cx="82296" cy="82296"/>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133856" y="5897880"/>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Refresh tokens stored server-side and revocable</a:t>
            </a:r>
          </a:p>
        </p:txBody>
      </p:sp>
      <p:sp>
        <p:nvSpPr>
          <p:cNvPr id="40" name="Rounded Rectangle 39"/>
          <p:cNvSpPr/>
          <p:nvPr/>
        </p:nvSpPr>
        <p:spPr>
          <a:xfrm>
            <a:off x="6242151" y="4224527"/>
            <a:ext cx="5291175" cy="201168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242151" y="4224527"/>
            <a:ext cx="45720" cy="2011680"/>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498183" y="4425695"/>
            <a:ext cx="4833975" cy="274320"/>
          </a:xfrm>
          <a:prstGeom prst="rect">
            <a:avLst/>
          </a:prstGeom>
          <a:noFill/>
        </p:spPr>
        <p:txBody>
          <a:bodyPr wrap="square" lIns="0" rIns="0" tIns="0" bIns="0" anchor="t">
            <a:spAutoFit/>
          </a:bodyPr>
          <a:lstStyle/>
          <a:p>
            <a:pPr algn="l">
              <a:lnSpc>
                <a:spcPct val="115000"/>
              </a:lnSpc>
            </a:pPr>
            <a:r>
              <a:rPr sz="1350" b="1" i="0">
                <a:solidFill>
                  <a:srgbClr val="062438"/>
                </a:solidFill>
                <a:latin typeface="Segoe UI"/>
              </a:rPr>
              <a:t>At startup and after</a:t>
            </a:r>
          </a:p>
        </p:txBody>
      </p:sp>
      <p:sp>
        <p:nvSpPr>
          <p:cNvPr id="43" name="Oval 42"/>
          <p:cNvSpPr/>
          <p:nvPr/>
        </p:nvSpPr>
        <p:spPr>
          <a:xfrm>
            <a:off x="6516471" y="4892040"/>
            <a:ext cx="82296" cy="82296"/>
          </a:xfrm>
          <a:prstGeom prst="ellipse">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717639" y="4800599"/>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Production requires JWT_SECRET, DATABASE_URL and CORS_ORIGIN</a:t>
            </a:r>
          </a:p>
        </p:txBody>
      </p:sp>
      <p:sp>
        <p:nvSpPr>
          <p:cNvPr id="45" name="Oval 44"/>
          <p:cNvSpPr/>
          <p:nvPr/>
        </p:nvSpPr>
        <p:spPr>
          <a:xfrm>
            <a:off x="6516471" y="5257800"/>
            <a:ext cx="82296" cy="82296"/>
          </a:xfrm>
          <a:prstGeom prst="ellipse">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717639" y="5166359"/>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JWT_SECRET must be at least 32 characters, or startup fails</a:t>
            </a:r>
          </a:p>
        </p:txBody>
      </p:sp>
      <p:sp>
        <p:nvSpPr>
          <p:cNvPr id="47" name="Oval 46"/>
          <p:cNvSpPr/>
          <p:nvPr/>
        </p:nvSpPr>
        <p:spPr>
          <a:xfrm>
            <a:off x="6516471" y="5623560"/>
            <a:ext cx="82296" cy="82296"/>
          </a:xfrm>
          <a:prstGeom prst="ellipse">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717639" y="5532120"/>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Privileged actions written to an audit log</a:t>
            </a:r>
          </a:p>
        </p:txBody>
      </p:sp>
      <p:sp>
        <p:nvSpPr>
          <p:cNvPr id="49" name="Oval 48"/>
          <p:cNvSpPr/>
          <p:nvPr/>
        </p:nvSpPr>
        <p:spPr>
          <a:xfrm>
            <a:off x="6516471" y="5989320"/>
            <a:ext cx="82296" cy="82296"/>
          </a:xfrm>
          <a:prstGeom prst="ellipse">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717639" y="5897880"/>
            <a:ext cx="4541367" cy="548640"/>
          </a:xfrm>
          <a:prstGeom prst="rect">
            <a:avLst/>
          </a:prstGeom>
          <a:noFill/>
        </p:spPr>
        <p:txBody>
          <a:bodyPr wrap="square" lIns="0" rIns="0" tIns="0" bIns="0" anchor="t">
            <a:spAutoFit/>
          </a:bodyPr>
          <a:lstStyle/>
          <a:p>
            <a:pPr algn="l">
              <a:lnSpc>
                <a:spcPct val="122000"/>
              </a:lnSpc>
            </a:pPr>
            <a:r>
              <a:rPr sz="1050" b="0" i="0">
                <a:solidFill>
                  <a:srgbClr val="64748B"/>
                </a:solidFill>
                <a:latin typeface="Segoe UI"/>
              </a:rPr>
              <a:t>Errors returned generically; stack traces stay in the logs</a:t>
            </a:r>
          </a:p>
        </p:txBody>
      </p:sp>
      <p:sp>
        <p:nvSpPr>
          <p:cNvPr id="51" name="TextBox 50"/>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52" name="TextBox 51"/>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Engineering</a:t>
            </a:r>
          </a:p>
        </p:txBody>
      </p:sp>
      <p:sp>
        <p:nvSpPr>
          <p:cNvPr id="53" name="TextBox 52"/>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ENGINEERING</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Testing and continuous delivery</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Three levels of test, enforced coverage floors, and a pipeline that builds the images it deploys.</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3454298" cy="1389888"/>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45720" cy="138988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231136"/>
            <a:ext cx="2997098" cy="201168"/>
          </a:xfrm>
          <a:prstGeom prst="rect">
            <a:avLst/>
          </a:prstGeom>
          <a:noFill/>
        </p:spPr>
        <p:txBody>
          <a:bodyPr wrap="square" lIns="0" rIns="0" tIns="0" bIns="0" anchor="t">
            <a:spAutoFit/>
          </a:bodyPr>
          <a:lstStyle/>
          <a:p>
            <a:pPr algn="l">
              <a:lnSpc>
                <a:spcPct val="115000"/>
              </a:lnSpc>
            </a:pPr>
            <a:r>
              <a:rPr sz="900" b="1" i="0">
                <a:solidFill>
                  <a:srgbClr val="0E7490"/>
                </a:solidFill>
                <a:latin typeface="Segoe UI"/>
              </a:rPr>
              <a:t>17 JEST SUITES</a:t>
            </a:r>
          </a:p>
        </p:txBody>
      </p:sp>
      <p:sp>
        <p:nvSpPr>
          <p:cNvPr id="10" name="TextBox 9"/>
          <p:cNvSpPr txBox="1"/>
          <p:nvPr/>
        </p:nvSpPr>
        <p:spPr>
          <a:xfrm>
            <a:off x="914400" y="2468880"/>
            <a:ext cx="2997098" cy="292608"/>
          </a:xfrm>
          <a:prstGeom prst="rect">
            <a:avLst/>
          </a:prstGeom>
          <a:noFill/>
        </p:spPr>
        <p:txBody>
          <a:bodyPr wrap="square" lIns="0" rIns="0" tIns="0" bIns="0" anchor="t">
            <a:spAutoFit/>
          </a:bodyPr>
          <a:lstStyle/>
          <a:p>
            <a:pPr algn="l">
              <a:lnSpc>
                <a:spcPct val="115000"/>
              </a:lnSpc>
            </a:pPr>
            <a:r>
              <a:rPr sz="1350" b="1" i="0">
                <a:solidFill>
                  <a:srgbClr val="062438"/>
                </a:solidFill>
                <a:latin typeface="Segoe UI"/>
              </a:rPr>
              <a:t>API tests</a:t>
            </a:r>
          </a:p>
        </p:txBody>
      </p:sp>
      <p:sp>
        <p:nvSpPr>
          <p:cNvPr id="11" name="TextBox 10"/>
          <p:cNvSpPr txBox="1"/>
          <p:nvPr/>
        </p:nvSpPr>
        <p:spPr>
          <a:xfrm>
            <a:off x="914400" y="2798064"/>
            <a:ext cx="2997098" cy="512063"/>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Auth, RBAC, projects, flowsheets, the solver graph, mass conservation, cost, PLC drivers, alarms, reliability and health.</a:t>
            </a:r>
          </a:p>
        </p:txBody>
      </p:sp>
      <p:sp>
        <p:nvSpPr>
          <p:cNvPr id="12" name="Rounded Rectangle 11"/>
          <p:cNvSpPr/>
          <p:nvPr/>
        </p:nvSpPr>
        <p:spPr>
          <a:xfrm>
            <a:off x="4368698" y="2048255"/>
            <a:ext cx="3454298" cy="1389888"/>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68698" y="2048255"/>
            <a:ext cx="45720" cy="1389888"/>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624730" y="2231136"/>
            <a:ext cx="2997098" cy="201168"/>
          </a:xfrm>
          <a:prstGeom prst="rect">
            <a:avLst/>
          </a:prstGeom>
          <a:noFill/>
        </p:spPr>
        <p:txBody>
          <a:bodyPr wrap="square" lIns="0" rIns="0" tIns="0" bIns="0" anchor="t">
            <a:spAutoFit/>
          </a:bodyPr>
          <a:lstStyle/>
          <a:p>
            <a:pPr algn="l">
              <a:lnSpc>
                <a:spcPct val="115000"/>
              </a:lnSpc>
            </a:pPr>
            <a:r>
              <a:rPr sz="900" b="1" i="0">
                <a:solidFill>
                  <a:srgbClr val="22B8D4"/>
                </a:solidFill>
                <a:latin typeface="Segoe UI"/>
              </a:rPr>
              <a:t>22 VITEST FILES</a:t>
            </a:r>
          </a:p>
        </p:txBody>
      </p:sp>
      <p:sp>
        <p:nvSpPr>
          <p:cNvPr id="15" name="TextBox 14"/>
          <p:cNvSpPr txBox="1"/>
          <p:nvPr/>
        </p:nvSpPr>
        <p:spPr>
          <a:xfrm>
            <a:off x="4624730" y="2468880"/>
            <a:ext cx="2997098" cy="292608"/>
          </a:xfrm>
          <a:prstGeom prst="rect">
            <a:avLst/>
          </a:prstGeom>
          <a:noFill/>
        </p:spPr>
        <p:txBody>
          <a:bodyPr wrap="square" lIns="0" rIns="0" tIns="0" bIns="0" anchor="t">
            <a:spAutoFit/>
          </a:bodyPr>
          <a:lstStyle/>
          <a:p>
            <a:pPr algn="l">
              <a:lnSpc>
                <a:spcPct val="115000"/>
              </a:lnSpc>
            </a:pPr>
            <a:r>
              <a:rPr sz="1350" b="1" i="0">
                <a:solidFill>
                  <a:srgbClr val="062438"/>
                </a:solidFill>
                <a:latin typeface="Segoe UI"/>
              </a:rPr>
              <a:t>UI tests</a:t>
            </a:r>
          </a:p>
        </p:txBody>
      </p:sp>
      <p:sp>
        <p:nvSpPr>
          <p:cNvPr id="16" name="TextBox 15"/>
          <p:cNvSpPr txBox="1"/>
          <p:nvPr/>
        </p:nvSpPr>
        <p:spPr>
          <a:xfrm>
            <a:off x="4624730" y="2798064"/>
            <a:ext cx="2997098" cy="512063"/>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Auth context, the API client, canvas symbols, motion gating, reduced motion, live store, pagination, undo/redo and the alarm dialogs.</a:t>
            </a:r>
          </a:p>
        </p:txBody>
      </p:sp>
      <p:sp>
        <p:nvSpPr>
          <p:cNvPr id="17" name="Rounded Rectangle 16"/>
          <p:cNvSpPr/>
          <p:nvPr/>
        </p:nvSpPr>
        <p:spPr>
          <a:xfrm>
            <a:off x="8079028" y="2048255"/>
            <a:ext cx="3454298" cy="1389888"/>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79028" y="2048255"/>
            <a:ext cx="45720" cy="1389888"/>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35060" y="2231136"/>
            <a:ext cx="2997098" cy="201168"/>
          </a:xfrm>
          <a:prstGeom prst="rect">
            <a:avLst/>
          </a:prstGeom>
          <a:noFill/>
        </p:spPr>
        <p:txBody>
          <a:bodyPr wrap="square" lIns="0" rIns="0" tIns="0" bIns="0" anchor="t">
            <a:spAutoFit/>
          </a:bodyPr>
          <a:lstStyle/>
          <a:p>
            <a:pPr algn="l">
              <a:lnSpc>
                <a:spcPct val="115000"/>
              </a:lnSpc>
            </a:pPr>
            <a:r>
              <a:rPr sz="900" b="1" i="0">
                <a:solidFill>
                  <a:srgbClr val="6D359E"/>
                </a:solidFill>
                <a:latin typeface="Segoe UI"/>
              </a:rPr>
              <a:t>PLAYWRIGHT</a:t>
            </a:r>
          </a:p>
        </p:txBody>
      </p:sp>
      <p:sp>
        <p:nvSpPr>
          <p:cNvPr id="20" name="TextBox 19"/>
          <p:cNvSpPr txBox="1"/>
          <p:nvPr/>
        </p:nvSpPr>
        <p:spPr>
          <a:xfrm>
            <a:off x="8335060" y="2468880"/>
            <a:ext cx="2997098" cy="292608"/>
          </a:xfrm>
          <a:prstGeom prst="rect">
            <a:avLst/>
          </a:prstGeom>
          <a:noFill/>
        </p:spPr>
        <p:txBody>
          <a:bodyPr wrap="square" lIns="0" rIns="0" tIns="0" bIns="0" anchor="t">
            <a:spAutoFit/>
          </a:bodyPr>
          <a:lstStyle/>
          <a:p>
            <a:pPr algn="l">
              <a:lnSpc>
                <a:spcPct val="115000"/>
              </a:lnSpc>
            </a:pPr>
            <a:r>
              <a:rPr sz="1350" b="1" i="0">
                <a:solidFill>
                  <a:srgbClr val="062438"/>
                </a:solidFill>
                <a:latin typeface="Segoe UI"/>
              </a:rPr>
              <a:t>End-to-end</a:t>
            </a:r>
          </a:p>
        </p:txBody>
      </p:sp>
      <p:sp>
        <p:nvSpPr>
          <p:cNvPr id="21" name="TextBox 20"/>
          <p:cNvSpPr txBox="1"/>
          <p:nvPr/>
        </p:nvSpPr>
        <p:spPr>
          <a:xfrm>
            <a:off x="8335060" y="2798064"/>
            <a:ext cx="2997098" cy="512063"/>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A browser smoke run across the real application, driven by the same configuration CI uses.</a:t>
            </a:r>
          </a:p>
        </p:txBody>
      </p:sp>
      <p:sp>
        <p:nvSpPr>
          <p:cNvPr id="22" name="TextBox 21"/>
          <p:cNvSpPr txBox="1"/>
          <p:nvPr/>
        </p:nvSpPr>
        <p:spPr>
          <a:xfrm>
            <a:off x="658368" y="3694176"/>
            <a:ext cx="4784982"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COVERAGE FLOORS ENFORCED IN CI</a:t>
            </a:r>
          </a:p>
        </p:txBody>
      </p:sp>
      <p:sp>
        <p:nvSpPr>
          <p:cNvPr id="23" name="Rounded Rectangle 22"/>
          <p:cNvSpPr/>
          <p:nvPr/>
        </p:nvSpPr>
        <p:spPr>
          <a:xfrm>
            <a:off x="658368" y="4005072"/>
            <a:ext cx="1086517" cy="82296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4153204"/>
            <a:ext cx="1086517" cy="502920"/>
          </a:xfrm>
          <a:prstGeom prst="rect">
            <a:avLst/>
          </a:prstGeom>
          <a:noFill/>
        </p:spPr>
        <p:txBody>
          <a:bodyPr wrap="square" lIns="0" rIns="0" tIns="0" bIns="0" anchor="t">
            <a:spAutoFit/>
          </a:bodyPr>
          <a:lstStyle/>
          <a:p>
            <a:pPr algn="ctr">
              <a:lnSpc>
                <a:spcPct val="115000"/>
              </a:lnSpc>
            </a:pPr>
            <a:r>
              <a:rPr sz="2600" b="1" i="0">
                <a:solidFill>
                  <a:srgbClr val="0E7490"/>
                </a:solidFill>
                <a:latin typeface="Segoe UI Light"/>
              </a:rPr>
              <a:t>61 %</a:t>
            </a:r>
          </a:p>
        </p:txBody>
      </p:sp>
      <p:sp>
        <p:nvSpPr>
          <p:cNvPr id="25" name="TextBox 24"/>
          <p:cNvSpPr txBox="1"/>
          <p:nvPr/>
        </p:nvSpPr>
        <p:spPr>
          <a:xfrm>
            <a:off x="658368" y="4515307"/>
            <a:ext cx="108651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Statements</a:t>
            </a:r>
          </a:p>
        </p:txBody>
      </p:sp>
      <p:sp>
        <p:nvSpPr>
          <p:cNvPr id="26" name="Rounded Rectangle 25"/>
          <p:cNvSpPr/>
          <p:nvPr/>
        </p:nvSpPr>
        <p:spPr>
          <a:xfrm>
            <a:off x="1891189" y="4005072"/>
            <a:ext cx="1086517" cy="82296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891189" y="4153204"/>
            <a:ext cx="1086517" cy="502920"/>
          </a:xfrm>
          <a:prstGeom prst="rect">
            <a:avLst/>
          </a:prstGeom>
          <a:noFill/>
        </p:spPr>
        <p:txBody>
          <a:bodyPr wrap="square" lIns="0" rIns="0" tIns="0" bIns="0" anchor="t">
            <a:spAutoFit/>
          </a:bodyPr>
          <a:lstStyle/>
          <a:p>
            <a:pPr algn="ctr">
              <a:lnSpc>
                <a:spcPct val="115000"/>
              </a:lnSpc>
            </a:pPr>
            <a:r>
              <a:rPr sz="2600" b="1" i="0">
                <a:solidFill>
                  <a:srgbClr val="0E7490"/>
                </a:solidFill>
                <a:latin typeface="Segoe UI Light"/>
              </a:rPr>
              <a:t>48 %</a:t>
            </a:r>
          </a:p>
        </p:txBody>
      </p:sp>
      <p:sp>
        <p:nvSpPr>
          <p:cNvPr id="28" name="TextBox 27"/>
          <p:cNvSpPr txBox="1"/>
          <p:nvPr/>
        </p:nvSpPr>
        <p:spPr>
          <a:xfrm>
            <a:off x="1891189" y="4515307"/>
            <a:ext cx="108651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Branches</a:t>
            </a:r>
          </a:p>
        </p:txBody>
      </p:sp>
      <p:sp>
        <p:nvSpPr>
          <p:cNvPr id="29" name="Rounded Rectangle 28"/>
          <p:cNvSpPr/>
          <p:nvPr/>
        </p:nvSpPr>
        <p:spPr>
          <a:xfrm>
            <a:off x="3124011" y="4005072"/>
            <a:ext cx="1086517" cy="82296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124011" y="4153204"/>
            <a:ext cx="1086517" cy="502920"/>
          </a:xfrm>
          <a:prstGeom prst="rect">
            <a:avLst/>
          </a:prstGeom>
          <a:noFill/>
        </p:spPr>
        <p:txBody>
          <a:bodyPr wrap="square" lIns="0" rIns="0" tIns="0" bIns="0" anchor="t">
            <a:spAutoFit/>
          </a:bodyPr>
          <a:lstStyle/>
          <a:p>
            <a:pPr algn="ctr">
              <a:lnSpc>
                <a:spcPct val="115000"/>
              </a:lnSpc>
            </a:pPr>
            <a:r>
              <a:rPr sz="2600" b="1" i="0">
                <a:solidFill>
                  <a:srgbClr val="0E7490"/>
                </a:solidFill>
                <a:latin typeface="Segoe UI Light"/>
              </a:rPr>
              <a:t>58 %</a:t>
            </a:r>
          </a:p>
        </p:txBody>
      </p:sp>
      <p:sp>
        <p:nvSpPr>
          <p:cNvPr id="31" name="TextBox 30"/>
          <p:cNvSpPr txBox="1"/>
          <p:nvPr/>
        </p:nvSpPr>
        <p:spPr>
          <a:xfrm>
            <a:off x="3124011" y="4515307"/>
            <a:ext cx="108651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Functions</a:t>
            </a:r>
          </a:p>
        </p:txBody>
      </p:sp>
      <p:sp>
        <p:nvSpPr>
          <p:cNvPr id="32" name="Rounded Rectangle 31"/>
          <p:cNvSpPr/>
          <p:nvPr/>
        </p:nvSpPr>
        <p:spPr>
          <a:xfrm>
            <a:off x="4356832" y="4005072"/>
            <a:ext cx="1086517" cy="82296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356832" y="4153204"/>
            <a:ext cx="1086517" cy="502920"/>
          </a:xfrm>
          <a:prstGeom prst="rect">
            <a:avLst/>
          </a:prstGeom>
          <a:noFill/>
        </p:spPr>
        <p:txBody>
          <a:bodyPr wrap="square" lIns="0" rIns="0" tIns="0" bIns="0" anchor="t">
            <a:spAutoFit/>
          </a:bodyPr>
          <a:lstStyle/>
          <a:p>
            <a:pPr algn="ctr">
              <a:lnSpc>
                <a:spcPct val="115000"/>
              </a:lnSpc>
            </a:pPr>
            <a:r>
              <a:rPr sz="2600" b="1" i="0">
                <a:solidFill>
                  <a:srgbClr val="0E7490"/>
                </a:solidFill>
                <a:latin typeface="Segoe UI Light"/>
              </a:rPr>
              <a:t>63 %</a:t>
            </a:r>
          </a:p>
        </p:txBody>
      </p:sp>
      <p:sp>
        <p:nvSpPr>
          <p:cNvPr id="34" name="TextBox 33"/>
          <p:cNvSpPr txBox="1"/>
          <p:nvPr/>
        </p:nvSpPr>
        <p:spPr>
          <a:xfrm>
            <a:off x="4356832" y="4515307"/>
            <a:ext cx="108651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Lines</a:t>
            </a:r>
          </a:p>
        </p:txBody>
      </p:sp>
      <p:sp>
        <p:nvSpPr>
          <p:cNvPr id="35" name="TextBox 34"/>
          <p:cNvSpPr txBox="1"/>
          <p:nvPr/>
        </p:nvSpPr>
        <p:spPr>
          <a:xfrm>
            <a:off x="5772534" y="3694176"/>
            <a:ext cx="5760793"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THE PIPELINE</a:t>
            </a:r>
          </a:p>
        </p:txBody>
      </p:sp>
      <p:sp>
        <p:nvSpPr>
          <p:cNvPr id="36" name="Rounded Rectangle 35"/>
          <p:cNvSpPr/>
          <p:nvPr/>
        </p:nvSpPr>
        <p:spPr>
          <a:xfrm>
            <a:off x="5772534" y="4005072"/>
            <a:ext cx="883932" cy="822960"/>
          </a:xfrm>
          <a:prstGeom prst="roundRect">
            <a:avLst>
              <a:gd name="adj" fmla="val 10000"/>
            </a:avLst>
          </a:prstGeom>
          <a:solidFill>
            <a:srgbClr val="062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000" b="1">
                <a:solidFill>
                  <a:srgbClr val="FFFFFF"/>
                </a:solidFill>
                <a:latin typeface="Segoe UI"/>
              </a:rPr>
              <a:t>Lint</a:t>
            </a:r>
          </a:p>
        </p:txBody>
      </p:sp>
      <p:sp>
        <p:nvSpPr>
          <p:cNvPr id="37" name="Rounded Rectangle 36"/>
          <p:cNvSpPr/>
          <p:nvPr/>
        </p:nvSpPr>
        <p:spPr>
          <a:xfrm>
            <a:off x="6747906" y="4005072"/>
            <a:ext cx="883932" cy="822960"/>
          </a:xfrm>
          <a:prstGeom prst="roundRect">
            <a:avLst>
              <a:gd name="adj" fmla="val 10000"/>
            </a:avLst>
          </a:prstGeom>
          <a:solidFill>
            <a:srgbClr val="0B3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000" b="1">
                <a:solidFill>
                  <a:srgbClr val="FFFFFF"/>
                </a:solidFill>
                <a:latin typeface="Segoe UI"/>
              </a:rPr>
              <a:t>Unit tests</a:t>
            </a:r>
          </a:p>
        </p:txBody>
      </p:sp>
      <p:sp>
        <p:nvSpPr>
          <p:cNvPr id="38" name="Rounded Rectangle 37"/>
          <p:cNvSpPr/>
          <p:nvPr/>
        </p:nvSpPr>
        <p:spPr>
          <a:xfrm>
            <a:off x="7723278" y="4005072"/>
            <a:ext cx="883932" cy="822960"/>
          </a:xfrm>
          <a:prstGeom prst="roundRect">
            <a:avLst>
              <a:gd name="adj" fmla="val 10000"/>
            </a:avLst>
          </a:prstGeom>
          <a:solidFill>
            <a:srgbClr val="062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000" b="1">
                <a:solidFill>
                  <a:srgbClr val="FFFFFF"/>
                </a:solidFill>
                <a:latin typeface="Segoe UI"/>
              </a:rPr>
              <a:t>Coverage gate</a:t>
            </a:r>
          </a:p>
        </p:txBody>
      </p:sp>
      <p:sp>
        <p:nvSpPr>
          <p:cNvPr id="39" name="Rounded Rectangle 38"/>
          <p:cNvSpPr/>
          <p:nvPr/>
        </p:nvSpPr>
        <p:spPr>
          <a:xfrm>
            <a:off x="8698650" y="4005072"/>
            <a:ext cx="883932" cy="822960"/>
          </a:xfrm>
          <a:prstGeom prst="roundRect">
            <a:avLst>
              <a:gd name="adj" fmla="val 10000"/>
            </a:avLst>
          </a:prstGeom>
          <a:solidFill>
            <a:srgbClr val="0B3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000" b="1">
                <a:solidFill>
                  <a:srgbClr val="FFFFFF"/>
                </a:solidFill>
                <a:latin typeface="Segoe UI"/>
              </a:rPr>
              <a:t>E2E</a:t>
            </a:r>
          </a:p>
        </p:txBody>
      </p:sp>
      <p:sp>
        <p:nvSpPr>
          <p:cNvPr id="40" name="Rounded Rectangle 39"/>
          <p:cNvSpPr/>
          <p:nvPr/>
        </p:nvSpPr>
        <p:spPr>
          <a:xfrm>
            <a:off x="9674022" y="4005072"/>
            <a:ext cx="883932" cy="822960"/>
          </a:xfrm>
          <a:prstGeom prst="roundRect">
            <a:avLst>
              <a:gd name="adj" fmla="val 10000"/>
            </a:avLst>
          </a:prstGeom>
          <a:solidFill>
            <a:srgbClr val="062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000" b="1">
                <a:solidFill>
                  <a:srgbClr val="FFFFFF"/>
                </a:solidFill>
                <a:latin typeface="Segoe UI"/>
              </a:rPr>
              <a:t>Build images</a:t>
            </a:r>
          </a:p>
        </p:txBody>
      </p:sp>
      <p:sp>
        <p:nvSpPr>
          <p:cNvPr id="41" name="Rounded Rectangle 40"/>
          <p:cNvSpPr/>
          <p:nvPr/>
        </p:nvSpPr>
        <p:spPr>
          <a:xfrm>
            <a:off x="10649395" y="4005072"/>
            <a:ext cx="883932" cy="822960"/>
          </a:xfrm>
          <a:prstGeom prst="roundRect">
            <a:avLst>
              <a:gd name="adj" fmla="val 10000"/>
            </a:avLst>
          </a:prstGeom>
          <a:solidFill>
            <a:srgbClr val="0B3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10000"/>
              </a:lnSpc>
            </a:pPr>
            <a:r>
              <a:rPr sz="1000" b="1">
                <a:solidFill>
                  <a:srgbClr val="FFFFFF"/>
                </a:solidFill>
                <a:latin typeface="Segoe UI"/>
              </a:rPr>
              <a:t>Push to GHCR</a:t>
            </a:r>
          </a:p>
        </p:txBody>
      </p:sp>
      <p:sp>
        <p:nvSpPr>
          <p:cNvPr id="42" name="Rectangle 41"/>
          <p:cNvSpPr/>
          <p:nvPr/>
        </p:nvSpPr>
        <p:spPr>
          <a:xfrm>
            <a:off x="658368" y="5010912"/>
            <a:ext cx="10874959" cy="420624"/>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59536" y="5010912"/>
            <a:ext cx="1900671" cy="420624"/>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Static analysis</a:t>
            </a:r>
          </a:p>
        </p:txBody>
      </p:sp>
      <p:sp>
        <p:nvSpPr>
          <p:cNvPr id="44" name="TextBox 43"/>
          <p:cNvSpPr txBox="1"/>
          <p:nvPr/>
        </p:nvSpPr>
        <p:spPr>
          <a:xfrm>
            <a:off x="2924799" y="5010912"/>
            <a:ext cx="8425647" cy="420624"/>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ESLint across both workspaces with the React and hooks plugins; Prettier for formatting.</a:t>
            </a:r>
          </a:p>
        </p:txBody>
      </p:sp>
      <p:sp>
        <p:nvSpPr>
          <p:cNvPr id="45" name="TextBox 44"/>
          <p:cNvSpPr txBox="1"/>
          <p:nvPr/>
        </p:nvSpPr>
        <p:spPr>
          <a:xfrm>
            <a:off x="859536" y="5431536"/>
            <a:ext cx="1900671" cy="420624"/>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Determinism</a:t>
            </a:r>
          </a:p>
        </p:txBody>
      </p:sp>
      <p:sp>
        <p:nvSpPr>
          <p:cNvPr id="46" name="TextBox 45"/>
          <p:cNvSpPr txBox="1"/>
          <p:nvPr/>
        </p:nvSpPr>
        <p:spPr>
          <a:xfrm>
            <a:off x="2924799" y="5431536"/>
            <a:ext cx="8425647" cy="420624"/>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The plain-language layer is pure — same input, same output, no dates, no randomness — so its tests are exact.</a:t>
            </a:r>
          </a:p>
        </p:txBody>
      </p:sp>
      <p:sp>
        <p:nvSpPr>
          <p:cNvPr id="47" name="Rectangle 46"/>
          <p:cNvSpPr/>
          <p:nvPr/>
        </p:nvSpPr>
        <p:spPr>
          <a:xfrm>
            <a:off x="658368" y="5852160"/>
            <a:ext cx="10874959" cy="420624"/>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59536" y="5852160"/>
            <a:ext cx="1900671" cy="420624"/>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Conservation tests</a:t>
            </a:r>
          </a:p>
        </p:txBody>
      </p:sp>
      <p:sp>
        <p:nvSpPr>
          <p:cNvPr id="49" name="TextBox 48"/>
          <p:cNvSpPr txBox="1"/>
          <p:nvPr/>
        </p:nvSpPr>
        <p:spPr>
          <a:xfrm>
            <a:off x="2924799" y="5852160"/>
            <a:ext cx="8425647" cy="420624"/>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A dedicated suite asserts that mass in equals mass out across the solved graph, including recycles.</a:t>
            </a:r>
          </a:p>
        </p:txBody>
      </p:sp>
      <p:sp>
        <p:nvSpPr>
          <p:cNvPr id="50" name="TextBox 49"/>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51" name="TextBox 50"/>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Engineering</a:t>
            </a:r>
          </a:p>
        </p:txBody>
      </p:sp>
      <p:sp>
        <p:nvSpPr>
          <p:cNvPr id="52" name="TextBox 51"/>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ENGINEERING</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Deployment and operations</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Two supported production targets, both fed by the same images and the same migration discipline.</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5282031" cy="201168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48255"/>
            <a:ext cx="5282031"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267711"/>
            <a:ext cx="4824831" cy="274320"/>
          </a:xfrm>
          <a:prstGeom prst="rect">
            <a:avLst/>
          </a:prstGeom>
          <a:noFill/>
        </p:spPr>
        <p:txBody>
          <a:bodyPr wrap="square" lIns="0" rIns="0" tIns="0" bIns="0" anchor="t">
            <a:spAutoFit/>
          </a:bodyPr>
          <a:lstStyle/>
          <a:p>
            <a:pPr algn="l">
              <a:lnSpc>
                <a:spcPct val="115000"/>
              </a:lnSpc>
            </a:pPr>
            <a:r>
              <a:rPr sz="1400" b="1" i="0">
                <a:solidFill>
                  <a:srgbClr val="062438"/>
                </a:solidFill>
                <a:latin typeface="Segoe UI"/>
              </a:rPr>
              <a:t>Docker Compose</a:t>
            </a:r>
          </a:p>
        </p:txBody>
      </p:sp>
      <p:sp>
        <p:nvSpPr>
          <p:cNvPr id="10" name="Oval 9"/>
          <p:cNvSpPr/>
          <p:nvPr/>
        </p:nvSpPr>
        <p:spPr>
          <a:xfrm>
            <a:off x="932688" y="2670048"/>
            <a:ext cx="237744" cy="23774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900" b="1">
                <a:solidFill>
                  <a:srgbClr val="FFFFFF"/>
                </a:solidFill>
                <a:latin typeface="Segoe UI"/>
              </a:rPr>
              <a:t>1</a:t>
            </a:r>
          </a:p>
        </p:txBody>
      </p:sp>
      <p:sp>
        <p:nvSpPr>
          <p:cNvPr id="11" name="TextBox 10"/>
          <p:cNvSpPr txBox="1"/>
          <p:nvPr/>
        </p:nvSpPr>
        <p:spPr>
          <a:xfrm>
            <a:off x="1280160" y="2679191"/>
            <a:ext cx="4385919" cy="274320"/>
          </a:xfrm>
          <a:prstGeom prst="rect">
            <a:avLst/>
          </a:prstGeom>
          <a:noFill/>
        </p:spPr>
        <p:txBody>
          <a:bodyPr wrap="square" lIns="0" rIns="0" tIns="0" bIns="0" anchor="t">
            <a:spAutoFit/>
          </a:bodyPr>
          <a:lstStyle/>
          <a:p>
            <a:pPr algn="l">
              <a:lnSpc>
                <a:spcPct val="115000"/>
              </a:lnSpc>
            </a:pPr>
            <a:r>
              <a:rPr sz="1050" b="0" i="0">
                <a:solidFill>
                  <a:srgbClr val="64748B"/>
                </a:solidFill>
                <a:latin typeface="Segoe UI"/>
              </a:rPr>
              <a:t>Pull the pinned image tags</a:t>
            </a:r>
          </a:p>
        </p:txBody>
      </p:sp>
      <p:sp>
        <p:nvSpPr>
          <p:cNvPr id="12" name="Oval 11"/>
          <p:cNvSpPr/>
          <p:nvPr/>
        </p:nvSpPr>
        <p:spPr>
          <a:xfrm>
            <a:off x="932688" y="2944368"/>
            <a:ext cx="237744" cy="23774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900" b="1">
                <a:solidFill>
                  <a:srgbClr val="FFFFFF"/>
                </a:solidFill>
                <a:latin typeface="Segoe UI"/>
              </a:rPr>
              <a:t>2</a:t>
            </a:r>
          </a:p>
        </p:txBody>
      </p:sp>
      <p:sp>
        <p:nvSpPr>
          <p:cNvPr id="13" name="TextBox 12"/>
          <p:cNvSpPr txBox="1"/>
          <p:nvPr/>
        </p:nvSpPr>
        <p:spPr>
          <a:xfrm>
            <a:off x="1280160" y="2953511"/>
            <a:ext cx="4385919" cy="274320"/>
          </a:xfrm>
          <a:prstGeom prst="rect">
            <a:avLst/>
          </a:prstGeom>
          <a:noFill/>
        </p:spPr>
        <p:txBody>
          <a:bodyPr wrap="square" lIns="0" rIns="0" tIns="0" bIns="0" anchor="t">
            <a:spAutoFit/>
          </a:bodyPr>
          <a:lstStyle/>
          <a:p>
            <a:pPr algn="l">
              <a:lnSpc>
                <a:spcPct val="115000"/>
              </a:lnSpc>
            </a:pPr>
            <a:r>
              <a:rPr sz="1050" b="0" i="0">
                <a:solidFill>
                  <a:srgbClr val="64748B"/>
                </a:solidFill>
                <a:latin typeface="Segoe UI"/>
              </a:rPr>
              <a:t>Run migrations to completion</a:t>
            </a:r>
          </a:p>
        </p:txBody>
      </p:sp>
      <p:sp>
        <p:nvSpPr>
          <p:cNvPr id="14" name="Oval 13"/>
          <p:cNvSpPr/>
          <p:nvPr/>
        </p:nvSpPr>
        <p:spPr>
          <a:xfrm>
            <a:off x="932688" y="3218687"/>
            <a:ext cx="237744" cy="23774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900" b="1">
                <a:solidFill>
                  <a:srgbClr val="FFFFFF"/>
                </a:solidFill>
                <a:latin typeface="Segoe UI"/>
              </a:rPr>
              <a:t>3</a:t>
            </a:r>
          </a:p>
        </p:txBody>
      </p:sp>
      <p:sp>
        <p:nvSpPr>
          <p:cNvPr id="15" name="TextBox 14"/>
          <p:cNvSpPr txBox="1"/>
          <p:nvPr/>
        </p:nvSpPr>
        <p:spPr>
          <a:xfrm>
            <a:off x="1280160" y="3227831"/>
            <a:ext cx="4385919" cy="274320"/>
          </a:xfrm>
          <a:prstGeom prst="rect">
            <a:avLst/>
          </a:prstGeom>
          <a:noFill/>
        </p:spPr>
        <p:txBody>
          <a:bodyPr wrap="square" lIns="0" rIns="0" tIns="0" bIns="0" anchor="t">
            <a:spAutoFit/>
          </a:bodyPr>
          <a:lstStyle/>
          <a:p>
            <a:pPr algn="l">
              <a:lnSpc>
                <a:spcPct val="115000"/>
              </a:lnSpc>
            </a:pPr>
            <a:r>
              <a:rPr sz="1050" b="0" i="0">
                <a:solidFill>
                  <a:srgbClr val="64748B"/>
                </a:solidFill>
                <a:latin typeface="Segoe UI"/>
              </a:rPr>
              <a:t>Rolling update behind nginx</a:t>
            </a:r>
          </a:p>
        </p:txBody>
      </p:sp>
      <p:sp>
        <p:nvSpPr>
          <p:cNvPr id="16" name="Oval 15"/>
          <p:cNvSpPr/>
          <p:nvPr/>
        </p:nvSpPr>
        <p:spPr>
          <a:xfrm>
            <a:off x="932688" y="3493007"/>
            <a:ext cx="237744" cy="23774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900" b="1">
                <a:solidFill>
                  <a:srgbClr val="FFFFFF"/>
                </a:solidFill>
                <a:latin typeface="Segoe UI"/>
              </a:rPr>
              <a:t>4</a:t>
            </a:r>
          </a:p>
        </p:txBody>
      </p:sp>
      <p:sp>
        <p:nvSpPr>
          <p:cNvPr id="17" name="TextBox 16"/>
          <p:cNvSpPr txBox="1"/>
          <p:nvPr/>
        </p:nvSpPr>
        <p:spPr>
          <a:xfrm>
            <a:off x="1280160" y="3502151"/>
            <a:ext cx="4385919" cy="274320"/>
          </a:xfrm>
          <a:prstGeom prst="rect">
            <a:avLst/>
          </a:prstGeom>
          <a:noFill/>
        </p:spPr>
        <p:txBody>
          <a:bodyPr wrap="square" lIns="0" rIns="0" tIns="0" bIns="0" anchor="t">
            <a:spAutoFit/>
          </a:bodyPr>
          <a:lstStyle/>
          <a:p>
            <a:pPr algn="l">
              <a:lnSpc>
                <a:spcPct val="115000"/>
              </a:lnSpc>
            </a:pPr>
            <a:r>
              <a:rPr sz="1050" b="0" i="0">
                <a:solidFill>
                  <a:srgbClr val="64748B"/>
                </a:solidFill>
                <a:latin typeface="Segoe UI"/>
              </a:rPr>
              <a:t>Health check the new containers</a:t>
            </a:r>
          </a:p>
        </p:txBody>
      </p:sp>
      <p:sp>
        <p:nvSpPr>
          <p:cNvPr id="18" name="Oval 17"/>
          <p:cNvSpPr/>
          <p:nvPr/>
        </p:nvSpPr>
        <p:spPr>
          <a:xfrm>
            <a:off x="932688" y="3767327"/>
            <a:ext cx="237744" cy="23774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900" b="1">
                <a:solidFill>
                  <a:srgbClr val="FFFFFF"/>
                </a:solidFill>
                <a:latin typeface="Segoe UI"/>
              </a:rPr>
              <a:t>5</a:t>
            </a:r>
          </a:p>
        </p:txBody>
      </p:sp>
      <p:sp>
        <p:nvSpPr>
          <p:cNvPr id="19" name="TextBox 18"/>
          <p:cNvSpPr txBox="1"/>
          <p:nvPr/>
        </p:nvSpPr>
        <p:spPr>
          <a:xfrm>
            <a:off x="1280160" y="3776471"/>
            <a:ext cx="4385919" cy="274320"/>
          </a:xfrm>
          <a:prstGeom prst="rect">
            <a:avLst/>
          </a:prstGeom>
          <a:noFill/>
        </p:spPr>
        <p:txBody>
          <a:bodyPr wrap="square" lIns="0" rIns="0" tIns="0" bIns="0" anchor="t">
            <a:spAutoFit/>
          </a:bodyPr>
          <a:lstStyle/>
          <a:p>
            <a:pPr algn="l">
              <a:lnSpc>
                <a:spcPct val="115000"/>
              </a:lnSpc>
            </a:pPr>
            <a:r>
              <a:rPr sz="1050" b="0" i="0">
                <a:solidFill>
                  <a:srgbClr val="64748B"/>
                </a:solidFill>
                <a:latin typeface="Segoe UI"/>
              </a:rPr>
              <a:t>Roll back automatically if the check fails</a:t>
            </a:r>
          </a:p>
        </p:txBody>
      </p:sp>
      <p:sp>
        <p:nvSpPr>
          <p:cNvPr id="20" name="Rounded Rectangle 19"/>
          <p:cNvSpPr/>
          <p:nvPr/>
        </p:nvSpPr>
        <p:spPr>
          <a:xfrm>
            <a:off x="6251295" y="2048255"/>
            <a:ext cx="5282031" cy="201168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51295" y="2048255"/>
            <a:ext cx="5282031" cy="54864"/>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07327" y="2267711"/>
            <a:ext cx="4824831" cy="274320"/>
          </a:xfrm>
          <a:prstGeom prst="rect">
            <a:avLst/>
          </a:prstGeom>
          <a:noFill/>
        </p:spPr>
        <p:txBody>
          <a:bodyPr wrap="square" lIns="0" rIns="0" tIns="0" bIns="0" anchor="t">
            <a:spAutoFit/>
          </a:bodyPr>
          <a:lstStyle/>
          <a:p>
            <a:pPr algn="l">
              <a:lnSpc>
                <a:spcPct val="115000"/>
              </a:lnSpc>
            </a:pPr>
            <a:r>
              <a:rPr sz="1400" b="1" i="0">
                <a:solidFill>
                  <a:srgbClr val="062438"/>
                </a:solidFill>
                <a:latin typeface="Segoe UI"/>
              </a:rPr>
              <a:t>Kubernetes</a:t>
            </a:r>
          </a:p>
        </p:txBody>
      </p:sp>
      <p:sp>
        <p:nvSpPr>
          <p:cNvPr id="23" name="Oval 22"/>
          <p:cNvSpPr/>
          <p:nvPr/>
        </p:nvSpPr>
        <p:spPr>
          <a:xfrm>
            <a:off x="6525615" y="2670048"/>
            <a:ext cx="237744" cy="237744"/>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900" b="1">
                <a:solidFill>
                  <a:srgbClr val="FFFFFF"/>
                </a:solidFill>
                <a:latin typeface="Segoe UI"/>
              </a:rPr>
              <a:t>1</a:t>
            </a:r>
          </a:p>
        </p:txBody>
      </p:sp>
      <p:sp>
        <p:nvSpPr>
          <p:cNvPr id="24" name="TextBox 23"/>
          <p:cNvSpPr txBox="1"/>
          <p:nvPr/>
        </p:nvSpPr>
        <p:spPr>
          <a:xfrm>
            <a:off x="6873087" y="2679191"/>
            <a:ext cx="4385919" cy="274320"/>
          </a:xfrm>
          <a:prstGeom prst="rect">
            <a:avLst/>
          </a:prstGeom>
          <a:noFill/>
        </p:spPr>
        <p:txBody>
          <a:bodyPr wrap="square" lIns="0" rIns="0" tIns="0" bIns="0" anchor="t">
            <a:spAutoFit/>
          </a:bodyPr>
          <a:lstStyle/>
          <a:p>
            <a:pPr algn="l">
              <a:lnSpc>
                <a:spcPct val="115000"/>
              </a:lnSpc>
            </a:pPr>
            <a:r>
              <a:rPr sz="1050" b="0" i="0">
                <a:solidFill>
                  <a:srgbClr val="64748B"/>
                </a:solidFill>
                <a:latin typeface="Segoe UI"/>
              </a:rPr>
              <a:t>kubectl apply -k with kustomize overlays</a:t>
            </a:r>
          </a:p>
        </p:txBody>
      </p:sp>
      <p:sp>
        <p:nvSpPr>
          <p:cNvPr id="25" name="Oval 24"/>
          <p:cNvSpPr/>
          <p:nvPr/>
        </p:nvSpPr>
        <p:spPr>
          <a:xfrm>
            <a:off x="6525615" y="2944368"/>
            <a:ext cx="237744" cy="237744"/>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900" b="1">
                <a:solidFill>
                  <a:srgbClr val="FFFFFF"/>
                </a:solidFill>
                <a:latin typeface="Segoe UI"/>
              </a:rPr>
              <a:t>2</a:t>
            </a:r>
          </a:p>
        </p:txBody>
      </p:sp>
      <p:sp>
        <p:nvSpPr>
          <p:cNvPr id="26" name="TextBox 25"/>
          <p:cNvSpPr txBox="1"/>
          <p:nvPr/>
        </p:nvSpPr>
        <p:spPr>
          <a:xfrm>
            <a:off x="6873087" y="2953511"/>
            <a:ext cx="4385919" cy="274320"/>
          </a:xfrm>
          <a:prstGeom prst="rect">
            <a:avLst/>
          </a:prstGeom>
          <a:noFill/>
        </p:spPr>
        <p:txBody>
          <a:bodyPr wrap="square" lIns="0" rIns="0" tIns="0" bIns="0" anchor="t">
            <a:spAutoFit/>
          </a:bodyPr>
          <a:lstStyle/>
          <a:p>
            <a:pPr algn="l">
              <a:lnSpc>
                <a:spcPct val="115000"/>
              </a:lnSpc>
            </a:pPr>
            <a:r>
              <a:rPr sz="1050" b="0" i="0">
                <a:solidFill>
                  <a:srgbClr val="64748B"/>
                </a:solidFill>
                <a:latin typeface="Segoe UI"/>
              </a:rPr>
              <a:t>Secrets from a template, never committed</a:t>
            </a:r>
          </a:p>
        </p:txBody>
      </p:sp>
      <p:sp>
        <p:nvSpPr>
          <p:cNvPr id="27" name="Oval 26"/>
          <p:cNvSpPr/>
          <p:nvPr/>
        </p:nvSpPr>
        <p:spPr>
          <a:xfrm>
            <a:off x="6525615" y="3218687"/>
            <a:ext cx="237744" cy="237744"/>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900" b="1">
                <a:solidFill>
                  <a:srgbClr val="FFFFFF"/>
                </a:solidFill>
                <a:latin typeface="Segoe UI"/>
              </a:rPr>
              <a:t>3</a:t>
            </a:r>
          </a:p>
        </p:txBody>
      </p:sp>
      <p:sp>
        <p:nvSpPr>
          <p:cNvPr id="28" name="TextBox 27"/>
          <p:cNvSpPr txBox="1"/>
          <p:nvPr/>
        </p:nvSpPr>
        <p:spPr>
          <a:xfrm>
            <a:off x="6873087" y="3227831"/>
            <a:ext cx="4385919" cy="274320"/>
          </a:xfrm>
          <a:prstGeom prst="rect">
            <a:avLst/>
          </a:prstGeom>
          <a:noFill/>
        </p:spPr>
        <p:txBody>
          <a:bodyPr wrap="square" lIns="0" rIns="0" tIns="0" bIns="0" anchor="t">
            <a:spAutoFit/>
          </a:bodyPr>
          <a:lstStyle/>
          <a:p>
            <a:pPr algn="l">
              <a:lnSpc>
                <a:spcPct val="115000"/>
              </a:lnSpc>
            </a:pPr>
            <a:r>
              <a:rPr sz="1050" b="0" i="0">
                <a:solidFill>
                  <a:srgbClr val="64748B"/>
                </a:solidFill>
                <a:latin typeface="Segoe UI"/>
              </a:rPr>
              <a:t>A migration Job runs before every rollout</a:t>
            </a:r>
          </a:p>
        </p:txBody>
      </p:sp>
      <p:sp>
        <p:nvSpPr>
          <p:cNvPr id="29" name="Oval 28"/>
          <p:cNvSpPr/>
          <p:nvPr/>
        </p:nvSpPr>
        <p:spPr>
          <a:xfrm>
            <a:off x="6525615" y="3493007"/>
            <a:ext cx="237744" cy="237744"/>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900" b="1">
                <a:solidFill>
                  <a:srgbClr val="FFFFFF"/>
                </a:solidFill>
                <a:latin typeface="Segoe UI"/>
              </a:rPr>
              <a:t>4</a:t>
            </a:r>
          </a:p>
        </p:txBody>
      </p:sp>
      <p:sp>
        <p:nvSpPr>
          <p:cNvPr id="30" name="TextBox 29"/>
          <p:cNvSpPr txBox="1"/>
          <p:nvPr/>
        </p:nvSpPr>
        <p:spPr>
          <a:xfrm>
            <a:off x="6873087" y="3502151"/>
            <a:ext cx="4385919" cy="274320"/>
          </a:xfrm>
          <a:prstGeom prst="rect">
            <a:avLst/>
          </a:prstGeom>
          <a:noFill/>
        </p:spPr>
        <p:txBody>
          <a:bodyPr wrap="square" lIns="0" rIns="0" tIns="0" bIns="0" anchor="t">
            <a:spAutoFit/>
          </a:bodyPr>
          <a:lstStyle/>
          <a:p>
            <a:pPr algn="l">
              <a:lnSpc>
                <a:spcPct val="115000"/>
              </a:lnSpc>
            </a:pPr>
            <a:r>
              <a:rPr sz="1050" b="0" i="0">
                <a:solidFill>
                  <a:srgbClr val="64748B"/>
                </a:solidFill>
                <a:latin typeface="Segoe UI"/>
              </a:rPr>
              <a:t>Liveness and readiness probes split apart</a:t>
            </a:r>
          </a:p>
        </p:txBody>
      </p:sp>
      <p:sp>
        <p:nvSpPr>
          <p:cNvPr id="31" name="Oval 30"/>
          <p:cNvSpPr/>
          <p:nvPr/>
        </p:nvSpPr>
        <p:spPr>
          <a:xfrm>
            <a:off x="6525615" y="3767327"/>
            <a:ext cx="237744" cy="237744"/>
          </a:xfrm>
          <a:prstGeom prst="ellipse">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lnSpc>
                <a:spcPct val="110000"/>
              </a:lnSpc>
            </a:pPr>
            <a:r>
              <a:rPr sz="900" b="1">
                <a:solidFill>
                  <a:srgbClr val="FFFFFF"/>
                </a:solidFill>
                <a:latin typeface="Segoe UI"/>
              </a:rPr>
              <a:t>5</a:t>
            </a:r>
          </a:p>
        </p:txBody>
      </p:sp>
      <p:sp>
        <p:nvSpPr>
          <p:cNvPr id="32" name="TextBox 31"/>
          <p:cNvSpPr txBox="1"/>
          <p:nvPr/>
        </p:nvSpPr>
        <p:spPr>
          <a:xfrm>
            <a:off x="6873087" y="3776471"/>
            <a:ext cx="4385919" cy="274320"/>
          </a:xfrm>
          <a:prstGeom prst="rect">
            <a:avLst/>
          </a:prstGeom>
          <a:noFill/>
        </p:spPr>
        <p:txBody>
          <a:bodyPr wrap="square" lIns="0" rIns="0" tIns="0" bIns="0" anchor="t">
            <a:spAutoFit/>
          </a:bodyPr>
          <a:lstStyle/>
          <a:p>
            <a:pPr algn="l">
              <a:lnSpc>
                <a:spcPct val="115000"/>
              </a:lnSpc>
            </a:pPr>
            <a:r>
              <a:rPr sz="1050" b="0" i="0">
                <a:solidFill>
                  <a:srgbClr val="64748B"/>
                </a:solidFill>
                <a:latin typeface="Segoe UI"/>
              </a:rPr>
              <a:t>A nightly pg_dump CronJob for backups</a:t>
            </a:r>
          </a:p>
        </p:txBody>
      </p:sp>
      <p:sp>
        <p:nvSpPr>
          <p:cNvPr id="33" name="TextBox 32"/>
          <p:cNvSpPr txBox="1"/>
          <p:nvPr/>
        </p:nvSpPr>
        <p:spPr>
          <a:xfrm>
            <a:off x="658368" y="4315968"/>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RUNNING IT IN ANGER</a:t>
            </a:r>
          </a:p>
        </p:txBody>
      </p:sp>
      <p:sp>
        <p:nvSpPr>
          <p:cNvPr id="34" name="Rounded Rectangle 33"/>
          <p:cNvSpPr/>
          <p:nvPr/>
        </p:nvSpPr>
        <p:spPr>
          <a:xfrm>
            <a:off x="658368" y="4626864"/>
            <a:ext cx="2567863" cy="1298448"/>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58368" y="4626864"/>
            <a:ext cx="45720" cy="1298448"/>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14400" y="4809744"/>
            <a:ext cx="2110663" cy="292608"/>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/health</a:t>
            </a:r>
          </a:p>
        </p:txBody>
      </p:sp>
      <p:sp>
        <p:nvSpPr>
          <p:cNvPr id="37" name="TextBox 36"/>
          <p:cNvSpPr txBox="1"/>
          <p:nvPr/>
        </p:nvSpPr>
        <p:spPr>
          <a:xfrm>
            <a:off x="914400" y="5138928"/>
            <a:ext cx="2110663" cy="658367"/>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Readiness. Checks the database, with the result cached for five seconds so probe traffic cannot open a connection per hit.</a:t>
            </a:r>
          </a:p>
        </p:txBody>
      </p:sp>
      <p:sp>
        <p:nvSpPr>
          <p:cNvPr id="38" name="Rounded Rectangle 37"/>
          <p:cNvSpPr/>
          <p:nvPr/>
        </p:nvSpPr>
        <p:spPr>
          <a:xfrm>
            <a:off x="3427399" y="4626864"/>
            <a:ext cx="2567863" cy="1298448"/>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427399" y="4626864"/>
            <a:ext cx="45720" cy="129844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683431" y="4809744"/>
            <a:ext cx="2110663" cy="292608"/>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/health/live</a:t>
            </a:r>
          </a:p>
        </p:txBody>
      </p:sp>
      <p:sp>
        <p:nvSpPr>
          <p:cNvPr id="41" name="TextBox 40"/>
          <p:cNvSpPr txBox="1"/>
          <p:nvPr/>
        </p:nvSpPr>
        <p:spPr>
          <a:xfrm>
            <a:off x="3683431" y="5138928"/>
            <a:ext cx="2110663" cy="658367"/>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Liveness. Touches nothing — a database outage must never get healthy pods restarted.</a:t>
            </a:r>
          </a:p>
        </p:txBody>
      </p:sp>
      <p:sp>
        <p:nvSpPr>
          <p:cNvPr id="42" name="Rounded Rectangle 41"/>
          <p:cNvSpPr/>
          <p:nvPr/>
        </p:nvSpPr>
        <p:spPr>
          <a:xfrm>
            <a:off x="6196431" y="4626864"/>
            <a:ext cx="2567863" cy="1298448"/>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196431" y="4626864"/>
            <a:ext cx="45720" cy="1298448"/>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52463" y="4809744"/>
            <a:ext cx="2110663" cy="292608"/>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/metrics</a:t>
            </a:r>
          </a:p>
        </p:txBody>
      </p:sp>
      <p:sp>
        <p:nvSpPr>
          <p:cNvPr id="45" name="TextBox 44"/>
          <p:cNvSpPr txBox="1"/>
          <p:nvPr/>
        </p:nvSpPr>
        <p:spPr>
          <a:xfrm>
            <a:off x="6452463" y="5138928"/>
            <a:ext cx="2110663" cy="658367"/>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Prometheus: request duration histograms and simulation timings by mode and outcome. Cluster-internal only.</a:t>
            </a:r>
          </a:p>
        </p:txBody>
      </p:sp>
      <p:sp>
        <p:nvSpPr>
          <p:cNvPr id="46" name="Rounded Rectangle 45"/>
          <p:cNvSpPr/>
          <p:nvPr/>
        </p:nvSpPr>
        <p:spPr>
          <a:xfrm>
            <a:off x="8965463" y="4626864"/>
            <a:ext cx="2567863" cy="1298448"/>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8965463" y="4626864"/>
            <a:ext cx="45720" cy="129844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221495" y="4809744"/>
            <a:ext cx="2110663" cy="292608"/>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Runbooks</a:t>
            </a:r>
          </a:p>
        </p:txBody>
      </p:sp>
      <p:sp>
        <p:nvSpPr>
          <p:cNvPr id="49" name="TextBox 48"/>
          <p:cNvSpPr txBox="1"/>
          <p:nvPr/>
        </p:nvSpPr>
        <p:spPr>
          <a:xfrm>
            <a:off x="9221495" y="5138928"/>
            <a:ext cx="2110663" cy="658367"/>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Documented procedures for deployment, rollback, backup and a rehearsed restore drill.</a:t>
            </a:r>
          </a:p>
        </p:txBody>
      </p:sp>
      <p:sp>
        <p:nvSpPr>
          <p:cNvPr id="50" name="TextBox 49"/>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51" name="TextBox 50"/>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Engineering</a:t>
            </a:r>
          </a:p>
        </p:txBody>
      </p:sp>
      <p:sp>
        <p:nvSpPr>
          <p:cNvPr id="52" name="TextBox 51"/>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SCALE</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The platform by the numbers</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Where the codebase stands today.</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48255"/>
            <a:ext cx="1999427" cy="109728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2245766"/>
            <a:ext cx="1999427" cy="502920"/>
          </a:xfrm>
          <a:prstGeom prst="rect">
            <a:avLst/>
          </a:prstGeom>
          <a:noFill/>
        </p:spPr>
        <p:txBody>
          <a:bodyPr wrap="square" lIns="0" rIns="0" tIns="0" bIns="0" anchor="t">
            <a:spAutoFit/>
          </a:bodyPr>
          <a:lstStyle/>
          <a:p>
            <a:pPr algn="ctr">
              <a:lnSpc>
                <a:spcPct val="115000"/>
              </a:lnSpc>
            </a:pPr>
            <a:r>
              <a:rPr sz="2600" b="1" i="0">
                <a:solidFill>
                  <a:srgbClr val="22B8D4"/>
                </a:solidFill>
                <a:latin typeface="Segoe UI Light"/>
              </a:rPr>
              <a:t>~46k</a:t>
            </a:r>
          </a:p>
        </p:txBody>
      </p:sp>
      <p:sp>
        <p:nvSpPr>
          <p:cNvPr id="9" name="TextBox 8"/>
          <p:cNvSpPr txBox="1"/>
          <p:nvPr/>
        </p:nvSpPr>
        <p:spPr>
          <a:xfrm>
            <a:off x="658368" y="2728569"/>
            <a:ext cx="199942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lines of application code</a:t>
            </a:r>
          </a:p>
        </p:txBody>
      </p:sp>
      <p:sp>
        <p:nvSpPr>
          <p:cNvPr id="10" name="Rounded Rectangle 9"/>
          <p:cNvSpPr/>
          <p:nvPr/>
        </p:nvSpPr>
        <p:spPr>
          <a:xfrm>
            <a:off x="2877251" y="2048255"/>
            <a:ext cx="1999427" cy="109728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2877251" y="2245766"/>
            <a:ext cx="1999427" cy="502920"/>
          </a:xfrm>
          <a:prstGeom prst="rect">
            <a:avLst/>
          </a:prstGeom>
          <a:noFill/>
        </p:spPr>
        <p:txBody>
          <a:bodyPr wrap="square" lIns="0" rIns="0" tIns="0" bIns="0" anchor="t">
            <a:spAutoFit/>
          </a:bodyPr>
          <a:lstStyle/>
          <a:p>
            <a:pPr algn="ctr">
              <a:lnSpc>
                <a:spcPct val="115000"/>
              </a:lnSpc>
            </a:pPr>
            <a:r>
              <a:rPr sz="2600" b="1" i="0">
                <a:solidFill>
                  <a:srgbClr val="0E7490"/>
                </a:solidFill>
                <a:latin typeface="Segoe UI Light"/>
              </a:rPr>
              <a:t>73</a:t>
            </a:r>
          </a:p>
        </p:txBody>
      </p:sp>
      <p:sp>
        <p:nvSpPr>
          <p:cNvPr id="12" name="TextBox 11"/>
          <p:cNvSpPr txBox="1"/>
          <p:nvPr/>
        </p:nvSpPr>
        <p:spPr>
          <a:xfrm>
            <a:off x="2877251" y="2728569"/>
            <a:ext cx="199942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REST endpoints</a:t>
            </a:r>
          </a:p>
        </p:txBody>
      </p:sp>
      <p:sp>
        <p:nvSpPr>
          <p:cNvPr id="13" name="Rounded Rectangle 12"/>
          <p:cNvSpPr/>
          <p:nvPr/>
        </p:nvSpPr>
        <p:spPr>
          <a:xfrm>
            <a:off x="5096134" y="2048255"/>
            <a:ext cx="1999427" cy="109728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096134" y="2245766"/>
            <a:ext cx="1999427" cy="502920"/>
          </a:xfrm>
          <a:prstGeom prst="rect">
            <a:avLst/>
          </a:prstGeom>
          <a:noFill/>
        </p:spPr>
        <p:txBody>
          <a:bodyPr wrap="square" lIns="0" rIns="0" tIns="0" bIns="0" anchor="t">
            <a:spAutoFit/>
          </a:bodyPr>
          <a:lstStyle/>
          <a:p>
            <a:pPr algn="ctr">
              <a:lnSpc>
                <a:spcPct val="115000"/>
              </a:lnSpc>
            </a:pPr>
            <a:r>
              <a:rPr sz="2600" b="1" i="0">
                <a:solidFill>
                  <a:srgbClr val="6D359E"/>
                </a:solidFill>
                <a:latin typeface="Segoe UI Light"/>
              </a:rPr>
              <a:t>16</a:t>
            </a:r>
          </a:p>
        </p:txBody>
      </p:sp>
      <p:sp>
        <p:nvSpPr>
          <p:cNvPr id="15" name="TextBox 14"/>
          <p:cNvSpPr txBox="1"/>
          <p:nvPr/>
        </p:nvSpPr>
        <p:spPr>
          <a:xfrm>
            <a:off x="5096134" y="2728569"/>
            <a:ext cx="199942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database tables</a:t>
            </a:r>
          </a:p>
        </p:txBody>
      </p:sp>
      <p:sp>
        <p:nvSpPr>
          <p:cNvPr id="16" name="Rounded Rectangle 15"/>
          <p:cNvSpPr/>
          <p:nvPr/>
        </p:nvSpPr>
        <p:spPr>
          <a:xfrm>
            <a:off x="7315017" y="2048255"/>
            <a:ext cx="1999427" cy="109728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15017" y="2245766"/>
            <a:ext cx="1999427" cy="502920"/>
          </a:xfrm>
          <a:prstGeom prst="rect">
            <a:avLst/>
          </a:prstGeom>
          <a:noFill/>
        </p:spPr>
        <p:txBody>
          <a:bodyPr wrap="square" lIns="0" rIns="0" tIns="0" bIns="0" anchor="t">
            <a:spAutoFit/>
          </a:bodyPr>
          <a:lstStyle/>
          <a:p>
            <a:pPr algn="ctr">
              <a:lnSpc>
                <a:spcPct val="115000"/>
              </a:lnSpc>
            </a:pPr>
            <a:r>
              <a:rPr sz="2600" b="1" i="0">
                <a:solidFill>
                  <a:srgbClr val="0F765E"/>
                </a:solidFill>
                <a:latin typeface="Segoe UI Light"/>
              </a:rPr>
              <a:t>26</a:t>
            </a:r>
          </a:p>
        </p:txBody>
      </p:sp>
      <p:sp>
        <p:nvSpPr>
          <p:cNvPr id="18" name="TextBox 17"/>
          <p:cNvSpPr txBox="1"/>
          <p:nvPr/>
        </p:nvSpPr>
        <p:spPr>
          <a:xfrm>
            <a:off x="7315017" y="2728569"/>
            <a:ext cx="199942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unit operations</a:t>
            </a:r>
          </a:p>
        </p:txBody>
      </p:sp>
      <p:sp>
        <p:nvSpPr>
          <p:cNvPr id="19" name="Rounded Rectangle 18"/>
          <p:cNvSpPr/>
          <p:nvPr/>
        </p:nvSpPr>
        <p:spPr>
          <a:xfrm>
            <a:off x="9533900" y="2048255"/>
            <a:ext cx="1999427" cy="109728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533900" y="2245766"/>
            <a:ext cx="1999427" cy="502920"/>
          </a:xfrm>
          <a:prstGeom prst="rect">
            <a:avLst/>
          </a:prstGeom>
          <a:noFill/>
        </p:spPr>
        <p:txBody>
          <a:bodyPr wrap="square" lIns="0" rIns="0" tIns="0" bIns="0" anchor="t">
            <a:spAutoFit/>
          </a:bodyPr>
          <a:lstStyle/>
          <a:p>
            <a:pPr algn="ctr">
              <a:lnSpc>
                <a:spcPct val="115000"/>
              </a:lnSpc>
            </a:pPr>
            <a:r>
              <a:rPr sz="2600" b="1" i="0">
                <a:solidFill>
                  <a:srgbClr val="C26A0A"/>
                </a:solidFill>
                <a:latin typeface="Segoe UI Light"/>
              </a:rPr>
              <a:t>15</a:t>
            </a:r>
          </a:p>
        </p:txBody>
      </p:sp>
      <p:sp>
        <p:nvSpPr>
          <p:cNvPr id="21" name="TextBox 20"/>
          <p:cNvSpPr txBox="1"/>
          <p:nvPr/>
        </p:nvSpPr>
        <p:spPr>
          <a:xfrm>
            <a:off x="9533900" y="2728569"/>
            <a:ext cx="199942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process models</a:t>
            </a:r>
          </a:p>
        </p:txBody>
      </p:sp>
      <p:sp>
        <p:nvSpPr>
          <p:cNvPr id="22" name="Rounded Rectangle 21"/>
          <p:cNvSpPr/>
          <p:nvPr/>
        </p:nvSpPr>
        <p:spPr>
          <a:xfrm>
            <a:off x="658368" y="3291839"/>
            <a:ext cx="1999427" cy="109728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3489350"/>
            <a:ext cx="1999427" cy="502920"/>
          </a:xfrm>
          <a:prstGeom prst="rect">
            <a:avLst/>
          </a:prstGeom>
          <a:noFill/>
        </p:spPr>
        <p:txBody>
          <a:bodyPr wrap="square" lIns="0" rIns="0" tIns="0" bIns="0" anchor="t">
            <a:spAutoFit/>
          </a:bodyPr>
          <a:lstStyle/>
          <a:p>
            <a:pPr algn="ctr">
              <a:lnSpc>
                <a:spcPct val="115000"/>
              </a:lnSpc>
            </a:pPr>
            <a:r>
              <a:rPr sz="2600" b="1" i="0">
                <a:solidFill>
                  <a:srgbClr val="BE123C"/>
                </a:solidFill>
                <a:latin typeface="Segoe UI Light"/>
              </a:rPr>
              <a:t>12</a:t>
            </a:r>
          </a:p>
        </p:txBody>
      </p:sp>
      <p:sp>
        <p:nvSpPr>
          <p:cNvPr id="24" name="TextBox 23"/>
          <p:cNvSpPr txBox="1"/>
          <p:nvPr/>
        </p:nvSpPr>
        <p:spPr>
          <a:xfrm>
            <a:off x="658368" y="3972153"/>
            <a:ext cx="199942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application pages</a:t>
            </a:r>
          </a:p>
        </p:txBody>
      </p:sp>
      <p:sp>
        <p:nvSpPr>
          <p:cNvPr id="25" name="Rounded Rectangle 24"/>
          <p:cNvSpPr/>
          <p:nvPr/>
        </p:nvSpPr>
        <p:spPr>
          <a:xfrm>
            <a:off x="2877251" y="3291839"/>
            <a:ext cx="1999427" cy="109728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877251" y="3489350"/>
            <a:ext cx="1999427" cy="502920"/>
          </a:xfrm>
          <a:prstGeom prst="rect">
            <a:avLst/>
          </a:prstGeom>
          <a:noFill/>
        </p:spPr>
        <p:txBody>
          <a:bodyPr wrap="square" lIns="0" rIns="0" tIns="0" bIns="0" anchor="t">
            <a:spAutoFit/>
          </a:bodyPr>
          <a:lstStyle/>
          <a:p>
            <a:pPr algn="ctr">
              <a:lnSpc>
                <a:spcPct val="115000"/>
              </a:lnSpc>
            </a:pPr>
            <a:r>
              <a:rPr sz="2600" b="1" i="0">
                <a:solidFill>
                  <a:srgbClr val="0E7490"/>
                </a:solidFill>
                <a:latin typeface="Segoe UI Light"/>
              </a:rPr>
              <a:t>8</a:t>
            </a:r>
          </a:p>
        </p:txBody>
      </p:sp>
      <p:sp>
        <p:nvSpPr>
          <p:cNvPr id="27" name="TextBox 26"/>
          <p:cNvSpPr txBox="1"/>
          <p:nvPr/>
        </p:nvSpPr>
        <p:spPr>
          <a:xfrm>
            <a:off x="2877251" y="3972153"/>
            <a:ext cx="199942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schema migrations</a:t>
            </a:r>
          </a:p>
        </p:txBody>
      </p:sp>
      <p:sp>
        <p:nvSpPr>
          <p:cNvPr id="28" name="Rounded Rectangle 27"/>
          <p:cNvSpPr/>
          <p:nvPr/>
        </p:nvSpPr>
        <p:spPr>
          <a:xfrm>
            <a:off x="5096134" y="3291839"/>
            <a:ext cx="1999427" cy="109728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96134" y="3489350"/>
            <a:ext cx="1999427" cy="502920"/>
          </a:xfrm>
          <a:prstGeom prst="rect">
            <a:avLst/>
          </a:prstGeom>
          <a:noFill/>
        </p:spPr>
        <p:txBody>
          <a:bodyPr wrap="square" lIns="0" rIns="0" tIns="0" bIns="0" anchor="t">
            <a:spAutoFit/>
          </a:bodyPr>
          <a:lstStyle/>
          <a:p>
            <a:pPr algn="ctr">
              <a:lnSpc>
                <a:spcPct val="115000"/>
              </a:lnSpc>
            </a:pPr>
            <a:r>
              <a:rPr sz="2600" b="1" i="0">
                <a:solidFill>
                  <a:srgbClr val="22B8D4"/>
                </a:solidFill>
                <a:latin typeface="Segoe UI Light"/>
              </a:rPr>
              <a:t>5</a:t>
            </a:r>
          </a:p>
        </p:txBody>
      </p:sp>
      <p:sp>
        <p:nvSpPr>
          <p:cNvPr id="30" name="TextBox 29"/>
          <p:cNvSpPr txBox="1"/>
          <p:nvPr/>
        </p:nvSpPr>
        <p:spPr>
          <a:xfrm>
            <a:off x="5096134" y="3972153"/>
            <a:ext cx="199942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PLC protocols</a:t>
            </a:r>
          </a:p>
        </p:txBody>
      </p:sp>
      <p:sp>
        <p:nvSpPr>
          <p:cNvPr id="31" name="Rounded Rectangle 30"/>
          <p:cNvSpPr/>
          <p:nvPr/>
        </p:nvSpPr>
        <p:spPr>
          <a:xfrm>
            <a:off x="7315017" y="3291839"/>
            <a:ext cx="1999427" cy="109728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315017" y="3489350"/>
            <a:ext cx="1999427" cy="502920"/>
          </a:xfrm>
          <a:prstGeom prst="rect">
            <a:avLst/>
          </a:prstGeom>
          <a:noFill/>
        </p:spPr>
        <p:txBody>
          <a:bodyPr wrap="square" lIns="0" rIns="0" tIns="0" bIns="0" anchor="t">
            <a:spAutoFit/>
          </a:bodyPr>
          <a:lstStyle/>
          <a:p>
            <a:pPr algn="ctr">
              <a:lnSpc>
                <a:spcPct val="115000"/>
              </a:lnSpc>
            </a:pPr>
            <a:r>
              <a:rPr sz="2600" b="1" i="0">
                <a:solidFill>
                  <a:srgbClr val="6D359E"/>
                </a:solidFill>
                <a:latin typeface="Segoe UI Light"/>
              </a:rPr>
              <a:t>4</a:t>
            </a:r>
          </a:p>
        </p:txBody>
      </p:sp>
      <p:sp>
        <p:nvSpPr>
          <p:cNvPr id="33" name="TextBox 32"/>
          <p:cNvSpPr txBox="1"/>
          <p:nvPr/>
        </p:nvSpPr>
        <p:spPr>
          <a:xfrm>
            <a:off x="7315017" y="3972153"/>
            <a:ext cx="199942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user roles</a:t>
            </a:r>
          </a:p>
        </p:txBody>
      </p:sp>
      <p:sp>
        <p:nvSpPr>
          <p:cNvPr id="34" name="Rounded Rectangle 33"/>
          <p:cNvSpPr/>
          <p:nvPr/>
        </p:nvSpPr>
        <p:spPr>
          <a:xfrm>
            <a:off x="9533900" y="3291839"/>
            <a:ext cx="1999427" cy="1097280"/>
          </a:xfrm>
          <a:prstGeom prst="roundRect">
            <a:avLst>
              <a:gd name="adj" fmla="val 9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533900" y="3489350"/>
            <a:ext cx="1999427" cy="502920"/>
          </a:xfrm>
          <a:prstGeom prst="rect">
            <a:avLst/>
          </a:prstGeom>
          <a:noFill/>
        </p:spPr>
        <p:txBody>
          <a:bodyPr wrap="square" lIns="0" rIns="0" tIns="0" bIns="0" anchor="t">
            <a:spAutoFit/>
          </a:bodyPr>
          <a:lstStyle/>
          <a:p>
            <a:pPr algn="ctr">
              <a:lnSpc>
                <a:spcPct val="115000"/>
              </a:lnSpc>
            </a:pPr>
            <a:r>
              <a:rPr sz="2600" b="1" i="0">
                <a:solidFill>
                  <a:srgbClr val="0F765E"/>
                </a:solidFill>
                <a:latin typeface="Segoe UI Light"/>
              </a:rPr>
              <a:t>3</a:t>
            </a:r>
          </a:p>
        </p:txBody>
      </p:sp>
      <p:sp>
        <p:nvSpPr>
          <p:cNvPr id="36" name="TextBox 35"/>
          <p:cNvSpPr txBox="1"/>
          <p:nvPr/>
        </p:nvSpPr>
        <p:spPr>
          <a:xfrm>
            <a:off x="9533900" y="3972153"/>
            <a:ext cx="1999427" cy="457200"/>
          </a:xfrm>
          <a:prstGeom prst="rect">
            <a:avLst/>
          </a:prstGeom>
          <a:noFill/>
        </p:spPr>
        <p:txBody>
          <a:bodyPr wrap="square" lIns="0" rIns="0" tIns="0" bIns="0" anchor="t">
            <a:spAutoFit/>
          </a:bodyPr>
          <a:lstStyle/>
          <a:p>
            <a:pPr algn="ctr">
              <a:lnSpc>
                <a:spcPct val="115000"/>
              </a:lnSpc>
            </a:pPr>
            <a:r>
              <a:rPr sz="1000" b="0" i="0">
                <a:solidFill>
                  <a:srgbClr val="64748B"/>
                </a:solidFill>
                <a:latin typeface="Segoe UI"/>
              </a:rPr>
              <a:t>simulation modes</a:t>
            </a:r>
          </a:p>
        </p:txBody>
      </p:sp>
      <p:sp>
        <p:nvSpPr>
          <p:cNvPr id="37" name="TextBox 36"/>
          <p:cNvSpPr txBox="1"/>
          <p:nvPr/>
        </p:nvSpPr>
        <p:spPr>
          <a:xfrm>
            <a:off x="658368" y="4608575"/>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HOW IT WAS BUILT</a:t>
            </a:r>
          </a:p>
        </p:txBody>
      </p:sp>
      <p:sp>
        <p:nvSpPr>
          <p:cNvPr id="38" name="Rectangle 37"/>
          <p:cNvSpPr/>
          <p:nvPr/>
        </p:nvSpPr>
        <p:spPr>
          <a:xfrm>
            <a:off x="658368" y="4919471"/>
            <a:ext cx="10874959" cy="402336"/>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59536" y="4919471"/>
            <a:ext cx="2118171"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Delivered in sessions</a:t>
            </a:r>
          </a:p>
        </p:txBody>
      </p:sp>
      <p:sp>
        <p:nvSpPr>
          <p:cNvPr id="40" name="TextBox 39"/>
          <p:cNvSpPr txBox="1"/>
          <p:nvPr/>
        </p:nvSpPr>
        <p:spPr>
          <a:xfrm>
            <a:off x="3142299" y="4919471"/>
            <a:ext cx="8208148"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Sixteen completed sessions, each one documented in a state file that the next session picks up from.</a:t>
            </a:r>
          </a:p>
        </p:txBody>
      </p:sp>
      <p:sp>
        <p:nvSpPr>
          <p:cNvPr id="41" name="TextBox 40"/>
          <p:cNvSpPr txBox="1"/>
          <p:nvPr/>
        </p:nvSpPr>
        <p:spPr>
          <a:xfrm>
            <a:off x="859536" y="5321807"/>
            <a:ext cx="2118171"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Foundations first</a:t>
            </a:r>
          </a:p>
        </p:txBody>
      </p:sp>
      <p:sp>
        <p:nvSpPr>
          <p:cNvPr id="42" name="TextBox 41"/>
          <p:cNvSpPr txBox="1"/>
          <p:nvPr/>
        </p:nvSpPr>
        <p:spPr>
          <a:xfrm>
            <a:off x="3142299" y="5321807"/>
            <a:ext cx="8208148"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Monorepo, schema, auth and RBAC before any feature — then the engine, then the canvas, then the extras.</a:t>
            </a:r>
          </a:p>
        </p:txBody>
      </p:sp>
      <p:sp>
        <p:nvSpPr>
          <p:cNvPr id="43" name="Rectangle 42"/>
          <p:cNvSpPr/>
          <p:nvPr/>
        </p:nvSpPr>
        <p:spPr>
          <a:xfrm>
            <a:off x="658368" y="5724144"/>
            <a:ext cx="10874959" cy="402336"/>
          </a:xfrm>
          <a:prstGeom prst="rect">
            <a:avLst/>
          </a:prstGeom>
          <a:solidFill>
            <a:srgbClr val="E9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59536" y="5724144"/>
            <a:ext cx="2118171" cy="402336"/>
          </a:xfrm>
          <a:prstGeom prst="rect">
            <a:avLst/>
          </a:prstGeom>
          <a:noFill/>
        </p:spPr>
        <p:txBody>
          <a:bodyPr wrap="square" lIns="0" rIns="0" tIns="0" bIns="0" anchor="ctr">
            <a:spAutoFit/>
          </a:bodyPr>
          <a:lstStyle/>
          <a:p>
            <a:pPr algn="l">
              <a:lnSpc>
                <a:spcPct val="115000"/>
              </a:lnSpc>
            </a:pPr>
            <a:r>
              <a:rPr sz="1050" b="1" i="0">
                <a:solidFill>
                  <a:srgbClr val="062438"/>
                </a:solidFill>
                <a:latin typeface="Segoe UI"/>
              </a:rPr>
              <a:t>Quality passes on purpose</a:t>
            </a:r>
          </a:p>
        </p:txBody>
      </p:sp>
      <p:sp>
        <p:nvSpPr>
          <p:cNvPr id="45" name="TextBox 44"/>
          <p:cNvSpPr txBox="1"/>
          <p:nvPr/>
        </p:nvSpPr>
        <p:spPr>
          <a:xfrm>
            <a:off x="3142299" y="5724144"/>
            <a:ext cx="8208148" cy="402336"/>
          </a:xfrm>
          <a:prstGeom prst="rect">
            <a:avLst/>
          </a:prstGeom>
          <a:noFill/>
        </p:spPr>
        <p:txBody>
          <a:bodyPr wrap="square" lIns="0" rIns="0" tIns="0" bIns="0" anchor="ctr">
            <a:spAutoFit/>
          </a:bodyPr>
          <a:lstStyle/>
          <a:p>
            <a:pPr algn="l">
              <a:lnSpc>
                <a:spcPct val="115000"/>
              </a:lnSpc>
            </a:pPr>
            <a:r>
              <a:rPr sz="1050" b="0" i="0">
                <a:solidFill>
                  <a:srgbClr val="334155"/>
                </a:solidFill>
                <a:latin typeface="Segoe UI"/>
              </a:rPr>
              <a:t>Whole sessions given to UX polish, multi-tenancy, reporting and performance — not squeezed between features.</a:t>
            </a:r>
          </a:p>
        </p:txBody>
      </p:sp>
      <p:sp>
        <p:nvSpPr>
          <p:cNvPr id="46" name="TextBox 45"/>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7" name="TextBox 46"/>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Engineering</a:t>
            </a:r>
          </a:p>
        </p:txBody>
      </p:sp>
      <p:sp>
        <p:nvSpPr>
          <p:cNvPr id="48" name="TextBox 47"/>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457200"/>
            <a:ext cx="50292" cy="27432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13816" y="466344"/>
            <a:ext cx="1069207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WHAT IS NEXT</a:t>
            </a:r>
          </a:p>
        </p:txBody>
      </p:sp>
      <p:sp>
        <p:nvSpPr>
          <p:cNvPr id="4" name="TextBox 3"/>
          <p:cNvSpPr txBox="1"/>
          <p:nvPr/>
        </p:nvSpPr>
        <p:spPr>
          <a:xfrm>
            <a:off x="658368" y="768096"/>
            <a:ext cx="10874959" cy="502920"/>
          </a:xfrm>
          <a:prstGeom prst="rect">
            <a:avLst/>
          </a:prstGeom>
          <a:noFill/>
        </p:spPr>
        <p:txBody>
          <a:bodyPr wrap="square" lIns="0" rIns="0" tIns="0" bIns="0" anchor="t">
            <a:spAutoFit/>
          </a:bodyPr>
          <a:lstStyle/>
          <a:p>
            <a:pPr algn="l">
              <a:lnSpc>
                <a:spcPct val="115000"/>
              </a:lnSpc>
            </a:pPr>
            <a:r>
              <a:rPr sz="2700" b="1" i="0">
                <a:solidFill>
                  <a:srgbClr val="062438"/>
                </a:solidFill>
                <a:latin typeface="Segoe UI Light"/>
              </a:rPr>
              <a:t>Roadmap</a:t>
            </a:r>
          </a:p>
        </p:txBody>
      </p:sp>
      <p:sp>
        <p:nvSpPr>
          <p:cNvPr id="5" name="TextBox 4"/>
          <p:cNvSpPr txBox="1"/>
          <p:nvPr/>
        </p:nvSpPr>
        <p:spPr>
          <a:xfrm>
            <a:off x="658368" y="1316736"/>
            <a:ext cx="10331211" cy="365760"/>
          </a:xfrm>
          <a:prstGeom prst="rect">
            <a:avLst/>
          </a:prstGeom>
          <a:noFill/>
        </p:spPr>
        <p:txBody>
          <a:bodyPr wrap="square" lIns="0" rIns="0" tIns="0" bIns="0" anchor="t">
            <a:spAutoFit/>
          </a:bodyPr>
          <a:lstStyle/>
          <a:p>
            <a:pPr algn="l">
              <a:lnSpc>
                <a:spcPct val="115000"/>
              </a:lnSpc>
            </a:pPr>
            <a:r>
              <a:rPr sz="1250" b="0" i="0">
                <a:solidFill>
                  <a:srgbClr val="64748B"/>
                </a:solidFill>
                <a:latin typeface="Segoe UI"/>
              </a:rPr>
              <a:t>In flight now, and the candidates queued behind it.</a:t>
            </a:r>
          </a:p>
        </p:txBody>
      </p:sp>
      <p:sp>
        <p:nvSpPr>
          <p:cNvPr id="6" name="Rectangle 5"/>
          <p:cNvSpPr/>
          <p:nvPr/>
        </p:nvSpPr>
        <p:spPr>
          <a:xfrm>
            <a:off x="658368" y="1773936"/>
            <a:ext cx="10874959" cy="12801"/>
          </a:xfrm>
          <a:prstGeom prst="rect">
            <a:avLst/>
          </a:prstGeom>
          <a:solidFill>
            <a:srgbClr val="D8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048255"/>
            <a:ext cx="10874959" cy="274320"/>
          </a:xfrm>
          <a:prstGeom prst="rect">
            <a:avLst/>
          </a:prstGeom>
          <a:noFill/>
        </p:spPr>
        <p:txBody>
          <a:bodyPr wrap="square" lIns="0" rIns="0" tIns="0" bIns="0" anchor="t">
            <a:spAutoFit/>
          </a:bodyPr>
          <a:lstStyle/>
          <a:p>
            <a:pPr algn="l">
              <a:lnSpc>
                <a:spcPct val="115000"/>
              </a:lnSpc>
            </a:pPr>
            <a:r>
              <a:rPr sz="1050" b="1" i="0">
                <a:solidFill>
                  <a:srgbClr val="BE123C"/>
                </a:solidFill>
                <a:latin typeface="Segoe UI"/>
              </a:rPr>
              <a:t>IN PROGRESS</a:t>
            </a:r>
          </a:p>
        </p:txBody>
      </p:sp>
      <p:sp>
        <p:nvSpPr>
          <p:cNvPr id="8" name="Rounded Rectangle 7"/>
          <p:cNvSpPr/>
          <p:nvPr/>
        </p:nvSpPr>
        <p:spPr>
          <a:xfrm>
            <a:off x="658368" y="2359151"/>
            <a:ext cx="5291175" cy="118872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359151"/>
            <a:ext cx="45720" cy="118872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2542032"/>
            <a:ext cx="4833975"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Alarms on the canvas</a:t>
            </a:r>
          </a:p>
        </p:txBody>
      </p:sp>
      <p:sp>
        <p:nvSpPr>
          <p:cNvPr id="11" name="TextBox 10"/>
          <p:cNvSpPr txBox="1"/>
          <p:nvPr/>
        </p:nvSpPr>
        <p:spPr>
          <a:xfrm>
            <a:off x="914400" y="2871215"/>
            <a:ext cx="4833975" cy="548639"/>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Limits on validated targets, an event history, CSV export and a PDF alarm report — with the alarm bell and panel wired into the flowsheet.</a:t>
            </a:r>
          </a:p>
        </p:txBody>
      </p:sp>
      <p:sp>
        <p:nvSpPr>
          <p:cNvPr id="12" name="Rounded Rectangle 11"/>
          <p:cNvSpPr/>
          <p:nvPr/>
        </p:nvSpPr>
        <p:spPr>
          <a:xfrm>
            <a:off x="6242151" y="2359151"/>
            <a:ext cx="5291175" cy="1188720"/>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42151" y="2359151"/>
            <a:ext cx="45720" cy="118872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98183" y="2542032"/>
            <a:ext cx="4833975" cy="292608"/>
          </a:xfrm>
          <a:prstGeom prst="rect">
            <a:avLst/>
          </a:prstGeom>
          <a:noFill/>
        </p:spPr>
        <p:txBody>
          <a:bodyPr wrap="square" lIns="0" rIns="0" tIns="0" bIns="0" anchor="t">
            <a:spAutoFit/>
          </a:bodyPr>
          <a:lstStyle/>
          <a:p>
            <a:pPr algn="l">
              <a:lnSpc>
                <a:spcPct val="115000"/>
              </a:lnSpc>
            </a:pPr>
            <a:r>
              <a:rPr sz="1300" b="1" i="0">
                <a:solidFill>
                  <a:srgbClr val="062438"/>
                </a:solidFill>
                <a:latin typeface="Segoe UI"/>
              </a:rPr>
              <a:t>Canvas redesign</a:t>
            </a:r>
          </a:p>
        </p:txBody>
      </p:sp>
      <p:sp>
        <p:nvSpPr>
          <p:cNvPr id="15" name="TextBox 14"/>
          <p:cNvSpPr txBox="1"/>
          <p:nvPr/>
        </p:nvSpPr>
        <p:spPr>
          <a:xfrm>
            <a:off x="6498183" y="2871215"/>
            <a:ext cx="4833975" cy="548639"/>
          </a:xfrm>
          <a:prstGeom prst="rect">
            <a:avLst/>
          </a:prstGeom>
          <a:noFill/>
        </p:spPr>
        <p:txBody>
          <a:bodyPr wrap="square" lIns="0" rIns="0" tIns="0" bIns="0" anchor="t">
            <a:spAutoFit/>
          </a:bodyPr>
          <a:lstStyle/>
          <a:p>
            <a:pPr algn="l">
              <a:lnSpc>
                <a:spcPct val="130000"/>
              </a:lnSpc>
            </a:pPr>
            <a:r>
              <a:rPr sz="1050" b="0" i="0">
                <a:solidFill>
                  <a:srgbClr val="64748B"/>
                </a:solidFill>
                <a:latin typeface="Segoe UI"/>
              </a:rPr>
              <a:t>All 26 equipment symbols redrawn and made value-driven: a live store, motion tokens, animated streams and readouts on every node.</a:t>
            </a:r>
          </a:p>
        </p:txBody>
      </p:sp>
      <p:sp>
        <p:nvSpPr>
          <p:cNvPr id="16" name="TextBox 15"/>
          <p:cNvSpPr txBox="1"/>
          <p:nvPr/>
        </p:nvSpPr>
        <p:spPr>
          <a:xfrm>
            <a:off x="658368" y="3840479"/>
            <a:ext cx="10874959" cy="274320"/>
          </a:xfrm>
          <a:prstGeom prst="rect">
            <a:avLst/>
          </a:prstGeom>
          <a:noFill/>
        </p:spPr>
        <p:txBody>
          <a:bodyPr wrap="square" lIns="0" rIns="0" tIns="0" bIns="0" anchor="t">
            <a:spAutoFit/>
          </a:bodyPr>
          <a:lstStyle/>
          <a:p>
            <a:pPr algn="l">
              <a:lnSpc>
                <a:spcPct val="115000"/>
              </a:lnSpc>
            </a:pPr>
            <a:r>
              <a:rPr sz="1050" b="1" i="0">
                <a:solidFill>
                  <a:srgbClr val="0E7490"/>
                </a:solidFill>
                <a:latin typeface="Segoe UI"/>
              </a:rPr>
              <a:t>CANDIDATES</a:t>
            </a:r>
          </a:p>
        </p:txBody>
      </p:sp>
      <p:sp>
        <p:nvSpPr>
          <p:cNvPr id="17" name="Rounded Rectangle 16"/>
          <p:cNvSpPr/>
          <p:nvPr/>
        </p:nvSpPr>
        <p:spPr>
          <a:xfrm>
            <a:off x="658368" y="4151375"/>
            <a:ext cx="3466490" cy="96926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4151375"/>
            <a:ext cx="45720" cy="9692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4334255"/>
            <a:ext cx="3009290" cy="292608"/>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Notifications</a:t>
            </a:r>
          </a:p>
        </p:txBody>
      </p:sp>
      <p:sp>
        <p:nvSpPr>
          <p:cNvPr id="20" name="TextBox 19"/>
          <p:cNvSpPr txBox="1"/>
          <p:nvPr/>
        </p:nvSpPr>
        <p:spPr>
          <a:xfrm>
            <a:off x="914400" y="4663440"/>
            <a:ext cx="3009290" cy="329183"/>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Real-time toasts over the existing WebSocket, and email when a long run completes.</a:t>
            </a:r>
          </a:p>
        </p:txBody>
      </p:sp>
      <p:sp>
        <p:nvSpPr>
          <p:cNvPr id="21" name="Rounded Rectangle 20"/>
          <p:cNvSpPr/>
          <p:nvPr/>
        </p:nvSpPr>
        <p:spPr>
          <a:xfrm>
            <a:off x="4362602" y="4151375"/>
            <a:ext cx="3466490" cy="96926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362602" y="4151375"/>
            <a:ext cx="45720" cy="969264"/>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618634" y="4334255"/>
            <a:ext cx="3009290" cy="292608"/>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User preferences</a:t>
            </a:r>
          </a:p>
        </p:txBody>
      </p:sp>
      <p:sp>
        <p:nvSpPr>
          <p:cNvPr id="24" name="TextBox 23"/>
          <p:cNvSpPr txBox="1"/>
          <p:nvPr/>
        </p:nvSpPr>
        <p:spPr>
          <a:xfrm>
            <a:off x="4618634" y="4663440"/>
            <a:ext cx="3009290" cy="329183"/>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Dark mode, SI or imperial units, timezone and layout density.</a:t>
            </a:r>
          </a:p>
        </p:txBody>
      </p:sp>
      <p:sp>
        <p:nvSpPr>
          <p:cNvPr id="25" name="Rounded Rectangle 24"/>
          <p:cNvSpPr/>
          <p:nvPr/>
        </p:nvSpPr>
        <p:spPr>
          <a:xfrm>
            <a:off x="8066836" y="4151375"/>
            <a:ext cx="3466490" cy="96926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066836" y="4151375"/>
            <a:ext cx="45720" cy="969264"/>
          </a:xfrm>
          <a:prstGeom prst="rect">
            <a:avLst/>
          </a:prstGeom>
          <a:solidFill>
            <a:srgbClr val="6D35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322868" y="4334255"/>
            <a:ext cx="3009290" cy="292608"/>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Comments &amp; annotations</a:t>
            </a:r>
          </a:p>
        </p:txBody>
      </p:sp>
      <p:sp>
        <p:nvSpPr>
          <p:cNvPr id="28" name="TextBox 27"/>
          <p:cNvSpPr txBox="1"/>
          <p:nvPr/>
        </p:nvSpPr>
        <p:spPr>
          <a:xfrm>
            <a:off x="8322868" y="4663440"/>
            <a:ext cx="3009290" cy="329183"/>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Threaded discussion pinned to a flowsheet node or a report figure.</a:t>
            </a:r>
          </a:p>
        </p:txBody>
      </p:sp>
      <p:sp>
        <p:nvSpPr>
          <p:cNvPr id="29" name="Rounded Rectangle 28"/>
          <p:cNvSpPr/>
          <p:nvPr/>
        </p:nvSpPr>
        <p:spPr>
          <a:xfrm>
            <a:off x="658368" y="5230367"/>
            <a:ext cx="3466490" cy="96926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58368" y="5230367"/>
            <a:ext cx="45720" cy="969264"/>
          </a:xfrm>
          <a:prstGeom prst="rect">
            <a:avLst/>
          </a:prstGeom>
          <a:solidFill>
            <a:srgbClr val="0F76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4400" y="5413247"/>
            <a:ext cx="3009290" cy="292608"/>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Advanced simulation</a:t>
            </a:r>
          </a:p>
        </p:txBody>
      </p:sp>
      <p:sp>
        <p:nvSpPr>
          <p:cNvPr id="32" name="TextBox 31"/>
          <p:cNvSpPr txBox="1"/>
          <p:nvPr/>
        </p:nvSpPr>
        <p:spPr>
          <a:xfrm>
            <a:off x="914400" y="5742431"/>
            <a:ext cx="3009290" cy="329183"/>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Sensitivity analysis, Monte Carlo, and batch parameter sweeps.</a:t>
            </a:r>
          </a:p>
        </p:txBody>
      </p:sp>
      <p:sp>
        <p:nvSpPr>
          <p:cNvPr id="33" name="Rounded Rectangle 32"/>
          <p:cNvSpPr/>
          <p:nvPr/>
        </p:nvSpPr>
        <p:spPr>
          <a:xfrm>
            <a:off x="4362602" y="5230367"/>
            <a:ext cx="3466490" cy="96926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362602" y="5230367"/>
            <a:ext cx="45720" cy="969264"/>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618634" y="5413247"/>
            <a:ext cx="3009290" cy="292608"/>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Wider E2E coverage</a:t>
            </a:r>
          </a:p>
        </p:txBody>
      </p:sp>
      <p:sp>
        <p:nvSpPr>
          <p:cNvPr id="36" name="TextBox 35"/>
          <p:cNvSpPr txBox="1"/>
          <p:nvPr/>
        </p:nvSpPr>
        <p:spPr>
          <a:xfrm>
            <a:off x="4618634" y="5742431"/>
            <a:ext cx="3009290" cy="329183"/>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Playwright journeys beyond the current smoke run.</a:t>
            </a:r>
          </a:p>
        </p:txBody>
      </p:sp>
      <p:sp>
        <p:nvSpPr>
          <p:cNvPr id="37" name="Rounded Rectangle 36"/>
          <p:cNvSpPr/>
          <p:nvPr/>
        </p:nvSpPr>
        <p:spPr>
          <a:xfrm>
            <a:off x="8066836" y="5230367"/>
            <a:ext cx="3466490" cy="969264"/>
          </a:xfrm>
          <a:prstGeom prst="roundRect">
            <a:avLst>
              <a:gd name="adj" fmla="val 5000"/>
            </a:avLst>
          </a:prstGeom>
          <a:solidFill>
            <a:srgbClr val="FFFFFF"/>
          </a:solidFill>
          <a:ln w="12700">
            <a:solidFill>
              <a:srgbClr val="D8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8066836" y="5230367"/>
            <a:ext cx="45720" cy="969264"/>
          </a:xfrm>
          <a:prstGeom prst="rect">
            <a:avLst/>
          </a:prstGeom>
          <a:solidFill>
            <a:srgbClr val="9AAB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322868" y="5413247"/>
            <a:ext cx="3009290" cy="292608"/>
          </a:xfrm>
          <a:prstGeom prst="rect">
            <a:avLst/>
          </a:prstGeom>
          <a:noFill/>
        </p:spPr>
        <p:txBody>
          <a:bodyPr wrap="square" lIns="0" rIns="0" tIns="0" bIns="0" anchor="t">
            <a:spAutoFit/>
          </a:bodyPr>
          <a:lstStyle/>
          <a:p>
            <a:pPr algn="l">
              <a:lnSpc>
                <a:spcPct val="115000"/>
              </a:lnSpc>
            </a:pPr>
            <a:r>
              <a:rPr sz="1250" b="1" i="0">
                <a:solidFill>
                  <a:srgbClr val="062438"/>
                </a:solidFill>
                <a:latin typeface="Segoe UI"/>
              </a:rPr>
              <a:t>Documentation site</a:t>
            </a:r>
          </a:p>
        </p:txBody>
      </p:sp>
      <p:sp>
        <p:nvSpPr>
          <p:cNvPr id="40" name="TextBox 39"/>
          <p:cNvSpPr txBox="1"/>
          <p:nvPr/>
        </p:nvSpPr>
        <p:spPr>
          <a:xfrm>
            <a:off x="8322868" y="5742431"/>
            <a:ext cx="3009290" cy="329183"/>
          </a:xfrm>
          <a:prstGeom prst="rect">
            <a:avLst/>
          </a:prstGeom>
          <a:noFill/>
        </p:spPr>
        <p:txBody>
          <a:bodyPr wrap="square" lIns="0" rIns="0" tIns="0" bIns="0" anchor="t">
            <a:spAutoFit/>
          </a:bodyPr>
          <a:lstStyle/>
          <a:p>
            <a:pPr algn="l">
              <a:lnSpc>
                <a:spcPct val="130000"/>
              </a:lnSpc>
            </a:pPr>
            <a:r>
              <a:rPr sz="1000" b="0" i="0">
                <a:solidFill>
                  <a:srgbClr val="64748B"/>
                </a:solidFill>
                <a:latin typeface="Segoe UI"/>
              </a:rPr>
              <a:t>Storybook for the component library, Docusaurus for the guides.</a:t>
            </a:r>
          </a:p>
        </p:txBody>
      </p:sp>
      <p:sp>
        <p:nvSpPr>
          <p:cNvPr id="41" name="TextBox 40"/>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42" name="TextBox 41"/>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Roadmap</a:t>
            </a:r>
          </a:p>
        </p:txBody>
      </p:sp>
      <p:sp>
        <p:nvSpPr>
          <p:cNvPr id="43" name="TextBox 42"/>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62438"/>
        </a:solidFill>
        <a:effectLst/>
      </p:bgPr>
    </p:bg>
    <p:spTree>
      <p:nvGrpSpPr>
        <p:cNvPr id="1" name=""/>
        <p:cNvGrpSpPr/>
        <p:nvPr/>
      </p:nvGrpSpPr>
      <p:grpSpPr/>
      <p:sp>
        <p:nvSpPr>
          <p:cNvPr id="2" name="Rectangle 1"/>
          <p:cNvSpPr/>
          <p:nvPr/>
        </p:nvSpPr>
        <p:spPr>
          <a:xfrm>
            <a:off x="-457200" y="5532120"/>
            <a:ext cx="13106095" cy="502920"/>
          </a:xfrm>
          <a:prstGeom prst="rect">
            <a:avLst/>
          </a:prstGeom>
          <a:solidFill>
            <a:srgbClr val="0B3B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457200" y="5989320"/>
            <a:ext cx="13106095" cy="457200"/>
          </a:xfrm>
          <a:prstGeom prst="rect">
            <a:avLst/>
          </a:prstGeom>
          <a:solidFill>
            <a:srgbClr val="0E50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457200" y="6382512"/>
            <a:ext cx="13106095" cy="502920"/>
          </a:xfrm>
          <a:prstGeom prst="rect">
            <a:avLst/>
          </a:prstGeom>
          <a:solidFill>
            <a:srgbClr val="12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417320"/>
            <a:ext cx="822960" cy="68580"/>
          </a:xfrm>
          <a:prstGeom prst="rect">
            <a:avLst/>
          </a:prstGeom>
          <a:solidFill>
            <a:srgbClr val="22B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755648"/>
            <a:ext cx="10874959" cy="457200"/>
          </a:xfrm>
          <a:prstGeom prst="rect">
            <a:avLst/>
          </a:prstGeom>
          <a:noFill/>
        </p:spPr>
        <p:txBody>
          <a:bodyPr wrap="square" lIns="0" rIns="0" tIns="0" bIns="0" anchor="t">
            <a:spAutoFit/>
          </a:bodyPr>
          <a:lstStyle/>
          <a:p>
            <a:pPr algn="l">
              <a:lnSpc>
                <a:spcPct val="115000"/>
              </a:lnSpc>
            </a:pPr>
            <a:r>
              <a:rPr sz="1200" b="1" i="0">
                <a:solidFill>
                  <a:srgbClr val="22B8D4"/>
                </a:solidFill>
                <a:latin typeface="Segoe UI"/>
              </a:rPr>
              <a:t>IN SUMMARY</a:t>
            </a:r>
          </a:p>
        </p:txBody>
      </p:sp>
      <p:sp>
        <p:nvSpPr>
          <p:cNvPr id="7" name="TextBox 6"/>
          <p:cNvSpPr txBox="1"/>
          <p:nvPr/>
        </p:nvSpPr>
        <p:spPr>
          <a:xfrm>
            <a:off x="658368" y="2103120"/>
            <a:ext cx="9352464" cy="1280160"/>
          </a:xfrm>
          <a:prstGeom prst="rect">
            <a:avLst/>
          </a:prstGeom>
          <a:noFill/>
        </p:spPr>
        <p:txBody>
          <a:bodyPr wrap="square" lIns="0" rIns="0" tIns="0" bIns="0" anchor="t">
            <a:spAutoFit/>
          </a:bodyPr>
          <a:lstStyle/>
          <a:p>
            <a:pPr algn="l">
              <a:lnSpc>
                <a:spcPct val="118000"/>
              </a:lnSpc>
            </a:pPr>
            <a:r>
              <a:rPr sz="3600" b="1" i="0">
                <a:solidFill>
                  <a:srgbClr val="FFFFFF"/>
                </a:solidFill>
                <a:latin typeface="Segoe UI Light"/>
              </a:rPr>
              <a:t>One model, from the drawing sheet to the discharge permit.</a:t>
            </a:r>
          </a:p>
        </p:txBody>
      </p:sp>
      <p:sp>
        <p:nvSpPr>
          <p:cNvPr id="8" name="TextBox 7"/>
          <p:cNvSpPr txBox="1"/>
          <p:nvPr/>
        </p:nvSpPr>
        <p:spPr>
          <a:xfrm>
            <a:off x="658368" y="3566160"/>
            <a:ext cx="7829970" cy="822960"/>
          </a:xfrm>
          <a:prstGeom prst="rect">
            <a:avLst/>
          </a:prstGeom>
          <a:noFill/>
        </p:spPr>
        <p:txBody>
          <a:bodyPr wrap="square" lIns="0" rIns="0" tIns="0" bIns="0" anchor="t">
            <a:spAutoFit/>
          </a:bodyPr>
          <a:lstStyle/>
          <a:p>
            <a:pPr algn="l">
              <a:lnSpc>
                <a:spcPct val="140000"/>
              </a:lnSpc>
            </a:pPr>
            <a:r>
              <a:rPr sz="1350" b="0" i="0">
                <a:solidFill>
                  <a:srgbClr val="A9C8D8"/>
                </a:solidFill>
                <a:latin typeface="Segoe UI"/>
              </a:rPr>
              <a:t>The flowsheet you draw is the model that gets solved, the model that gets priced, the model that gets checked against the permit, and the model the plant streams live data back into. Nothing is re-keyed between those steps.</a:t>
            </a:r>
          </a:p>
        </p:txBody>
      </p:sp>
      <p:sp>
        <p:nvSpPr>
          <p:cNvPr id="9" name="Rounded Rectangle 8"/>
          <p:cNvSpPr/>
          <p:nvPr/>
        </p:nvSpPr>
        <p:spPr>
          <a:xfrm>
            <a:off x="658368" y="4617720"/>
            <a:ext cx="2540431" cy="786384"/>
          </a:xfrm>
          <a:prstGeom prst="roundRect">
            <a:avLst>
              <a:gd name="adj" fmla="val 1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4745736"/>
            <a:ext cx="2101519" cy="274320"/>
          </a:xfrm>
          <a:prstGeom prst="rect">
            <a:avLst/>
          </a:prstGeom>
          <a:noFill/>
        </p:spPr>
        <p:txBody>
          <a:bodyPr wrap="square" lIns="0" rIns="0" tIns="0" bIns="0" anchor="t">
            <a:spAutoFit/>
          </a:bodyPr>
          <a:lstStyle/>
          <a:p>
            <a:pPr algn="l">
              <a:lnSpc>
                <a:spcPct val="115000"/>
              </a:lnSpc>
            </a:pPr>
            <a:r>
              <a:rPr sz="1400" b="1" i="0">
                <a:solidFill>
                  <a:srgbClr val="22B8D4"/>
                </a:solidFill>
                <a:latin typeface="Segoe UI"/>
              </a:rPr>
              <a:t>Draw</a:t>
            </a:r>
          </a:p>
        </p:txBody>
      </p:sp>
      <p:sp>
        <p:nvSpPr>
          <p:cNvPr id="11" name="TextBox 10"/>
          <p:cNvSpPr txBox="1"/>
          <p:nvPr/>
        </p:nvSpPr>
        <p:spPr>
          <a:xfrm>
            <a:off x="877824" y="5020056"/>
            <a:ext cx="2101519" cy="274320"/>
          </a:xfrm>
          <a:prstGeom prst="rect">
            <a:avLst/>
          </a:prstGeom>
          <a:noFill/>
        </p:spPr>
        <p:txBody>
          <a:bodyPr wrap="square" lIns="0" rIns="0" tIns="0" bIns="0" anchor="t">
            <a:spAutoFit/>
          </a:bodyPr>
          <a:lstStyle/>
          <a:p>
            <a:pPr algn="l">
              <a:lnSpc>
                <a:spcPct val="115000"/>
              </a:lnSpc>
            </a:pPr>
            <a:r>
              <a:rPr sz="1050" b="0" i="0">
                <a:solidFill>
                  <a:srgbClr val="9CB8C8"/>
                </a:solidFill>
                <a:latin typeface="Segoe UI"/>
              </a:rPr>
              <a:t>a plant on the canvas</a:t>
            </a:r>
          </a:p>
        </p:txBody>
      </p:sp>
      <p:sp>
        <p:nvSpPr>
          <p:cNvPr id="12" name="Rounded Rectangle 11"/>
          <p:cNvSpPr/>
          <p:nvPr/>
        </p:nvSpPr>
        <p:spPr>
          <a:xfrm>
            <a:off x="3436543" y="4617720"/>
            <a:ext cx="2540431" cy="786384"/>
          </a:xfrm>
          <a:prstGeom prst="roundRect">
            <a:avLst>
              <a:gd name="adj" fmla="val 1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5999" y="4745736"/>
            <a:ext cx="2101519" cy="274320"/>
          </a:xfrm>
          <a:prstGeom prst="rect">
            <a:avLst/>
          </a:prstGeom>
          <a:noFill/>
        </p:spPr>
        <p:txBody>
          <a:bodyPr wrap="square" lIns="0" rIns="0" tIns="0" bIns="0" anchor="t">
            <a:spAutoFit/>
          </a:bodyPr>
          <a:lstStyle/>
          <a:p>
            <a:pPr algn="l">
              <a:lnSpc>
                <a:spcPct val="115000"/>
              </a:lnSpc>
            </a:pPr>
            <a:r>
              <a:rPr sz="1400" b="1" i="0">
                <a:solidFill>
                  <a:srgbClr val="22B8D4"/>
                </a:solidFill>
                <a:latin typeface="Segoe UI"/>
              </a:rPr>
              <a:t>Solve</a:t>
            </a:r>
          </a:p>
        </p:txBody>
      </p:sp>
      <p:sp>
        <p:nvSpPr>
          <p:cNvPr id="14" name="TextBox 13"/>
          <p:cNvSpPr txBox="1"/>
          <p:nvPr/>
        </p:nvSpPr>
        <p:spPr>
          <a:xfrm>
            <a:off x="3655999" y="5020056"/>
            <a:ext cx="2101519" cy="274320"/>
          </a:xfrm>
          <a:prstGeom prst="rect">
            <a:avLst/>
          </a:prstGeom>
          <a:noFill/>
        </p:spPr>
        <p:txBody>
          <a:bodyPr wrap="square" lIns="0" rIns="0" tIns="0" bIns="0" anchor="t">
            <a:spAutoFit/>
          </a:bodyPr>
          <a:lstStyle/>
          <a:p>
            <a:pPr algn="l">
              <a:lnSpc>
                <a:spcPct val="115000"/>
              </a:lnSpc>
            </a:pPr>
            <a:r>
              <a:rPr sz="1050" b="0" i="0">
                <a:solidFill>
                  <a:srgbClr val="9CB8C8"/>
                </a:solidFill>
                <a:latin typeface="Segoe UI"/>
              </a:rPr>
              <a:t>the mass balance</a:t>
            </a:r>
          </a:p>
        </p:txBody>
      </p:sp>
      <p:sp>
        <p:nvSpPr>
          <p:cNvPr id="15" name="Rounded Rectangle 14"/>
          <p:cNvSpPr/>
          <p:nvPr/>
        </p:nvSpPr>
        <p:spPr>
          <a:xfrm>
            <a:off x="6214719" y="4617720"/>
            <a:ext cx="2540431" cy="786384"/>
          </a:xfrm>
          <a:prstGeom prst="roundRect">
            <a:avLst>
              <a:gd name="adj" fmla="val 1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34175" y="4745736"/>
            <a:ext cx="2101519" cy="274320"/>
          </a:xfrm>
          <a:prstGeom prst="rect">
            <a:avLst/>
          </a:prstGeom>
          <a:noFill/>
        </p:spPr>
        <p:txBody>
          <a:bodyPr wrap="square" lIns="0" rIns="0" tIns="0" bIns="0" anchor="t">
            <a:spAutoFit/>
          </a:bodyPr>
          <a:lstStyle/>
          <a:p>
            <a:pPr algn="l">
              <a:lnSpc>
                <a:spcPct val="115000"/>
              </a:lnSpc>
            </a:pPr>
            <a:r>
              <a:rPr sz="1400" b="1" i="0">
                <a:solidFill>
                  <a:srgbClr val="22B8D4"/>
                </a:solidFill>
                <a:latin typeface="Segoe UI"/>
              </a:rPr>
              <a:t>Price</a:t>
            </a:r>
          </a:p>
        </p:txBody>
      </p:sp>
      <p:sp>
        <p:nvSpPr>
          <p:cNvPr id="17" name="TextBox 16"/>
          <p:cNvSpPr txBox="1"/>
          <p:nvPr/>
        </p:nvSpPr>
        <p:spPr>
          <a:xfrm>
            <a:off x="6434175" y="5020056"/>
            <a:ext cx="2101519" cy="274320"/>
          </a:xfrm>
          <a:prstGeom prst="rect">
            <a:avLst/>
          </a:prstGeom>
          <a:noFill/>
        </p:spPr>
        <p:txBody>
          <a:bodyPr wrap="square" lIns="0" rIns="0" tIns="0" bIns="0" anchor="t">
            <a:spAutoFit/>
          </a:bodyPr>
          <a:lstStyle/>
          <a:p>
            <a:pPr algn="l">
              <a:lnSpc>
                <a:spcPct val="115000"/>
              </a:lnSpc>
            </a:pPr>
            <a:r>
              <a:rPr sz="1050" b="0" i="0">
                <a:solidFill>
                  <a:srgbClr val="9CB8C8"/>
                </a:solidFill>
                <a:latin typeface="Segoe UI"/>
              </a:rPr>
              <a:t>the design honestly</a:t>
            </a:r>
          </a:p>
        </p:txBody>
      </p:sp>
      <p:sp>
        <p:nvSpPr>
          <p:cNvPr id="18" name="Rounded Rectangle 17"/>
          <p:cNvSpPr/>
          <p:nvPr/>
        </p:nvSpPr>
        <p:spPr>
          <a:xfrm>
            <a:off x="8992895" y="4617720"/>
            <a:ext cx="2540431" cy="786384"/>
          </a:xfrm>
          <a:prstGeom prst="roundRect">
            <a:avLst>
              <a:gd name="adj" fmla="val 10000"/>
            </a:avLst>
          </a:prstGeom>
          <a:solidFill>
            <a:srgbClr val="0E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212351" y="4745736"/>
            <a:ext cx="2101519" cy="274320"/>
          </a:xfrm>
          <a:prstGeom prst="rect">
            <a:avLst/>
          </a:prstGeom>
          <a:noFill/>
        </p:spPr>
        <p:txBody>
          <a:bodyPr wrap="square" lIns="0" rIns="0" tIns="0" bIns="0" anchor="t">
            <a:spAutoFit/>
          </a:bodyPr>
          <a:lstStyle/>
          <a:p>
            <a:pPr algn="l">
              <a:lnSpc>
                <a:spcPct val="115000"/>
              </a:lnSpc>
            </a:pPr>
            <a:r>
              <a:rPr sz="1400" b="1" i="0">
                <a:solidFill>
                  <a:srgbClr val="22B8D4"/>
                </a:solidFill>
                <a:latin typeface="Segoe UI"/>
              </a:rPr>
              <a:t>Prove</a:t>
            </a:r>
          </a:p>
        </p:txBody>
      </p:sp>
      <p:sp>
        <p:nvSpPr>
          <p:cNvPr id="20" name="TextBox 19"/>
          <p:cNvSpPr txBox="1"/>
          <p:nvPr/>
        </p:nvSpPr>
        <p:spPr>
          <a:xfrm>
            <a:off x="9212351" y="5020056"/>
            <a:ext cx="2101519" cy="274320"/>
          </a:xfrm>
          <a:prstGeom prst="rect">
            <a:avLst/>
          </a:prstGeom>
          <a:noFill/>
        </p:spPr>
        <p:txBody>
          <a:bodyPr wrap="square" lIns="0" rIns="0" tIns="0" bIns="0" anchor="t">
            <a:spAutoFit/>
          </a:bodyPr>
          <a:lstStyle/>
          <a:p>
            <a:pPr algn="l">
              <a:lnSpc>
                <a:spcPct val="115000"/>
              </a:lnSpc>
            </a:pPr>
            <a:r>
              <a:rPr sz="1050" b="0" i="0">
                <a:solidFill>
                  <a:srgbClr val="9CB8C8"/>
                </a:solidFill>
                <a:latin typeface="Segoe UI"/>
              </a:rPr>
              <a:t>it meets the permit</a:t>
            </a:r>
          </a:p>
        </p:txBody>
      </p:sp>
      <p:sp>
        <p:nvSpPr>
          <p:cNvPr id="21" name="TextBox 20"/>
          <p:cNvSpPr txBox="1"/>
          <p:nvPr/>
        </p:nvSpPr>
        <p:spPr>
          <a:xfrm>
            <a:off x="658368" y="6400800"/>
            <a:ext cx="6524975" cy="228600"/>
          </a:xfrm>
          <a:prstGeom prst="rect">
            <a:avLst/>
          </a:prstGeom>
          <a:noFill/>
        </p:spPr>
        <p:txBody>
          <a:bodyPr wrap="square" lIns="0" rIns="0" tIns="0" bIns="0" anchor="t">
            <a:spAutoFit/>
          </a:bodyPr>
          <a:lstStyle/>
          <a:p>
            <a:pPr algn="l">
              <a:lnSpc>
                <a:spcPct val="115000"/>
              </a:lnSpc>
            </a:pPr>
            <a:r>
              <a:rPr sz="900" b="0" i="0">
                <a:solidFill>
                  <a:srgbClr val="9AABB8"/>
                </a:solidFill>
                <a:latin typeface="Segoe UI"/>
              </a:rPr>
              <a:t>WaterSim Pro</a:t>
            </a:r>
          </a:p>
        </p:txBody>
      </p:sp>
      <p:sp>
        <p:nvSpPr>
          <p:cNvPr id="22" name="TextBox 21"/>
          <p:cNvSpPr txBox="1"/>
          <p:nvPr/>
        </p:nvSpPr>
        <p:spPr>
          <a:xfrm>
            <a:off x="658368" y="6400800"/>
            <a:ext cx="10874959" cy="228600"/>
          </a:xfrm>
          <a:prstGeom prst="rect">
            <a:avLst/>
          </a:prstGeom>
          <a:noFill/>
        </p:spPr>
        <p:txBody>
          <a:bodyPr wrap="square" lIns="0" rIns="0" tIns="0" bIns="0" anchor="t">
            <a:spAutoFit/>
          </a:bodyPr>
          <a:lstStyle/>
          <a:p>
            <a:pPr algn="ctr">
              <a:lnSpc>
                <a:spcPct val="115000"/>
              </a:lnSpc>
            </a:pPr>
            <a:r>
              <a:rPr sz="900" b="0" i="0">
                <a:solidFill>
                  <a:srgbClr val="9AABB8"/>
                </a:solidFill>
                <a:latin typeface="Segoe UI"/>
              </a:rPr>
              <a:t/>
            </a:r>
          </a:p>
        </p:txBody>
      </p:sp>
      <p:sp>
        <p:nvSpPr>
          <p:cNvPr id="23" name="TextBox 22"/>
          <p:cNvSpPr txBox="1"/>
          <p:nvPr/>
        </p:nvSpPr>
        <p:spPr>
          <a:xfrm>
            <a:off x="658368" y="6400800"/>
            <a:ext cx="10874959" cy="228600"/>
          </a:xfrm>
          <a:prstGeom prst="rect">
            <a:avLst/>
          </a:prstGeom>
          <a:noFill/>
        </p:spPr>
        <p:txBody>
          <a:bodyPr wrap="square" lIns="0" rIns="0" tIns="0" bIns="0" anchor="t">
            <a:spAutoFit/>
          </a:bodyPr>
          <a:lstStyle/>
          <a:p>
            <a:pPr algn="r">
              <a:lnSpc>
                <a:spcPct val="115000"/>
              </a:lnSpc>
            </a:pPr>
            <a:r>
              <a:rPr sz="900" b="0" i="0">
                <a:solidFill>
                  <a:srgbClr val="9AABB8"/>
                </a:solidFill>
                <a:latin typeface="Segoe UI"/>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